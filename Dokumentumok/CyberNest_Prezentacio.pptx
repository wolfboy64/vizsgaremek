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22"/>
  </p:notesMasterIdLst>
  <p:sldIdLst>
    <p:sldId id="256" r:id="rId2"/>
    <p:sldId id="262" r:id="rId3"/>
    <p:sldId id="263" r:id="rId4"/>
    <p:sldId id="261" r:id="rId5"/>
    <p:sldId id="264" r:id="rId6"/>
    <p:sldId id="265" r:id="rId7"/>
    <p:sldId id="266" r:id="rId8"/>
    <p:sldId id="267" r:id="rId9"/>
    <p:sldId id="269" r:id="rId10"/>
    <p:sldId id="268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80" r:id="rId19"/>
    <p:sldId id="279" r:id="rId20"/>
    <p:sldId id="277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183A"/>
    <a:srgbClr val="090D27"/>
    <a:srgbClr val="1C20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150" d="100"/>
          <a:sy n="150" d="100"/>
        </p:scale>
        <p:origin x="196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DF8C44-5939-4311-84DF-4C6B684C4A0D}" type="datetimeFigureOut">
              <a:rPr lang="hu-HU" smtClean="0"/>
              <a:t>2026. 04. 11.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68EDBA-9000-465D-8D7D-8C190A86643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14440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</a:t>
            </a:r>
            <a:r>
              <a:rPr lang="hu-HU" dirty="0" err="1"/>
              <a:t>CyberNest</a:t>
            </a:r>
            <a:r>
              <a:rPr lang="hu-HU" dirty="0"/>
              <a:t> egy helyszíni IT mentorprogram, amelynek célja, hogy a tanulók valós infrastruktúrán, gyakorlati módon sajátítsák el az informatikai és hálózati ismereteket. A program nem csak elméleti tanulásra épít, hanem valódi rendszerek használatán keresztül segíti a fejlődést. A résztvevők a saját szintjükről indulva fokozatosan juthatnak el a haladó szintig.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8EDBA-9000-465D-8D7D-8C190A866434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211727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C7247-3E7B-2E86-A46D-DFC7FCF45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379B098C-32D3-4547-5CC5-FC5C2C9CB4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184AA24B-4859-80A7-77B8-89324A1ED0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projekt alapötlete abból a problémából indul ki, hogy a hagyományos iskolai oktatás sok esetben nem biztosít elég gyakorlati tapasztalatot. A tanulás gyakran elméletközpontú, és nem mindig kapcsolódik valós rendszerekhez. Emiatt a diákok nehezebben értik meg, hogyan működnek a technológiák a gyakorlatban. Ezen kívül sokszor hiányzik a strukturált fejlődési út és a személyes mentorálás is, ami segítené a tanulást.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61625A8D-A450-EA89-0555-808C85814A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8EDBA-9000-465D-8D7D-8C190A866434}" type="slidenum">
              <a:rPr lang="hu-HU" smtClean="0"/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598589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projekt fő célja, hogy a tanulók ne csak elméleti tudást szerezzenek, hanem azt gyakorlati környezetben is alkalmazni tudják. Ehhez személyes mentorálás biztosít támogatást, ami segíti a tanulási folyamatot. A hangsúly a valós rendszerek megértésén és használatán van, nem csupán az eszközök felszíni kezelésén.”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8EDBA-9000-465D-8D7D-8C190A866434}" type="slidenum">
              <a:rPr lang="hu-HU" smtClean="0"/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694134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14DB4-CFE8-6B70-3F92-8C55828EE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55A2C315-8EAE-A8F5-191D-F368E3C4A3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FD015318-F5A1-A70D-304F-B64F893EE0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rendszerben három fő felhasználói szerepkört különböztetünk meg. A vendég felhasználó csak megtekintheti a nyilvános tartalmakat, de nem fér hozzá a védett funkciókhoz. A regisztrált felhasználó már be tud jelentkezni, foglalásokat hozhat létre, illetve kezelheti a saját adatait és foglalásait. Az </a:t>
            </a:r>
            <a:r>
              <a:rPr lang="hu-HU" dirty="0" err="1"/>
              <a:t>admin</a:t>
            </a:r>
            <a:r>
              <a:rPr lang="hu-HU" dirty="0"/>
              <a:t> szerepkör rendelkezik a legmagasabb jogosultsággal, ő kezeli az eszközöket, az időpontokat és a felhasználókat is.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614AF5D3-21A3-9FBC-CDCE-62C432AEE4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8EDBA-9000-465D-8D7D-8C190A866434}" type="slidenum">
              <a:rPr lang="hu-HU" smtClean="0"/>
              <a:t>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372338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80D86-975A-DB02-724D-15DA1FDD5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5C5613CF-A8C0-7910-5A21-3775CC0DB9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1DB00532-FB0E-5C31-26D7-27558C1F0B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</a:t>
            </a:r>
            <a:r>
              <a:rPr lang="hu-HU" dirty="0" err="1"/>
              <a:t>CyberNest</a:t>
            </a:r>
            <a:r>
              <a:rPr lang="hu-HU" dirty="0"/>
              <a:t> egy modern, háromrétegű webes architektúrát követ. A frontend részt </a:t>
            </a:r>
            <a:r>
              <a:rPr lang="hu-HU" dirty="0" err="1"/>
              <a:t>React</a:t>
            </a:r>
            <a:r>
              <a:rPr lang="hu-HU" dirty="0"/>
              <a:t> és </a:t>
            </a:r>
            <a:r>
              <a:rPr lang="hu-HU" dirty="0" err="1"/>
              <a:t>Vite</a:t>
            </a:r>
            <a:r>
              <a:rPr lang="hu-HU" dirty="0"/>
              <a:t> segítségével valósítottuk meg, amely a felhasználói felületért felel. A backend Node.js és Express alapokon működik, itt történik az üzleti logika feldolgozása és az API végpontok kezelése.</a:t>
            </a:r>
          </a:p>
          <a:p>
            <a:r>
              <a:rPr lang="hu-HU" dirty="0"/>
              <a:t>Az adatok tárolását </a:t>
            </a:r>
            <a:r>
              <a:rPr lang="hu-HU" dirty="0" err="1"/>
              <a:t>MySQL</a:t>
            </a:r>
            <a:r>
              <a:rPr lang="hu-HU" dirty="0"/>
              <a:t> adatbázis biztosítja, amely strukturált és megbízható adatkezelést tesz lehetővé. A rendszerben a hitelesítés JWT </a:t>
            </a:r>
            <a:r>
              <a:rPr lang="hu-HU" dirty="0" err="1"/>
              <a:t>tokenek</a:t>
            </a:r>
            <a:r>
              <a:rPr lang="hu-HU" dirty="0"/>
              <a:t> segítségével történik, ami biztosítja a védett végpontokhoz való hozzáférést.</a:t>
            </a:r>
          </a:p>
          <a:p>
            <a:r>
              <a:rPr lang="hu-HU" dirty="0"/>
              <a:t>Emellett </a:t>
            </a:r>
            <a:r>
              <a:rPr lang="hu-HU" dirty="0" err="1"/>
              <a:t>OAuth</a:t>
            </a:r>
            <a:r>
              <a:rPr lang="hu-HU" dirty="0"/>
              <a:t> alapú bejelentkezési lehetőség is szerepel, amely külső szolgáltatón keresztüli </a:t>
            </a:r>
            <a:r>
              <a:rPr lang="hu-HU" dirty="0" err="1"/>
              <a:t>autentikációt</a:t>
            </a:r>
            <a:r>
              <a:rPr lang="hu-HU" dirty="0"/>
              <a:t> tesz lehetővé, növelve a rendszer biztonságát és kényelmét.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CB5678DC-8B56-876C-9615-EC8AED068D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8EDBA-9000-465D-8D7D-8C190A866434}" type="slidenum">
              <a:rPr lang="hu-HU" smtClean="0"/>
              <a:t>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623519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541CD-5F8A-A30A-1A84-404F7EB0A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116CEECF-D368-A495-5EAC-9499FBFF1E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3BF09BA6-C53F-A8FE-9C19-5725752C02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rendszerünk egy klasszikus kliens–szerver alapú működést követ. A felhasználói felület, vagyis a frontend kéréseket küld a backend felé. A backend ezeket feldolgozza, és ha szükséges, JWT alapú hitelesítést is végez.</a:t>
            </a:r>
          </a:p>
          <a:p>
            <a:r>
              <a:rPr lang="hu-HU" dirty="0"/>
              <a:t>Ezt követően a backend adatbázis műveleteket hajt végre </a:t>
            </a:r>
            <a:r>
              <a:rPr lang="hu-HU" dirty="0" err="1"/>
              <a:t>MySQL</a:t>
            </a:r>
            <a:r>
              <a:rPr lang="hu-HU" dirty="0"/>
              <a:t>-ben, majd az eredményt JSON formátumban visszaküldi a frontendnek, amely megjeleníti azt a felhasználó számára.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E72140FC-44A4-B1CC-DCC7-60F50BA6D1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8EDBA-9000-465D-8D7D-8C190A866434}" type="slidenum">
              <a:rPr lang="hu-HU" smtClean="0"/>
              <a:t>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148712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04CFB-A2BE-6C6C-A45C-375533A02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B35290C7-2E89-8E84-81E4-8315D34F69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A9E3EAF6-E62D-41DF-EA91-284722FF12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frontend </a:t>
            </a:r>
            <a:r>
              <a:rPr lang="hu-HU" dirty="0" err="1"/>
              <a:t>React</a:t>
            </a:r>
            <a:r>
              <a:rPr lang="hu-HU" dirty="0"/>
              <a:t> alapokon készült, ami komponens alapú fejlesztést tesz lehetővé. A </a:t>
            </a:r>
            <a:r>
              <a:rPr lang="hu-HU" dirty="0" err="1"/>
              <a:t>React</a:t>
            </a:r>
            <a:r>
              <a:rPr lang="hu-HU" dirty="0"/>
              <a:t> Router segítségével oldottuk meg az oldalak közötti navigációt. A </a:t>
            </a:r>
            <a:r>
              <a:rPr lang="hu-HU" dirty="0" err="1"/>
              <a:t>state</a:t>
            </a:r>
            <a:r>
              <a:rPr lang="hu-HU" dirty="0"/>
              <a:t> management az alkalmazás különböző állapotainak kezeléséért felel, például a felhasználói adatok vagy bejelentkezési állapot esetén. A védett </a:t>
            </a:r>
            <a:r>
              <a:rPr lang="hu-HU" dirty="0" err="1"/>
              <a:t>route</a:t>
            </a:r>
            <a:r>
              <a:rPr lang="hu-HU" dirty="0"/>
              <a:t>-ok biztosítják, hogy csak bejelentkezett felhasználók férjenek hozzá bizonyos oldalakhoz.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128992A1-377E-A7A3-3374-A1A8CDFD3E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8EDBA-9000-465D-8D7D-8C190A866434}" type="slidenum">
              <a:rPr lang="hu-HU" smtClean="0"/>
              <a:t>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590951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95967-7C77-6242-8AB6-23D685763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DB89F3F3-DDA5-2EF4-2319-E6757A4207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BCD6F243-3EE7-D343-0687-27D06BB6E6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frontend fő funkciói közé tartozik a bejelentkezés és regisztráció, amely a felhasználói hitelesítést biztosítja. A </a:t>
            </a:r>
            <a:r>
              <a:rPr lang="hu-HU" dirty="0" err="1"/>
              <a:t>dashboard</a:t>
            </a:r>
            <a:r>
              <a:rPr lang="hu-HU" dirty="0"/>
              <a:t> egy vezérlőpult, ahol a felhasználó a saját adatait és foglalásait tudja kezelni.</a:t>
            </a:r>
          </a:p>
          <a:p>
            <a:r>
              <a:rPr lang="hu-HU" dirty="0"/>
              <a:t>A foglalási folyamat több lépésből áll, ahol a felhasználó kiválasztja az eszközt, az időpontot, majd véglegesíti a foglalást. Az eszközlista az elérhető eszközöket jeleníti meg, míg a reszponzív felület biztosítja, hogy az alkalmazás különböző eszközökön, például mobilon és asztali gépen is jól használható legyen.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13BE6AF6-5E98-E248-906B-1A1841279A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8EDBA-9000-465D-8D7D-8C190A866434}" type="slidenum">
              <a:rPr lang="hu-HU" smtClean="0"/>
              <a:t>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817624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A1C36-DB0F-6576-D47D-B3A099808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E5EEBF50-EF73-9E98-7F46-F079F389BE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93297B64-B89B-1BB2-B521-B1F3F5ACA4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frontend részt </a:t>
            </a:r>
            <a:r>
              <a:rPr lang="hu-HU" dirty="0" err="1"/>
              <a:t>React</a:t>
            </a:r>
            <a:r>
              <a:rPr lang="hu-HU" dirty="0"/>
              <a:t> alapokon készítettük, amely lehetővé teszi a komponens alapú fejlesztést. A </a:t>
            </a:r>
            <a:r>
              <a:rPr lang="hu-HU" dirty="0" err="1"/>
              <a:t>React</a:t>
            </a:r>
            <a:r>
              <a:rPr lang="hu-HU" dirty="0"/>
              <a:t> Router segítségével valósítottuk meg a különböző oldalak közötti navigációt. A </a:t>
            </a:r>
            <a:r>
              <a:rPr lang="hu-HU" dirty="0" err="1"/>
              <a:t>state</a:t>
            </a:r>
            <a:r>
              <a:rPr lang="hu-HU" dirty="0"/>
              <a:t> management felel az alkalmazás állapotainak kezeléséért, míg a védett </a:t>
            </a:r>
            <a:r>
              <a:rPr lang="hu-HU" dirty="0" err="1"/>
              <a:t>route</a:t>
            </a:r>
            <a:r>
              <a:rPr lang="hu-HU" dirty="0"/>
              <a:t>-ok biztosítják, hogy csak bejelentkezett felhasználók érhessék el a bizonyos oldalakat.</a:t>
            </a:r>
          </a:p>
          <a:p>
            <a:r>
              <a:rPr lang="hu-HU" dirty="0"/>
              <a:t>A </a:t>
            </a:r>
            <a:r>
              <a:rPr lang="hu-HU" dirty="0" err="1"/>
              <a:t>dashboard</a:t>
            </a:r>
            <a:r>
              <a:rPr lang="hu-HU" dirty="0"/>
              <a:t> egy felhasználói vezérlőpult, ahol a bejelentkezett felhasználó áttekintheti a saját adatait, foglalásait és a számára elérhető funkciókat.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B103580-1B30-FB88-79C7-126C6CD8FA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8EDBA-9000-465D-8D7D-8C190A866434}" type="slidenum">
              <a:rPr lang="hu-HU" smtClean="0"/>
              <a:t>10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226389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61BA5-A2EB-1CE8-7A46-809D3FE75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4B3FDBC7-4F50-6E1A-7223-BE6CDC1EE2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F3D5FFE2-9EFD-3933-DA46-54EFF56DA7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frontend részt </a:t>
            </a:r>
            <a:r>
              <a:rPr lang="hu-HU" dirty="0" err="1"/>
              <a:t>React</a:t>
            </a:r>
            <a:r>
              <a:rPr lang="hu-HU" dirty="0"/>
              <a:t> alapokon készítettük, amely lehetővé teszi a komponens alapú fejlesztést. A </a:t>
            </a:r>
            <a:r>
              <a:rPr lang="hu-HU" dirty="0" err="1"/>
              <a:t>React</a:t>
            </a:r>
            <a:r>
              <a:rPr lang="hu-HU" dirty="0"/>
              <a:t> Router segítségével valósítottuk meg a különböző oldalak közötti navigációt. A </a:t>
            </a:r>
            <a:r>
              <a:rPr lang="hu-HU" dirty="0" err="1"/>
              <a:t>state</a:t>
            </a:r>
            <a:r>
              <a:rPr lang="hu-HU" dirty="0"/>
              <a:t> management felel az alkalmazás állapotainak kezeléséért, míg a védett </a:t>
            </a:r>
            <a:r>
              <a:rPr lang="hu-HU" dirty="0" err="1"/>
              <a:t>route</a:t>
            </a:r>
            <a:r>
              <a:rPr lang="hu-HU" dirty="0"/>
              <a:t>-ok biztosítják, hogy csak bejelentkezett felhasználók érhessék el a bizonyos oldalakat.</a:t>
            </a:r>
          </a:p>
          <a:p>
            <a:r>
              <a:rPr lang="hu-HU" dirty="0"/>
              <a:t>A </a:t>
            </a:r>
            <a:r>
              <a:rPr lang="hu-HU" dirty="0" err="1"/>
              <a:t>dashboard</a:t>
            </a:r>
            <a:r>
              <a:rPr lang="hu-HU" dirty="0"/>
              <a:t> egy felhasználói vezérlőpult, ahol a bejelentkezett felhasználó áttekintheti a saját adatait, foglalásait és a számára elérhető funkciókat.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C7013460-B999-8C19-0D7E-77DB3136F9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8EDBA-9000-465D-8D7D-8C190A866434}" type="slidenum">
              <a:rPr lang="hu-HU" smtClean="0"/>
              <a:t>11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893991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E0EE7-1181-8620-669D-AAC6D9A36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9C33C89E-5533-1E6A-8840-B05D10884E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817A6FD3-0238-88C9-6D7F-6E2E1739A0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Az adatbázisunk relációs struktúrára épül, amely több egymáshoz kapcsolódó táblából áll. A felhasználók adatait a </a:t>
            </a:r>
            <a:r>
              <a:rPr lang="hu-HU" dirty="0" err="1"/>
              <a:t>felhasznalo</a:t>
            </a:r>
            <a:r>
              <a:rPr lang="hu-HU" dirty="0"/>
              <a:t> tábla kezeli, míg az </a:t>
            </a:r>
            <a:r>
              <a:rPr lang="hu-HU" dirty="0" err="1"/>
              <a:t>eszkoz</a:t>
            </a:r>
            <a:r>
              <a:rPr lang="hu-HU" dirty="0"/>
              <a:t> és </a:t>
            </a:r>
            <a:r>
              <a:rPr lang="hu-HU" dirty="0" err="1"/>
              <a:t>idopont</a:t>
            </a:r>
            <a:r>
              <a:rPr lang="hu-HU" dirty="0"/>
              <a:t> táblák a foglalható erőforrásokat és időpontokat tartalmazzák.</a:t>
            </a:r>
          </a:p>
          <a:p>
            <a:r>
              <a:rPr lang="hu-HU" dirty="0"/>
              <a:t>A </a:t>
            </a:r>
            <a:r>
              <a:rPr lang="hu-HU" dirty="0" err="1"/>
              <a:t>foglalas</a:t>
            </a:r>
            <a:r>
              <a:rPr lang="hu-HU" dirty="0"/>
              <a:t> tábla kapcsolja össze a felhasználókat az eszközökkel és időpontokkal. Emellett külön táblák kezelik az értékeléseket, például az általános </a:t>
            </a:r>
            <a:r>
              <a:rPr lang="hu-HU" dirty="0" err="1"/>
              <a:t>ertekeles</a:t>
            </a:r>
            <a:r>
              <a:rPr lang="hu-HU" dirty="0"/>
              <a:t> és a </a:t>
            </a:r>
            <a:r>
              <a:rPr lang="hu-HU" dirty="0" err="1"/>
              <a:t>mentor_ertekeles</a:t>
            </a:r>
            <a:r>
              <a:rPr lang="hu-HU" dirty="0"/>
              <a:t>.</a:t>
            </a:r>
          </a:p>
          <a:p>
            <a:r>
              <a:rPr lang="hu-HU" dirty="0"/>
              <a:t>A rendszer működését a log tábla követi nyomon, míg az üzemeltetői adatok az adminisztrációt támogatják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6B96DB6D-D0AF-B86C-8CE3-7B3EEF70A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8EDBA-9000-465D-8D7D-8C190A866434}" type="slidenum">
              <a:rPr lang="hu-HU" smtClean="0"/>
              <a:t>12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175713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09159-1C4F-D377-6DAE-05879AE57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F617AE11-8ED6-AC8C-7197-522C3103C4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58123482-553B-2891-2340-38728A14F7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rendszer jogosultságkezelése JWT </a:t>
            </a:r>
            <a:r>
              <a:rPr lang="hu-HU" dirty="0" err="1"/>
              <a:t>token</a:t>
            </a:r>
            <a:r>
              <a:rPr lang="hu-HU" dirty="0"/>
              <a:t> alapú hitelesítéssel történik. A bejelentkezés után a felhasználó egy </a:t>
            </a:r>
            <a:r>
              <a:rPr lang="hu-HU" dirty="0" err="1"/>
              <a:t>tokent</a:t>
            </a:r>
            <a:r>
              <a:rPr lang="hu-HU" dirty="0"/>
              <a:t> kap, amelyet minden védett kérésnél elküld a backend felé.</a:t>
            </a:r>
          </a:p>
          <a:p>
            <a:r>
              <a:rPr lang="hu-HU" dirty="0"/>
              <a:t>A rendszer külön kezeli a felhasználói és </a:t>
            </a:r>
            <a:r>
              <a:rPr lang="hu-HU" dirty="0" err="1"/>
              <a:t>admin</a:t>
            </a:r>
            <a:r>
              <a:rPr lang="hu-HU" dirty="0"/>
              <a:t> szerepköröket, így bizonyos </a:t>
            </a:r>
            <a:r>
              <a:rPr lang="hu-HU" dirty="0" err="1"/>
              <a:t>endpointok</a:t>
            </a:r>
            <a:r>
              <a:rPr lang="hu-HU" dirty="0"/>
              <a:t> csak </a:t>
            </a:r>
            <a:r>
              <a:rPr lang="hu-HU" dirty="0" err="1"/>
              <a:t>admin</a:t>
            </a:r>
            <a:r>
              <a:rPr lang="hu-HU" dirty="0"/>
              <a:t> jogosultsággal érhetők el. A </a:t>
            </a:r>
            <a:r>
              <a:rPr lang="hu-HU" dirty="0" err="1"/>
              <a:t>middleware</a:t>
            </a:r>
            <a:r>
              <a:rPr lang="hu-HU" dirty="0"/>
              <a:t> réteg felel azért, hogy minden kérésnél ellenőrizze a </a:t>
            </a:r>
            <a:r>
              <a:rPr lang="hu-HU" dirty="0" err="1"/>
              <a:t>tokent</a:t>
            </a:r>
            <a:r>
              <a:rPr lang="hu-HU" dirty="0"/>
              <a:t> és a jogosultságokat, mielőtt a kérés továbbjutna a backend logikába.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074381BA-894A-CCB5-33A0-4F21FEC8B9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8EDBA-9000-465D-8D7D-8C190A866434}" type="slidenum">
              <a:rPr lang="hu-HU" smtClean="0"/>
              <a:t>13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402280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B8779-2FED-7713-4D93-3F439D547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2D23B0A7-89C3-2419-A4C5-2DB57B882D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7C0B9856-C944-A976-55E6-7F944100A6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foglalási folyamat több egymást követő lépésből áll. Először a felhasználó kiválasztja a számára megfelelő eszközt, majd ezután kiválasztja az elérhető időpontok közül a számára megfelelőt.</a:t>
            </a:r>
          </a:p>
          <a:p>
            <a:r>
              <a:rPr lang="hu-HU" dirty="0"/>
              <a:t>A következő lépésben megadja a szükséges adatokat, például a foglalás részleteit. Végül a rendszer a foglalást véglegesíti, és eltárolja az adatbázisban, így az később visszanézhető és kezelhető.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DF36E8E9-EADE-4488-F000-89CBE70946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8EDBA-9000-465D-8D7D-8C190A866434}" type="slidenum">
              <a:rPr lang="hu-HU" smtClean="0"/>
              <a:t>14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112102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A0D70-3FB6-A429-CC4E-6B49B4FC7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E1EEA2B6-F286-E4E4-390D-A240EC6AE9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6B899FA0-EC53-B676-E0FC-7349CE421A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projekt moduláris felépítésű. A frontend és backend külön mappában található, a backend pedig </a:t>
            </a:r>
            <a:r>
              <a:rPr lang="hu-HU" dirty="0" err="1"/>
              <a:t>controller</a:t>
            </a:r>
            <a:r>
              <a:rPr lang="hu-HU" dirty="0"/>
              <a:t>, </a:t>
            </a:r>
            <a:r>
              <a:rPr lang="hu-HU" dirty="0" err="1"/>
              <a:t>route</a:t>
            </a:r>
            <a:r>
              <a:rPr lang="hu-HU" dirty="0"/>
              <a:t> és </a:t>
            </a:r>
            <a:r>
              <a:rPr lang="hu-HU" dirty="0" err="1"/>
              <a:t>model</a:t>
            </a:r>
            <a:r>
              <a:rPr lang="hu-HU" dirty="0"/>
              <a:t> rétegekre van bontva, ami segíti a karbantarthatóságot és bővíthetőséget.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6DA91E9F-AB51-6076-BF6B-8EBFF9A3BF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8EDBA-9000-465D-8D7D-8C190A866434}" type="slidenum">
              <a:rPr lang="hu-HU" smtClean="0"/>
              <a:t>15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721088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7D819-E37E-FBE3-CC5C-3D512583E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11F78ED9-EF23-BB3B-4C8A-18D3A97584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3173C535-F213-E37D-10DF-479662B0E4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projekt csapatmunkában készült, ahol külön szerepkörök voltak frontend, backend és </a:t>
            </a:r>
            <a:r>
              <a:rPr lang="hu-HU" dirty="0" err="1"/>
              <a:t>desktop</a:t>
            </a:r>
            <a:r>
              <a:rPr lang="hu-HU" dirty="0"/>
              <a:t> fejlesztésre. A verziókezelést GitHub segítségével oldottuk meg, ami lehetővé tette az együttműködést és a kódkezelést.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31105947-9305-A5F2-02F9-6269328BF9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8EDBA-9000-465D-8D7D-8C190A866434}" type="slidenum">
              <a:rPr lang="hu-HU" smtClean="0"/>
              <a:t>16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284751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751AC-57AA-BBA3-D9C0-4C637B6D3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690816DC-A229-9D70-B827-ABC2A441ED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A56672D8-8786-DBCA-AE19-E42486AC96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projekt moduláris felépítésű. A frontend és backend külön mappában található, a backend pedig </a:t>
            </a:r>
            <a:r>
              <a:rPr lang="hu-HU" dirty="0" err="1"/>
              <a:t>controller</a:t>
            </a:r>
            <a:r>
              <a:rPr lang="hu-HU" dirty="0"/>
              <a:t>, </a:t>
            </a:r>
            <a:r>
              <a:rPr lang="hu-HU" dirty="0" err="1"/>
              <a:t>route</a:t>
            </a:r>
            <a:r>
              <a:rPr lang="hu-HU" dirty="0"/>
              <a:t> és </a:t>
            </a:r>
            <a:r>
              <a:rPr lang="hu-HU" dirty="0" err="1"/>
              <a:t>model</a:t>
            </a:r>
            <a:r>
              <a:rPr lang="hu-HU" dirty="0"/>
              <a:t> rétegekre van bontva, ami segíti a karbantarthatóságot és bővíthetőséget.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36CE13C7-1D1E-3F7C-751C-2BA08F8782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8EDBA-9000-465D-8D7D-8C190A866434}" type="slidenum">
              <a:rPr lang="hu-HU" smtClean="0"/>
              <a:t>17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027879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B580D-D160-D707-9E6F-E98EA6247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960D9F1E-796E-113B-F984-E09AFBF7F7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84E76AA5-78A4-3820-231C-D4E892A75C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4F9BFFA4-610A-C1B2-34ED-E1DBBDF213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8EDBA-9000-465D-8D7D-8C190A866434}" type="slidenum">
              <a:rPr lang="hu-HU" smtClean="0"/>
              <a:t>18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37788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DD9E6-0544-4D5F-D746-E7A16515B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147E62AE-FA7C-692F-59E7-BB3F1111B9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2C0D2102-D547-8790-2074-0C6FFD66B9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3694D04C-C734-DD01-F41B-6930E2EC76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8EDBA-9000-465D-8D7D-8C190A866434}" type="slidenum">
              <a:rPr lang="hu-HU" smtClean="0"/>
              <a:t>20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10668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BF4713A9-2090-4510-838C-F7E93E76EAA5}" type="datetimeFigureOut">
              <a:rPr lang="hu-HU" smtClean="0"/>
              <a:t>2026. 04. 11.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72FAC5D6-E2DB-47E2-A1A3-CA337DBF46D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75169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713A9-2090-4510-838C-F7E93E76EAA5}" type="datetimeFigureOut">
              <a:rPr lang="hu-HU" smtClean="0"/>
              <a:t>2026. 04. 11.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AC5D6-E2DB-47E2-A1A3-CA337DBF46D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26858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713A9-2090-4510-838C-F7E93E76EAA5}" type="datetimeFigureOut">
              <a:rPr lang="hu-HU" smtClean="0"/>
              <a:t>2026. 04. 11.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AC5D6-E2DB-47E2-A1A3-CA337DBF46D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92087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713A9-2090-4510-838C-F7E93E76EAA5}" type="datetimeFigureOut">
              <a:rPr lang="hu-HU" smtClean="0"/>
              <a:t>2026. 04. 11.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AC5D6-E2DB-47E2-A1A3-CA337DBF46D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78253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713A9-2090-4510-838C-F7E93E76EAA5}" type="datetimeFigureOut">
              <a:rPr lang="hu-HU" smtClean="0"/>
              <a:t>2026. 04. 11.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AC5D6-E2DB-47E2-A1A3-CA337DBF46D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74952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713A9-2090-4510-838C-F7E93E76EAA5}" type="datetimeFigureOut">
              <a:rPr lang="hu-HU" smtClean="0"/>
              <a:t>2026. 04. 11.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AC5D6-E2DB-47E2-A1A3-CA337DBF46D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39219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713A9-2090-4510-838C-F7E93E76EAA5}" type="datetimeFigureOut">
              <a:rPr lang="hu-HU" smtClean="0"/>
              <a:t>2026. 04. 11.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AC5D6-E2DB-47E2-A1A3-CA337DBF46D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63449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713A9-2090-4510-838C-F7E93E76EAA5}" type="datetimeFigureOut">
              <a:rPr lang="hu-HU" smtClean="0"/>
              <a:t>2026. 04. 11.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AC5D6-E2DB-47E2-A1A3-CA337DBF46D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87273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dirty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713A9-2090-4510-838C-F7E93E76EAA5}" type="datetimeFigureOut">
              <a:rPr lang="hu-HU" smtClean="0"/>
              <a:t>2026. 04. 11.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AC5D6-E2DB-47E2-A1A3-CA337DBF46D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82223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713A9-2090-4510-838C-F7E93E76EAA5}" type="datetimeFigureOut">
              <a:rPr lang="hu-HU" smtClean="0"/>
              <a:t>2026. 04. 11.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AC5D6-E2DB-47E2-A1A3-CA337DBF46D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81236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713A9-2090-4510-838C-F7E93E76EAA5}" type="datetimeFigureOut">
              <a:rPr lang="hu-HU" smtClean="0"/>
              <a:t>2026. 04. 11.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AC5D6-E2DB-47E2-A1A3-CA337DBF46D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710665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713A9-2090-4510-838C-F7E93E76EAA5}" type="datetimeFigureOut">
              <a:rPr lang="hu-HU" smtClean="0"/>
              <a:t>2026. 04. 11.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AC5D6-E2DB-47E2-A1A3-CA337DBF46D7}" type="slidenum">
              <a:rPr lang="hu-HU" smtClean="0"/>
              <a:t>‹#›</a:t>
            </a:fld>
            <a:endParaRPr lang="hu-HU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75845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713A9-2090-4510-838C-F7E93E76EAA5}" type="datetimeFigureOut">
              <a:rPr lang="hu-HU" smtClean="0"/>
              <a:t>2026. 04. 11.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AC5D6-E2DB-47E2-A1A3-CA337DBF46D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962639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713A9-2090-4510-838C-F7E93E76EAA5}" type="datetimeFigureOut">
              <a:rPr lang="hu-HU" smtClean="0"/>
              <a:t>2026. 04. 11.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AC5D6-E2DB-47E2-A1A3-CA337DBF46D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409749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713A9-2090-4510-838C-F7E93E76EAA5}" type="datetimeFigureOut">
              <a:rPr lang="hu-HU" smtClean="0"/>
              <a:t>2026. 04. 11.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AC5D6-E2DB-47E2-A1A3-CA337DBF46D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339289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713A9-2090-4510-838C-F7E93E76EAA5}" type="datetimeFigureOut">
              <a:rPr lang="hu-HU" smtClean="0"/>
              <a:t>2026. 04. 11.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AC5D6-E2DB-47E2-A1A3-CA337DBF46D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682937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713A9-2090-4510-838C-F7E93E76EAA5}" type="datetimeFigureOut">
              <a:rPr lang="hu-HU" smtClean="0"/>
              <a:t>2026. 04. 11.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AC5D6-E2DB-47E2-A1A3-CA337DBF46D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45819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4713A9-2090-4510-838C-F7E93E76EAA5}" type="datetimeFigureOut">
              <a:rPr lang="hu-HU" smtClean="0"/>
              <a:t>2026. 04. 11.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FAC5D6-E2DB-47E2-A1A3-CA337DBF46D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925843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8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cím 2">
            <a:extLst>
              <a:ext uri="{FF2B5EF4-FFF2-40B4-BE49-F238E27FC236}">
                <a16:creationId xmlns:a16="http://schemas.microsoft.com/office/drawing/2014/main" id="{15A5A052-9734-8615-D63A-0633C47727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178845"/>
            <a:ext cx="12192000" cy="665922"/>
          </a:xfrm>
        </p:spPr>
        <p:txBody>
          <a:bodyPr>
            <a:normAutofit/>
          </a:bodyPr>
          <a:lstStyle/>
          <a:p>
            <a:pPr algn="ctr"/>
            <a:r>
              <a:rPr lang="hu-HU" sz="1600" b="1" i="1" dirty="0">
                <a:solidFill>
                  <a:srgbClr val="00B0F0"/>
                </a:solidFill>
              </a:rPr>
              <a:t>Lépj be a hálózatok világába – valódi környezetben</a:t>
            </a:r>
          </a:p>
        </p:txBody>
      </p:sp>
      <p:sp>
        <p:nvSpPr>
          <p:cNvPr id="4" name="Alcím 2">
            <a:extLst>
              <a:ext uri="{FF2B5EF4-FFF2-40B4-BE49-F238E27FC236}">
                <a16:creationId xmlns:a16="http://schemas.microsoft.com/office/drawing/2014/main" id="{CC54DF72-C194-C5F5-1498-E14C7F01C26A}"/>
              </a:ext>
            </a:extLst>
          </p:cNvPr>
          <p:cNvSpPr txBox="1">
            <a:spLocks/>
          </p:cNvSpPr>
          <p:nvPr/>
        </p:nvSpPr>
        <p:spPr>
          <a:xfrm>
            <a:off x="9505950" y="5057775"/>
            <a:ext cx="2686050" cy="1800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b="1" dirty="0">
                <a:solidFill>
                  <a:srgbClr val="00B0F0"/>
                </a:solidFill>
              </a:rPr>
              <a:t>Készítették</a:t>
            </a:r>
            <a:r>
              <a:rPr lang="hu-HU" dirty="0">
                <a:solidFill>
                  <a:srgbClr val="00B0F0"/>
                </a:solidFill>
              </a:rPr>
              <a:t>:</a:t>
            </a:r>
          </a:p>
          <a:p>
            <a:r>
              <a:rPr lang="hu-HU" dirty="0"/>
              <a:t> </a:t>
            </a:r>
            <a:r>
              <a:rPr lang="hu-HU" sz="2000" dirty="0"/>
              <a:t>Király Gellért</a:t>
            </a:r>
          </a:p>
          <a:p>
            <a:r>
              <a:rPr lang="hu-HU" sz="2000" dirty="0"/>
              <a:t> Kiss Richárd Bendegúz</a:t>
            </a:r>
          </a:p>
          <a:p>
            <a:r>
              <a:rPr lang="hu-HU" sz="2000" dirty="0" err="1"/>
              <a:t>Macza</a:t>
            </a:r>
            <a:r>
              <a:rPr lang="hu-HU" sz="2000" dirty="0"/>
              <a:t> Ádám</a:t>
            </a:r>
            <a:endParaRPr lang="hu-HU" dirty="0"/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A2C9B484-5AEF-D738-6CC2-BE77FC6B01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3714" y="326316"/>
            <a:ext cx="6004572" cy="5766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624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8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A298FE-0AD8-C752-306A-BB60FB6D7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699F55D-566A-C8CF-87D1-9DC330047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Mi Is A CYBERNEST?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6494A23-A213-014D-F317-D525EDFD9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b="1" dirty="0"/>
              <a:t>Helyszíni</a:t>
            </a:r>
            <a:r>
              <a:rPr lang="hu-HU" dirty="0"/>
              <a:t> IT mentorprogram</a:t>
            </a:r>
          </a:p>
          <a:p>
            <a:r>
              <a:rPr lang="hu-HU" dirty="0"/>
              <a:t>Valós infrastruktúrán történő gyakorlati tanulás</a:t>
            </a:r>
          </a:p>
          <a:p>
            <a:r>
              <a:rPr lang="hu-HU" b="1" dirty="0"/>
              <a:t>Személyes</a:t>
            </a:r>
            <a:r>
              <a:rPr lang="hu-HU" dirty="0"/>
              <a:t> támogatás, nem önálló online tanulás</a:t>
            </a:r>
          </a:p>
          <a:p>
            <a:r>
              <a:rPr lang="hu-HU" b="1" dirty="0"/>
              <a:t>Kezdőtől haladó </a:t>
            </a:r>
            <a:r>
              <a:rPr lang="hu-HU" dirty="0"/>
              <a:t>szintig fejlődési lehetőség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B572948D-159E-8E7F-3ADD-AE2C8B1DDF28}"/>
              </a:ext>
            </a:extLst>
          </p:cNvPr>
          <p:cNvSpPr txBox="1"/>
          <p:nvPr/>
        </p:nvSpPr>
        <p:spPr>
          <a:xfrm>
            <a:off x="7817224" y="1773922"/>
            <a:ext cx="32301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Kép: modern adatközpont / szerverfarm / </a:t>
            </a:r>
            <a:r>
              <a:rPr lang="hu-HU" dirty="0" err="1"/>
              <a:t>tech</a:t>
            </a:r>
            <a:r>
              <a:rPr lang="hu-HU" dirty="0"/>
              <a:t> háttér</a:t>
            </a:r>
          </a:p>
        </p:txBody>
      </p:sp>
    </p:spTree>
    <p:extLst>
      <p:ext uri="{BB962C8B-B14F-4D97-AF65-F5344CB8AC3E}">
        <p14:creationId xmlns:p14="http://schemas.microsoft.com/office/powerpoint/2010/main" val="3448321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8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0FBF96-2AB9-E93C-CC03-25FE4E1DA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F0E3F9D-F424-8917-F97C-7C9BEC816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Probléma, amire a projekt megoldást nyújt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EF6F288-2686-190F-C24D-1DFB66273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Az </a:t>
            </a:r>
            <a:r>
              <a:rPr lang="hu-HU" b="1" dirty="0"/>
              <a:t>iskolai oktatás </a:t>
            </a:r>
            <a:r>
              <a:rPr lang="hu-HU" dirty="0"/>
              <a:t>gyakran </a:t>
            </a:r>
            <a:r>
              <a:rPr lang="hu-HU" b="1" dirty="0"/>
              <a:t>kevés gyakorlati </a:t>
            </a:r>
            <a:r>
              <a:rPr lang="hu-HU" dirty="0"/>
              <a:t>lehetőséget biztosít</a:t>
            </a:r>
          </a:p>
          <a:p>
            <a:r>
              <a:rPr lang="hu-HU" dirty="0"/>
              <a:t>A </a:t>
            </a:r>
            <a:r>
              <a:rPr lang="hu-HU" b="1" dirty="0"/>
              <a:t>tanulás</a:t>
            </a:r>
            <a:r>
              <a:rPr lang="hu-HU" dirty="0"/>
              <a:t> sokszor </a:t>
            </a:r>
            <a:r>
              <a:rPr lang="hu-HU" b="1" dirty="0"/>
              <a:t>elméletközpontú</a:t>
            </a:r>
            <a:r>
              <a:rPr lang="hu-HU" dirty="0"/>
              <a:t>, valós </a:t>
            </a:r>
            <a:r>
              <a:rPr lang="hu-HU" b="1" dirty="0"/>
              <a:t>környezet nélkül</a:t>
            </a:r>
          </a:p>
          <a:p>
            <a:r>
              <a:rPr lang="hu-HU" b="1" dirty="0"/>
              <a:t>Hiányzik</a:t>
            </a:r>
            <a:r>
              <a:rPr lang="hu-HU" dirty="0"/>
              <a:t> a valós </a:t>
            </a:r>
            <a:r>
              <a:rPr lang="hu-HU" b="1" dirty="0"/>
              <a:t>infrastruktúrán</a:t>
            </a:r>
            <a:r>
              <a:rPr lang="hu-HU" dirty="0"/>
              <a:t> történő </a:t>
            </a:r>
            <a:r>
              <a:rPr lang="hu-HU" b="1" dirty="0"/>
              <a:t>gyakorlás</a:t>
            </a:r>
          </a:p>
          <a:p>
            <a:r>
              <a:rPr lang="hu-HU" dirty="0"/>
              <a:t>A </a:t>
            </a:r>
            <a:r>
              <a:rPr lang="hu-HU" b="1" dirty="0"/>
              <a:t>fejlődés</a:t>
            </a:r>
            <a:r>
              <a:rPr lang="hu-HU" dirty="0"/>
              <a:t> nem mindig </a:t>
            </a:r>
            <a:r>
              <a:rPr lang="hu-HU" b="1" dirty="0"/>
              <a:t>strukturált</a:t>
            </a:r>
            <a:r>
              <a:rPr lang="hu-HU" dirty="0"/>
              <a:t> és </a:t>
            </a:r>
            <a:r>
              <a:rPr lang="hu-HU" b="1" dirty="0"/>
              <a:t>mentorált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C4B31856-5D17-3A13-F05B-FF0C53F21786}"/>
              </a:ext>
            </a:extLst>
          </p:cNvPr>
          <p:cNvSpPr txBox="1"/>
          <p:nvPr/>
        </p:nvSpPr>
        <p:spPr>
          <a:xfrm>
            <a:off x="9789459" y="3427404"/>
            <a:ext cx="18467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Kép: </a:t>
            </a:r>
            <a:r>
              <a:rPr lang="hu-HU" dirty="0" err="1"/>
              <a:t>dashboard</a:t>
            </a:r>
            <a:r>
              <a:rPr lang="hu-HU" dirty="0"/>
              <a:t> UI </a:t>
            </a:r>
            <a:r>
              <a:rPr lang="hu-HU" dirty="0" err="1"/>
              <a:t>mockup</a:t>
            </a:r>
            <a:r>
              <a:rPr lang="hu-HU" dirty="0"/>
              <a:t> vagy </a:t>
            </a:r>
            <a:r>
              <a:rPr lang="hu-HU" dirty="0" err="1"/>
              <a:t>cloud</a:t>
            </a:r>
            <a:r>
              <a:rPr lang="hu-HU" dirty="0"/>
              <a:t>/server illusztráció</a:t>
            </a:r>
          </a:p>
        </p:txBody>
      </p:sp>
    </p:spTree>
    <p:extLst>
      <p:ext uri="{BB962C8B-B14F-4D97-AF65-F5344CB8AC3E}">
        <p14:creationId xmlns:p14="http://schemas.microsoft.com/office/powerpoint/2010/main" val="241534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8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7FF0637-389D-3E26-DFF0-0579114BB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PROJEKT CÉLJA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A0F62F7-9B95-1440-E02A-26F4AB5F7D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Gyakorlati IT tudás átadása </a:t>
            </a:r>
            <a:r>
              <a:rPr lang="hu-HU" b="1" dirty="0"/>
              <a:t>valós környezetben</a:t>
            </a:r>
          </a:p>
          <a:p>
            <a:r>
              <a:rPr lang="hu-HU" b="1" dirty="0"/>
              <a:t>Személyes</a:t>
            </a:r>
            <a:r>
              <a:rPr lang="hu-HU" dirty="0"/>
              <a:t> </a:t>
            </a:r>
            <a:r>
              <a:rPr lang="hu-HU" b="1" dirty="0"/>
              <a:t>mentorálás</a:t>
            </a:r>
            <a:r>
              <a:rPr lang="hu-HU" dirty="0"/>
              <a:t> és folyamatos támogatás</a:t>
            </a:r>
          </a:p>
          <a:p>
            <a:r>
              <a:rPr lang="hu-HU" dirty="0"/>
              <a:t>Valós </a:t>
            </a:r>
            <a:r>
              <a:rPr lang="hu-HU" b="1" dirty="0"/>
              <a:t>rendszerek</a:t>
            </a:r>
            <a:r>
              <a:rPr lang="hu-HU" dirty="0"/>
              <a:t> </a:t>
            </a:r>
            <a:r>
              <a:rPr lang="hu-HU" b="1" dirty="0"/>
              <a:t>megértése</a:t>
            </a:r>
            <a:r>
              <a:rPr lang="hu-HU" dirty="0"/>
              <a:t> és használata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254ACF03-0759-3001-8695-2340D6E62015}"/>
              </a:ext>
            </a:extLst>
          </p:cNvPr>
          <p:cNvSpPr txBox="1"/>
          <p:nvPr/>
        </p:nvSpPr>
        <p:spPr>
          <a:xfrm>
            <a:off x="8606118" y="3504310"/>
            <a:ext cx="27566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dirty="0"/>
              <a:t>Kép: </a:t>
            </a:r>
            <a:r>
              <a:rPr lang="hu-HU" dirty="0" err="1"/>
              <a:t>gepteremrol</a:t>
            </a:r>
            <a:r>
              <a:rPr lang="hu-HU" dirty="0"/>
              <a:t> egy </a:t>
            </a:r>
            <a:r>
              <a:rPr lang="hu-HU" dirty="0" err="1"/>
              <a:t>kep</a:t>
            </a:r>
            <a:r>
              <a:rPr lang="hu-HU" dirty="0"/>
              <a:t> </a:t>
            </a:r>
            <a:r>
              <a:rPr lang="hu-HU" dirty="0" err="1"/>
              <a:t>pl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799095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8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B64F0E-3492-06E6-88E9-9CB572A57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47C89FD-421D-E8CF-4E67-E803EA19C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Felhasználói szerepkörök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BB459E7-9E69-A4B4-1D2D-169EF7C6B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4246563"/>
          </a:xfrm>
        </p:spPr>
        <p:txBody>
          <a:bodyPr>
            <a:normAutofit fontScale="92500" lnSpcReduction="10000"/>
          </a:bodyPr>
          <a:lstStyle/>
          <a:p>
            <a:r>
              <a:rPr lang="hu-HU" dirty="0"/>
              <a:t>👤 </a:t>
            </a:r>
            <a:r>
              <a:rPr lang="hu-HU" b="1" dirty="0"/>
              <a:t>Vendég</a:t>
            </a:r>
          </a:p>
          <a:p>
            <a:pPr lvl="1"/>
            <a:r>
              <a:rPr lang="hu-HU" dirty="0"/>
              <a:t>böngészés, információk megtekintése</a:t>
            </a:r>
          </a:p>
          <a:p>
            <a:r>
              <a:rPr lang="hu-HU" dirty="0"/>
              <a:t>👨‍💻 </a:t>
            </a:r>
            <a:r>
              <a:rPr lang="hu-HU" b="1" dirty="0"/>
              <a:t>User</a:t>
            </a:r>
          </a:p>
          <a:p>
            <a:pPr lvl="1"/>
            <a:r>
              <a:rPr lang="hu-HU" dirty="0"/>
              <a:t>bejelentkezés </a:t>
            </a:r>
          </a:p>
          <a:p>
            <a:pPr lvl="1"/>
            <a:r>
              <a:rPr lang="hu-HU" dirty="0"/>
              <a:t>foglalás létrehozása </a:t>
            </a:r>
          </a:p>
          <a:p>
            <a:pPr lvl="1"/>
            <a:r>
              <a:rPr lang="hu-HU" dirty="0"/>
              <a:t>saját adatok és foglalások kezelése</a:t>
            </a:r>
          </a:p>
          <a:p>
            <a:r>
              <a:rPr lang="hu-HU" dirty="0"/>
              <a:t>🛠️ </a:t>
            </a:r>
            <a:r>
              <a:rPr lang="hu-HU" b="1" dirty="0" err="1"/>
              <a:t>Admin</a:t>
            </a:r>
            <a:endParaRPr lang="hu-HU" b="1" dirty="0"/>
          </a:p>
          <a:p>
            <a:pPr lvl="1"/>
            <a:r>
              <a:rPr lang="hu-HU" dirty="0"/>
              <a:t>eszközök és időpontok kezelése </a:t>
            </a:r>
          </a:p>
          <a:p>
            <a:pPr lvl="1"/>
            <a:r>
              <a:rPr lang="hu-HU" dirty="0"/>
              <a:t>felhasználók felügyelete </a:t>
            </a:r>
          </a:p>
          <a:p>
            <a:pPr lvl="1"/>
            <a:r>
              <a:rPr lang="hu-HU" dirty="0"/>
              <a:t>rendszeradminisztráció</a:t>
            </a:r>
          </a:p>
          <a:p>
            <a:pPr lvl="1"/>
            <a:endParaRPr lang="hu-HU" dirty="0"/>
          </a:p>
          <a:p>
            <a:endParaRPr lang="hu-HU" dirty="0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C944B253-05BA-33B8-348B-DB1F90281A39}"/>
              </a:ext>
            </a:extLst>
          </p:cNvPr>
          <p:cNvSpPr txBox="1"/>
          <p:nvPr/>
        </p:nvSpPr>
        <p:spPr>
          <a:xfrm>
            <a:off x="7673789" y="2948499"/>
            <a:ext cx="23442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dirty="0"/>
              <a:t>Kép: </a:t>
            </a:r>
            <a:r>
              <a:rPr lang="hu-HU" dirty="0" err="1"/>
              <a:t>role</a:t>
            </a:r>
            <a:r>
              <a:rPr lang="hu-HU" dirty="0"/>
              <a:t> diagram / </a:t>
            </a:r>
            <a:r>
              <a:rPr lang="hu-HU" dirty="0" err="1"/>
              <a:t>user</a:t>
            </a:r>
            <a:r>
              <a:rPr lang="hu-HU" dirty="0"/>
              <a:t> flow</a:t>
            </a:r>
          </a:p>
        </p:txBody>
      </p:sp>
    </p:spTree>
    <p:extLst>
      <p:ext uri="{BB962C8B-B14F-4D97-AF65-F5344CB8AC3E}">
        <p14:creationId xmlns:p14="http://schemas.microsoft.com/office/powerpoint/2010/main" val="203552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8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0F7A67-041E-651E-AC8A-C844C627C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57D73B3-589C-EBC5-5012-8F60F7997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Rendszer architektúra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AF0DF46-CD2A-081D-59ED-D71C65BF4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4246563"/>
          </a:xfrm>
        </p:spPr>
        <p:txBody>
          <a:bodyPr>
            <a:normAutofit/>
          </a:bodyPr>
          <a:lstStyle/>
          <a:p>
            <a:pPr lvl="1"/>
            <a:r>
              <a:rPr lang="hu-HU" dirty="0"/>
              <a:t>Frontend: </a:t>
            </a:r>
            <a:r>
              <a:rPr lang="hu-HU" dirty="0" err="1"/>
              <a:t>React</a:t>
            </a:r>
            <a:r>
              <a:rPr lang="hu-HU" dirty="0"/>
              <a:t> + </a:t>
            </a:r>
            <a:r>
              <a:rPr lang="hu-HU" dirty="0" err="1"/>
              <a:t>Vite</a:t>
            </a:r>
            <a:endParaRPr lang="hu-HU" dirty="0"/>
          </a:p>
          <a:p>
            <a:pPr lvl="1"/>
            <a:r>
              <a:rPr lang="hu-HU" dirty="0"/>
              <a:t>Backend: Node.js + Express</a:t>
            </a:r>
          </a:p>
          <a:p>
            <a:pPr lvl="1"/>
            <a:r>
              <a:rPr lang="hu-HU" dirty="0"/>
              <a:t>Adatbázis: </a:t>
            </a:r>
            <a:r>
              <a:rPr lang="hu-HU" dirty="0" err="1"/>
              <a:t>MySQL</a:t>
            </a:r>
            <a:endParaRPr lang="hu-HU" dirty="0"/>
          </a:p>
          <a:p>
            <a:pPr lvl="1"/>
            <a:r>
              <a:rPr lang="hu-HU" dirty="0"/>
              <a:t>Hitelesítés: JWT + </a:t>
            </a:r>
            <a:r>
              <a:rPr lang="hu-HU" dirty="0" err="1"/>
              <a:t>OAuth</a:t>
            </a:r>
            <a:endParaRPr lang="hu-HU" dirty="0"/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E9BEFC33-EBCC-9C22-0774-C7C5FEE682BE}"/>
              </a:ext>
            </a:extLst>
          </p:cNvPr>
          <p:cNvSpPr txBox="1"/>
          <p:nvPr/>
        </p:nvSpPr>
        <p:spPr>
          <a:xfrm>
            <a:off x="7512423" y="3244334"/>
            <a:ext cx="28149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Kép</a:t>
            </a:r>
            <a:r>
              <a:rPr lang="en-US" dirty="0"/>
              <a:t>: architecture diagram (frontend ↔ backend ↔ DB)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477020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8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D665FA-A721-7711-4832-3517D63AD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342DFEE-1392-6E3E-94C3-521CB9BEF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Adatfolyam működés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CA9E63F-8B95-7129-3B82-F8C6C9CFB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4246563"/>
          </a:xfrm>
        </p:spPr>
        <p:txBody>
          <a:bodyPr>
            <a:normAutofit/>
          </a:bodyPr>
          <a:lstStyle/>
          <a:p>
            <a:pPr lvl="1"/>
            <a:r>
              <a:rPr lang="hu-HU" b="1" dirty="0"/>
              <a:t>Felhasználói kérés </a:t>
            </a:r>
            <a:r>
              <a:rPr lang="hu-HU" dirty="0"/>
              <a:t>a frontendről</a:t>
            </a:r>
          </a:p>
          <a:p>
            <a:pPr lvl="1"/>
            <a:r>
              <a:rPr lang="pt-BR" dirty="0"/>
              <a:t>A </a:t>
            </a:r>
            <a:r>
              <a:rPr lang="pt-BR" b="1" dirty="0"/>
              <a:t>backend fogadja </a:t>
            </a:r>
            <a:r>
              <a:rPr lang="pt-BR" dirty="0"/>
              <a:t>és </a:t>
            </a:r>
            <a:r>
              <a:rPr lang="pt-BR" b="1" dirty="0"/>
              <a:t>feldolgozza</a:t>
            </a:r>
            <a:r>
              <a:rPr lang="pt-BR" dirty="0"/>
              <a:t> a kérést</a:t>
            </a:r>
            <a:endParaRPr lang="hu-HU" dirty="0"/>
          </a:p>
          <a:p>
            <a:pPr lvl="1"/>
            <a:r>
              <a:rPr lang="hu-HU" dirty="0"/>
              <a:t>Szükség esetén </a:t>
            </a:r>
            <a:r>
              <a:rPr lang="hu-HU" b="1" dirty="0"/>
              <a:t>JWT</a:t>
            </a:r>
            <a:r>
              <a:rPr lang="hu-HU" dirty="0"/>
              <a:t> </a:t>
            </a:r>
            <a:r>
              <a:rPr lang="hu-HU" b="1" dirty="0"/>
              <a:t>hitelesítést</a:t>
            </a:r>
            <a:r>
              <a:rPr lang="hu-HU" dirty="0"/>
              <a:t> végez</a:t>
            </a:r>
          </a:p>
          <a:p>
            <a:pPr lvl="1"/>
            <a:r>
              <a:rPr lang="hu-HU" dirty="0"/>
              <a:t>A </a:t>
            </a:r>
            <a:r>
              <a:rPr lang="hu-HU" b="1" dirty="0"/>
              <a:t>backend</a:t>
            </a:r>
            <a:r>
              <a:rPr lang="hu-HU" dirty="0"/>
              <a:t> </a:t>
            </a:r>
            <a:r>
              <a:rPr lang="hu-HU" b="1" dirty="0"/>
              <a:t>adatbázis</a:t>
            </a:r>
            <a:r>
              <a:rPr lang="hu-HU" dirty="0"/>
              <a:t> műveletet hajt végre (</a:t>
            </a:r>
            <a:r>
              <a:rPr lang="hu-HU" dirty="0" err="1"/>
              <a:t>MySQL</a:t>
            </a:r>
            <a:r>
              <a:rPr lang="hu-HU" dirty="0"/>
              <a:t>)</a:t>
            </a:r>
          </a:p>
          <a:p>
            <a:pPr lvl="1"/>
            <a:r>
              <a:rPr lang="hu-HU" dirty="0"/>
              <a:t>A backend </a:t>
            </a:r>
            <a:r>
              <a:rPr lang="hu-HU" b="1" dirty="0"/>
              <a:t>JSON formátumban </a:t>
            </a:r>
            <a:r>
              <a:rPr lang="hu-HU" dirty="0"/>
              <a:t>választ küld vissza</a:t>
            </a:r>
          </a:p>
          <a:p>
            <a:pPr lvl="1"/>
            <a:r>
              <a:rPr lang="hu-HU" dirty="0"/>
              <a:t>A </a:t>
            </a:r>
            <a:r>
              <a:rPr lang="hu-HU" b="1" dirty="0"/>
              <a:t>frontend megjeleníti </a:t>
            </a:r>
            <a:r>
              <a:rPr lang="hu-HU" dirty="0"/>
              <a:t>az eredményt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92A8FD90-627A-03E3-440E-635FE41C4F88}"/>
              </a:ext>
            </a:extLst>
          </p:cNvPr>
          <p:cNvSpPr txBox="1"/>
          <p:nvPr/>
        </p:nvSpPr>
        <p:spPr>
          <a:xfrm>
            <a:off x="8588187" y="3244334"/>
            <a:ext cx="24592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dirty="0"/>
              <a:t>Kép: folyamatábra nyilakkal</a:t>
            </a:r>
          </a:p>
        </p:txBody>
      </p:sp>
    </p:spTree>
    <p:extLst>
      <p:ext uri="{BB962C8B-B14F-4D97-AF65-F5344CB8AC3E}">
        <p14:creationId xmlns:p14="http://schemas.microsoft.com/office/powerpoint/2010/main" val="4028769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8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D882E7-4FF2-B26A-C09D-FF8D7A7C2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18EBFE0-430C-2D8E-F4FB-96911F2A0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Frontend technológiák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9C0C5BC-2CAA-7B66-58B0-0E2B5FBA0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4246563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React </a:t>
            </a:r>
            <a:endParaRPr lang="hu-HU" dirty="0"/>
          </a:p>
          <a:p>
            <a:pPr lvl="1"/>
            <a:r>
              <a:rPr lang="en-US" dirty="0"/>
              <a:t>React Router </a:t>
            </a:r>
            <a:endParaRPr lang="hu-HU" dirty="0"/>
          </a:p>
          <a:p>
            <a:pPr lvl="1"/>
            <a:r>
              <a:rPr lang="en-US" dirty="0"/>
              <a:t>State management </a:t>
            </a:r>
            <a:endParaRPr lang="hu-HU" dirty="0"/>
          </a:p>
          <a:p>
            <a:pPr lvl="1"/>
            <a:r>
              <a:rPr lang="en-US" dirty="0" err="1"/>
              <a:t>Védett</a:t>
            </a:r>
            <a:r>
              <a:rPr lang="en-US" dirty="0"/>
              <a:t> route-ok</a:t>
            </a:r>
            <a:endParaRPr lang="hu-HU" dirty="0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EC363746-212A-C902-9405-28247FF8B4E3}"/>
              </a:ext>
            </a:extLst>
          </p:cNvPr>
          <p:cNvSpPr txBox="1"/>
          <p:nvPr/>
        </p:nvSpPr>
        <p:spPr>
          <a:xfrm>
            <a:off x="7135905" y="3244333"/>
            <a:ext cx="24115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dirty="0"/>
              <a:t>Kép: </a:t>
            </a:r>
            <a:r>
              <a:rPr lang="hu-HU" dirty="0" err="1"/>
              <a:t>React</a:t>
            </a:r>
            <a:r>
              <a:rPr lang="hu-HU" dirty="0"/>
              <a:t> UI </a:t>
            </a:r>
            <a:r>
              <a:rPr lang="hu-HU" dirty="0" err="1"/>
              <a:t>screenshot</a:t>
            </a:r>
            <a:r>
              <a:rPr lang="hu-HU" dirty="0"/>
              <a:t> (login/</a:t>
            </a:r>
            <a:r>
              <a:rPr lang="hu-HU" dirty="0" err="1"/>
              <a:t>dashboard</a:t>
            </a:r>
            <a:r>
              <a:rPr lang="hu-H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7794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8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F0DF55-7096-4007-D831-86693A442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502A3B5-254D-2C69-8ED1-9124D43F4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Frontend funkciók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7D4B006-0B68-7AF7-F826-EAEDADFAC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4246563"/>
          </a:xfrm>
        </p:spPr>
        <p:txBody>
          <a:bodyPr>
            <a:normAutofit/>
          </a:bodyPr>
          <a:lstStyle/>
          <a:p>
            <a:pPr lvl="1"/>
            <a:r>
              <a:rPr lang="hu-HU" dirty="0"/>
              <a:t>Login / </a:t>
            </a:r>
            <a:r>
              <a:rPr lang="hu-HU" dirty="0" err="1"/>
              <a:t>Register</a:t>
            </a:r>
            <a:endParaRPr lang="hu-HU" dirty="0"/>
          </a:p>
          <a:p>
            <a:pPr lvl="1"/>
            <a:r>
              <a:rPr lang="hu-HU" dirty="0" err="1"/>
              <a:t>Dashboard</a:t>
            </a:r>
            <a:endParaRPr lang="hu-HU" dirty="0"/>
          </a:p>
          <a:p>
            <a:pPr lvl="1"/>
            <a:r>
              <a:rPr lang="hu-HU" dirty="0"/>
              <a:t>Foglalási folyamat</a:t>
            </a:r>
          </a:p>
          <a:p>
            <a:pPr lvl="1"/>
            <a:r>
              <a:rPr lang="hu-HU" dirty="0"/>
              <a:t>Eszközlista</a:t>
            </a:r>
          </a:p>
          <a:p>
            <a:pPr lvl="1"/>
            <a:r>
              <a:rPr lang="hu-HU" dirty="0"/>
              <a:t>Reszponzív UI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5924E8CC-295D-47C7-07B5-6747CCE5C0F9}"/>
              </a:ext>
            </a:extLst>
          </p:cNvPr>
          <p:cNvSpPr txBox="1"/>
          <p:nvPr/>
        </p:nvSpPr>
        <p:spPr>
          <a:xfrm>
            <a:off x="6750423" y="3244334"/>
            <a:ext cx="23890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dirty="0"/>
              <a:t>Kép: weboldal több képernyőn (</a:t>
            </a:r>
            <a:r>
              <a:rPr lang="hu-HU" dirty="0" err="1"/>
              <a:t>desktop</a:t>
            </a:r>
            <a:r>
              <a:rPr lang="hu-HU" dirty="0"/>
              <a:t> + mobil)</a:t>
            </a:r>
          </a:p>
        </p:txBody>
      </p:sp>
    </p:spTree>
    <p:extLst>
      <p:ext uri="{BB962C8B-B14F-4D97-AF65-F5344CB8AC3E}">
        <p14:creationId xmlns:p14="http://schemas.microsoft.com/office/powerpoint/2010/main" val="4164053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8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D44811-D835-5FA3-0EC5-5605F266D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D5DD648-030C-844C-DC69-CD30CC518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Backend technológiák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FF14081-6363-F268-563D-909494FC2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4246563"/>
          </a:xfrm>
        </p:spPr>
        <p:txBody>
          <a:bodyPr>
            <a:normAutofit/>
          </a:bodyPr>
          <a:lstStyle/>
          <a:p>
            <a:pPr lvl="1"/>
            <a:r>
              <a:rPr lang="hu-HU" dirty="0"/>
              <a:t>Node.js</a:t>
            </a:r>
          </a:p>
          <a:p>
            <a:pPr lvl="1"/>
            <a:r>
              <a:rPr lang="hu-HU" dirty="0"/>
              <a:t>Express</a:t>
            </a:r>
          </a:p>
          <a:p>
            <a:pPr lvl="1"/>
            <a:r>
              <a:rPr lang="hu-HU" dirty="0"/>
              <a:t>REST API</a:t>
            </a:r>
          </a:p>
          <a:p>
            <a:pPr lvl="1"/>
            <a:r>
              <a:rPr lang="hu-HU" dirty="0" err="1"/>
              <a:t>Middleware</a:t>
            </a:r>
            <a:r>
              <a:rPr lang="hu-HU" dirty="0"/>
              <a:t> rendszer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00A44768-88FE-E027-908C-5CB6E1054A4C}"/>
              </a:ext>
            </a:extLst>
          </p:cNvPr>
          <p:cNvSpPr txBox="1"/>
          <p:nvPr/>
        </p:nvSpPr>
        <p:spPr>
          <a:xfrm>
            <a:off x="6853517" y="3429000"/>
            <a:ext cx="26670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Kép: API diagram 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451026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8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87F867-E1CB-7E85-8318-5BC19F28E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F3C92B8-9752-28A6-7C52-EC00A8963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REST API felépítés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0278941-ACC3-6EFF-9476-39F029577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4246563"/>
          </a:xfrm>
        </p:spPr>
        <p:txBody>
          <a:bodyPr>
            <a:normAutofit/>
          </a:bodyPr>
          <a:lstStyle/>
          <a:p>
            <a:pPr lvl="1"/>
            <a:r>
              <a:rPr lang="hu-HU" dirty="0"/>
              <a:t>Auth </a:t>
            </a:r>
            <a:r>
              <a:rPr lang="hu-HU" dirty="0" err="1"/>
              <a:t>endpointok</a:t>
            </a:r>
            <a:endParaRPr lang="hu-HU" dirty="0"/>
          </a:p>
          <a:p>
            <a:pPr lvl="1"/>
            <a:r>
              <a:rPr lang="hu-HU" dirty="0"/>
              <a:t>Eszköz CRUD</a:t>
            </a:r>
          </a:p>
          <a:p>
            <a:pPr lvl="1"/>
            <a:r>
              <a:rPr lang="hu-HU" dirty="0"/>
              <a:t>Foglalás kezelés</a:t>
            </a:r>
          </a:p>
          <a:p>
            <a:pPr lvl="1"/>
            <a:r>
              <a:rPr lang="hu-HU" dirty="0"/>
              <a:t>Időpont kezelés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26BDBD5A-FD98-36D1-3477-F2EC35172C9D}"/>
              </a:ext>
            </a:extLst>
          </p:cNvPr>
          <p:cNvSpPr txBox="1"/>
          <p:nvPr/>
        </p:nvSpPr>
        <p:spPr>
          <a:xfrm>
            <a:off x="7198658" y="3208475"/>
            <a:ext cx="25594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Kép</a:t>
            </a:r>
            <a:r>
              <a:rPr lang="en-US" dirty="0"/>
              <a:t>: Postman / API request screenshot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819740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7DAB65-3270-1333-2B0D-C7599CE52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C0CB744E-A8FD-4CF5-AE18-CC6736475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>
            <a:normAutofit/>
          </a:bodyPr>
          <a:lstStyle/>
          <a:p>
            <a:r>
              <a:rPr lang="hu-HU" sz="3200" b="1"/>
              <a:t>Adatbázis felépítés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F144F69-CA8D-4BD9-1625-EB7BFF89F6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4459287" cy="3965046"/>
          </a:xfrm>
        </p:spPr>
        <p:txBody>
          <a:bodyPr>
            <a:normAutofit/>
          </a:bodyPr>
          <a:lstStyle/>
          <a:p>
            <a:pPr lvl="1"/>
            <a:r>
              <a:rPr lang="hu-HU"/>
              <a:t>ertekeles</a:t>
            </a:r>
            <a:endParaRPr lang="hu-HU" dirty="0"/>
          </a:p>
          <a:p>
            <a:pPr lvl="1"/>
            <a:r>
              <a:rPr lang="hu-HU"/>
              <a:t>eszkoz</a:t>
            </a:r>
            <a:endParaRPr lang="hu-HU" dirty="0"/>
          </a:p>
          <a:p>
            <a:pPr lvl="1"/>
            <a:r>
              <a:rPr lang="hu-HU"/>
              <a:t>page_review</a:t>
            </a:r>
            <a:endParaRPr lang="hu-HU" dirty="0"/>
          </a:p>
          <a:p>
            <a:pPr lvl="1"/>
            <a:r>
              <a:rPr lang="hu-HU"/>
              <a:t>felhasznalo</a:t>
            </a:r>
            <a:endParaRPr lang="hu-HU" dirty="0"/>
          </a:p>
          <a:p>
            <a:pPr lvl="1"/>
            <a:r>
              <a:rPr lang="hu-HU"/>
              <a:t>foglalas</a:t>
            </a:r>
            <a:endParaRPr lang="hu-HU" dirty="0"/>
          </a:p>
          <a:p>
            <a:pPr lvl="1"/>
            <a:r>
              <a:rPr lang="hu-HU"/>
              <a:t>idopont</a:t>
            </a:r>
            <a:endParaRPr lang="hu-HU" dirty="0"/>
          </a:p>
          <a:p>
            <a:pPr lvl="1"/>
            <a:r>
              <a:rPr lang="hu-HU" dirty="0"/>
              <a:t>log</a:t>
            </a:r>
          </a:p>
          <a:p>
            <a:pPr lvl="1"/>
            <a:r>
              <a:rPr lang="hu-HU"/>
              <a:t>mentor_ertekeles</a:t>
            </a:r>
            <a:endParaRPr lang="hu-HU" dirty="0"/>
          </a:p>
          <a:p>
            <a:pPr lvl="1"/>
            <a:r>
              <a:rPr lang="hu-HU"/>
              <a:t>uzemelteto</a:t>
            </a:r>
            <a:endParaRPr lang="hu-HU" dirty="0"/>
          </a:p>
          <a:p>
            <a:pPr marL="457200" lvl="1" indent="0">
              <a:buNone/>
            </a:pPr>
            <a:endParaRPr lang="hu-HU" dirty="0"/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98628901-ACC8-08C0-90CE-2E0CA98D58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384062"/>
            <a:ext cx="5456279" cy="4064927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8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03855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8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14BC47-4E13-E980-FC4E-447B78218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A7126D0-8F8B-21B6-2D02-896D9DAE9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Jogosultságkezelés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A4850AD-484F-7464-F97F-ECF7027EF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6"/>
            <a:ext cx="3468688" cy="4246563"/>
          </a:xfrm>
        </p:spPr>
        <p:txBody>
          <a:bodyPr>
            <a:normAutofit/>
          </a:bodyPr>
          <a:lstStyle/>
          <a:p>
            <a:pPr lvl="1"/>
            <a:r>
              <a:rPr lang="hu-HU" dirty="0"/>
              <a:t>JWT </a:t>
            </a:r>
            <a:r>
              <a:rPr lang="hu-HU" dirty="0" err="1"/>
              <a:t>token</a:t>
            </a:r>
            <a:r>
              <a:rPr lang="hu-HU" dirty="0"/>
              <a:t> alapú </a:t>
            </a:r>
            <a:r>
              <a:rPr lang="hu-HU" dirty="0" err="1"/>
              <a:t>auth</a:t>
            </a:r>
            <a:endParaRPr lang="hu-HU" dirty="0"/>
          </a:p>
          <a:p>
            <a:pPr lvl="1"/>
            <a:r>
              <a:rPr lang="hu-HU" dirty="0" err="1"/>
              <a:t>Admin</a:t>
            </a:r>
            <a:r>
              <a:rPr lang="hu-HU" dirty="0"/>
              <a:t> </a:t>
            </a:r>
            <a:r>
              <a:rPr lang="hu-HU" dirty="0" err="1"/>
              <a:t>vs</a:t>
            </a:r>
            <a:r>
              <a:rPr lang="hu-HU" dirty="0"/>
              <a:t> </a:t>
            </a:r>
            <a:r>
              <a:rPr lang="hu-HU" dirty="0" err="1"/>
              <a:t>user</a:t>
            </a:r>
            <a:r>
              <a:rPr lang="hu-HU" dirty="0"/>
              <a:t> </a:t>
            </a:r>
            <a:r>
              <a:rPr lang="hu-HU" dirty="0" err="1"/>
              <a:t>endpointok</a:t>
            </a:r>
            <a:endParaRPr lang="hu-HU" dirty="0"/>
          </a:p>
          <a:p>
            <a:pPr lvl="1"/>
            <a:r>
              <a:rPr lang="hu-HU" dirty="0" err="1"/>
              <a:t>Middleware</a:t>
            </a:r>
            <a:r>
              <a:rPr lang="hu-HU" dirty="0"/>
              <a:t> ellenőrzés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F20A58A6-BD7D-AA6E-A929-B979A4A50583}"/>
              </a:ext>
            </a:extLst>
          </p:cNvPr>
          <p:cNvSpPr txBox="1"/>
          <p:nvPr/>
        </p:nvSpPr>
        <p:spPr>
          <a:xfrm>
            <a:off x="6095999" y="3244334"/>
            <a:ext cx="30435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dirty="0"/>
              <a:t>Kép: </a:t>
            </a:r>
            <a:r>
              <a:rPr lang="hu-HU" dirty="0" err="1"/>
              <a:t>lock</a:t>
            </a:r>
            <a:r>
              <a:rPr lang="hu-HU" dirty="0"/>
              <a:t>/</a:t>
            </a:r>
            <a:r>
              <a:rPr lang="hu-HU" dirty="0" err="1"/>
              <a:t>security</a:t>
            </a:r>
            <a:r>
              <a:rPr lang="hu-HU" dirty="0"/>
              <a:t> ikon</a:t>
            </a:r>
          </a:p>
        </p:txBody>
      </p:sp>
    </p:spTree>
    <p:extLst>
      <p:ext uri="{BB962C8B-B14F-4D97-AF65-F5344CB8AC3E}">
        <p14:creationId xmlns:p14="http://schemas.microsoft.com/office/powerpoint/2010/main" val="41837815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8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2D061F-E7E5-D8B9-ECB6-7F4747E48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4C9C957-F522-E5E1-B900-A2ADDF781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Foglalási folyamat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7E2B990-AF91-621C-D8AF-7A39BDFC1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6"/>
            <a:ext cx="3468688" cy="4246563"/>
          </a:xfrm>
        </p:spPr>
        <p:txBody>
          <a:bodyPr>
            <a:normAutofit/>
          </a:bodyPr>
          <a:lstStyle/>
          <a:p>
            <a:pPr lvl="1"/>
            <a:r>
              <a:rPr lang="hu-HU" dirty="0"/>
              <a:t>Eszköz kiválasztás</a:t>
            </a:r>
          </a:p>
          <a:p>
            <a:pPr lvl="1"/>
            <a:r>
              <a:rPr lang="hu-HU" dirty="0"/>
              <a:t>Időpont választás</a:t>
            </a:r>
          </a:p>
          <a:p>
            <a:pPr lvl="1"/>
            <a:r>
              <a:rPr lang="hu-HU" dirty="0"/>
              <a:t>Adatok megadása</a:t>
            </a:r>
          </a:p>
          <a:p>
            <a:pPr lvl="1"/>
            <a:r>
              <a:rPr lang="hu-HU" dirty="0"/>
              <a:t>Véglegesítés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F6EE4071-4A2C-06E8-BB3F-7E7EE0F1A184}"/>
              </a:ext>
            </a:extLst>
          </p:cNvPr>
          <p:cNvSpPr txBox="1"/>
          <p:nvPr/>
        </p:nvSpPr>
        <p:spPr>
          <a:xfrm>
            <a:off x="6696635" y="3244334"/>
            <a:ext cx="244288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dirty="0"/>
              <a:t>Kép: WEBOLDALROL EGY KEP AHOGYAN MUKKODIK, SPACEL MENJEN TOVABB A KEPEN AZ ELSO KEP MEG TUNJON EL EZENE A FOLYMATON MENJEN VEGIG</a:t>
            </a:r>
          </a:p>
        </p:txBody>
      </p:sp>
    </p:spTree>
    <p:extLst>
      <p:ext uri="{BB962C8B-B14F-4D97-AF65-F5344CB8AC3E}">
        <p14:creationId xmlns:p14="http://schemas.microsoft.com/office/powerpoint/2010/main" val="42177215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8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ED6615-C06B-9D5C-8822-F8AC5F3A1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EFB4EEB-0E60-F346-F3C0-B36752BE3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Fejlesztői struktúra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786B53B-038E-185B-500F-D29EC5E6E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6"/>
            <a:ext cx="3468688" cy="4246563"/>
          </a:xfrm>
        </p:spPr>
        <p:txBody>
          <a:bodyPr>
            <a:normAutofit/>
          </a:bodyPr>
          <a:lstStyle/>
          <a:p>
            <a:pPr lvl="1"/>
            <a:r>
              <a:rPr lang="hu-HU" dirty="0"/>
              <a:t>frontend/ </a:t>
            </a:r>
          </a:p>
          <a:p>
            <a:pPr lvl="1"/>
            <a:r>
              <a:rPr lang="hu-HU" dirty="0"/>
              <a:t>backend/ </a:t>
            </a:r>
          </a:p>
          <a:p>
            <a:pPr lvl="1"/>
            <a:r>
              <a:rPr lang="hu-HU" dirty="0" err="1"/>
              <a:t>controllers</a:t>
            </a:r>
            <a:r>
              <a:rPr lang="hu-HU" dirty="0"/>
              <a:t> / </a:t>
            </a:r>
            <a:r>
              <a:rPr lang="hu-HU" dirty="0" err="1"/>
              <a:t>routes</a:t>
            </a:r>
            <a:r>
              <a:rPr lang="hu-HU" dirty="0"/>
              <a:t> / </a:t>
            </a:r>
            <a:r>
              <a:rPr lang="hu-HU" dirty="0" err="1"/>
              <a:t>models</a:t>
            </a:r>
            <a:r>
              <a:rPr lang="hu-HU" dirty="0"/>
              <a:t> </a:t>
            </a:r>
          </a:p>
          <a:p>
            <a:pPr lvl="1"/>
            <a:r>
              <a:rPr lang="hu-HU" dirty="0"/>
              <a:t>moduláris felépítés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029417BA-6B81-9DD1-822C-3A3D71B1A815}"/>
              </a:ext>
            </a:extLst>
          </p:cNvPr>
          <p:cNvSpPr txBox="1"/>
          <p:nvPr/>
        </p:nvSpPr>
        <p:spPr>
          <a:xfrm>
            <a:off x="6696075" y="1924050"/>
            <a:ext cx="2447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Kép: mappastruktúra </a:t>
            </a:r>
            <a:r>
              <a:rPr lang="hu-HU" dirty="0" err="1"/>
              <a:t>screenshot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7943077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8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73B05F-9FD3-992C-61D0-10CD10608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AF7AF86-877D-6979-49C8-C64E9E1F6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Tesztelés és hibakezelés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B56EF77-6CFC-C021-69FA-2C95E1EE6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6"/>
            <a:ext cx="4830762" cy="4246563"/>
          </a:xfrm>
        </p:spPr>
        <p:txBody>
          <a:bodyPr>
            <a:normAutofit/>
          </a:bodyPr>
          <a:lstStyle/>
          <a:p>
            <a:pPr lvl="1"/>
            <a:r>
              <a:rPr lang="hu-HU" dirty="0"/>
              <a:t>API tesztelés (Postman)</a:t>
            </a:r>
          </a:p>
          <a:p>
            <a:pPr lvl="1"/>
            <a:r>
              <a:rPr lang="hu-HU" dirty="0"/>
              <a:t>hibakódok (400/401/403/500)</a:t>
            </a:r>
          </a:p>
          <a:p>
            <a:pPr lvl="1"/>
            <a:r>
              <a:rPr lang="hu-HU" dirty="0"/>
              <a:t>frontend validáció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49FA837F-D04A-5CB6-3746-03B7340F850C}"/>
              </a:ext>
            </a:extLst>
          </p:cNvPr>
          <p:cNvSpPr txBox="1"/>
          <p:nvPr/>
        </p:nvSpPr>
        <p:spPr>
          <a:xfrm>
            <a:off x="6696075" y="1924050"/>
            <a:ext cx="2447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Kép: hibakezelés UI vagy </a:t>
            </a:r>
            <a:r>
              <a:rPr lang="hu-HU" dirty="0" err="1"/>
              <a:t>console</a:t>
            </a:r>
            <a:r>
              <a:rPr lang="hu-HU" dirty="0"/>
              <a:t> log</a:t>
            </a:r>
          </a:p>
        </p:txBody>
      </p:sp>
    </p:spTree>
    <p:extLst>
      <p:ext uri="{BB962C8B-B14F-4D97-AF65-F5344CB8AC3E}">
        <p14:creationId xmlns:p14="http://schemas.microsoft.com/office/powerpoint/2010/main" val="9077140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8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BE761C-6F70-0860-0914-52A006CF1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D46C7CE-322B-22C2-C94C-051B3A07C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Csapatmunka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E496DFE-150E-FC6E-11A8-2B0C9748E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6"/>
            <a:ext cx="4830762" cy="4246563"/>
          </a:xfrm>
        </p:spPr>
        <p:txBody>
          <a:bodyPr>
            <a:normAutofit/>
          </a:bodyPr>
          <a:lstStyle/>
          <a:p>
            <a:pPr lvl="1"/>
            <a:r>
              <a:rPr lang="hu-HU" dirty="0"/>
              <a:t>frontend </a:t>
            </a:r>
          </a:p>
          <a:p>
            <a:pPr lvl="1"/>
            <a:r>
              <a:rPr lang="hu-HU" dirty="0"/>
              <a:t>backend </a:t>
            </a:r>
          </a:p>
          <a:p>
            <a:pPr lvl="1"/>
            <a:r>
              <a:rPr lang="hu-HU" dirty="0" err="1"/>
              <a:t>desktop</a:t>
            </a:r>
            <a:r>
              <a:rPr lang="hu-HU" dirty="0"/>
              <a:t> </a:t>
            </a:r>
          </a:p>
          <a:p>
            <a:pPr lvl="1"/>
            <a:r>
              <a:rPr lang="hu-HU" dirty="0"/>
              <a:t>GitHub együttműködés </a:t>
            </a:r>
          </a:p>
          <a:p>
            <a:pPr lvl="1"/>
            <a:r>
              <a:rPr lang="hu-HU" dirty="0"/>
              <a:t>verziókezelés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CF37EB4B-3347-AF56-6C1B-A30C48D20208}"/>
              </a:ext>
            </a:extLst>
          </p:cNvPr>
          <p:cNvSpPr txBox="1"/>
          <p:nvPr/>
        </p:nvSpPr>
        <p:spPr>
          <a:xfrm>
            <a:off x="6696075" y="1924050"/>
            <a:ext cx="24479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Kép</a:t>
            </a:r>
            <a:r>
              <a:rPr lang="en-US" dirty="0"/>
              <a:t>: GitHub commit graph</a:t>
            </a:r>
            <a:r>
              <a:rPr lang="hu-HU" dirty="0"/>
              <a:t> (INKABB NE XDD)</a:t>
            </a:r>
            <a:r>
              <a:rPr lang="en-US" dirty="0"/>
              <a:t> / team ikon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0235551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8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6A8700-C40D-E317-F31C-76D84D418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FF8664D-1ABF-DC00-E0D1-9BE0C1A04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CSAPATNEHÉZSÉGEK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939360B-FD85-9CC2-C86E-CF81AC2D77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6"/>
            <a:ext cx="4830762" cy="4246563"/>
          </a:xfrm>
        </p:spPr>
        <p:txBody>
          <a:bodyPr>
            <a:normAutofit/>
          </a:bodyPr>
          <a:lstStyle/>
          <a:p>
            <a:pPr lvl="1"/>
            <a:r>
              <a:rPr lang="hu-HU" dirty="0"/>
              <a:t>GitHub</a:t>
            </a:r>
          </a:p>
          <a:p>
            <a:pPr lvl="1"/>
            <a:r>
              <a:rPr lang="hu-HU" dirty="0"/>
              <a:t>Időbeosztás (az elején)</a:t>
            </a:r>
          </a:p>
          <a:p>
            <a:pPr lvl="1"/>
            <a:r>
              <a:rPr lang="hu-HU" dirty="0"/>
              <a:t>WPF </a:t>
            </a:r>
          </a:p>
          <a:p>
            <a:pPr lvl="1"/>
            <a:r>
              <a:rPr lang="hu-HU" dirty="0"/>
              <a:t>IDE IRJ MEG DOLGOKAT </a:t>
            </a:r>
          </a:p>
        </p:txBody>
      </p:sp>
    </p:spTree>
    <p:extLst>
      <p:ext uri="{BB962C8B-B14F-4D97-AF65-F5344CB8AC3E}">
        <p14:creationId xmlns:p14="http://schemas.microsoft.com/office/powerpoint/2010/main" val="436585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8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5D1E56-10F3-4027-0BB4-D5EE3C09D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cím 2">
            <a:extLst>
              <a:ext uri="{FF2B5EF4-FFF2-40B4-BE49-F238E27FC236}">
                <a16:creationId xmlns:a16="http://schemas.microsoft.com/office/drawing/2014/main" id="{B98EBD54-A670-E3CD-E3D1-511244A1E18E}"/>
              </a:ext>
            </a:extLst>
          </p:cNvPr>
          <p:cNvSpPr txBox="1">
            <a:spLocks/>
          </p:cNvSpPr>
          <p:nvPr/>
        </p:nvSpPr>
        <p:spPr>
          <a:xfrm>
            <a:off x="9505950" y="5057775"/>
            <a:ext cx="2686050" cy="1800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b="1" dirty="0">
                <a:solidFill>
                  <a:srgbClr val="00B0F0"/>
                </a:solidFill>
              </a:rPr>
              <a:t>Készítették</a:t>
            </a:r>
            <a:r>
              <a:rPr lang="hu-HU" dirty="0">
                <a:solidFill>
                  <a:srgbClr val="00B0F0"/>
                </a:solidFill>
              </a:rPr>
              <a:t>:</a:t>
            </a:r>
          </a:p>
          <a:p>
            <a:r>
              <a:rPr lang="hu-HU" dirty="0"/>
              <a:t> </a:t>
            </a:r>
            <a:r>
              <a:rPr lang="hu-HU" sz="2000" dirty="0"/>
              <a:t>Király Gellért</a:t>
            </a:r>
          </a:p>
          <a:p>
            <a:r>
              <a:rPr lang="hu-HU" sz="2000" dirty="0"/>
              <a:t> Kiss Richárd Bendegúz</a:t>
            </a:r>
          </a:p>
          <a:p>
            <a:r>
              <a:rPr lang="hu-HU" sz="2000" dirty="0" err="1"/>
              <a:t>Macza</a:t>
            </a:r>
            <a:r>
              <a:rPr lang="hu-HU" sz="2000" dirty="0"/>
              <a:t> Ádám</a:t>
            </a:r>
            <a:endParaRPr lang="hu-HU" dirty="0"/>
          </a:p>
        </p:txBody>
      </p:sp>
      <p:sp>
        <p:nvSpPr>
          <p:cNvPr id="5" name="Alcím 4">
            <a:extLst>
              <a:ext uri="{FF2B5EF4-FFF2-40B4-BE49-F238E27FC236}">
                <a16:creationId xmlns:a16="http://schemas.microsoft.com/office/drawing/2014/main" id="{FE65EA75-BCBD-8CA6-3CB5-47B4245C43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4302125"/>
            <a:ext cx="12191999" cy="1655762"/>
          </a:xfrm>
        </p:spPr>
        <p:txBody>
          <a:bodyPr>
            <a:normAutofit/>
          </a:bodyPr>
          <a:lstStyle/>
          <a:p>
            <a:pPr algn="ctr"/>
            <a:r>
              <a:rPr lang="hu-HU" sz="5400" dirty="0"/>
              <a:t>Köszönjük a figyelmet!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275E3684-01D7-A580-F709-10A59BC8B6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848" y="431229"/>
            <a:ext cx="4230299" cy="3736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7081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8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F248A1-A489-984E-79D8-FC73FCFFA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C08F296-F13E-9D6B-3244-67C653601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Képek forrása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9A68D1B-413D-2999-0A1B-50A434198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6"/>
            <a:ext cx="4830762" cy="4246563"/>
          </a:xfrm>
        </p:spPr>
        <p:txBody>
          <a:bodyPr>
            <a:normAutofit/>
          </a:bodyPr>
          <a:lstStyle/>
          <a:p>
            <a:pPr lvl="1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7173417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Áramkör">
  <a:themeElements>
    <a:clrScheme name="Áramkör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Áramkör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Áramkör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TM04033919[[fn=Áramkör]]</Template>
  <TotalTime>104</TotalTime>
  <Words>1479</Words>
  <Application>Microsoft Office PowerPoint</Application>
  <PresentationFormat>Szélesvásznú</PresentationFormat>
  <Paragraphs>167</Paragraphs>
  <Slides>20</Slides>
  <Notes>18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20</vt:i4>
      </vt:variant>
    </vt:vector>
  </HeadingPairs>
  <TitlesOfParts>
    <vt:vector size="24" baseType="lpstr">
      <vt:lpstr>Aptos</vt:lpstr>
      <vt:lpstr>Arial</vt:lpstr>
      <vt:lpstr>Tw Cen MT</vt:lpstr>
      <vt:lpstr>Áramkör</vt:lpstr>
      <vt:lpstr>PowerPoint-bemutató</vt:lpstr>
      <vt:lpstr>Mi Is A CYBERNEST?</vt:lpstr>
      <vt:lpstr>Probléma, amire a projekt megoldást nyújt</vt:lpstr>
      <vt:lpstr>PROJEKT CÉLJA</vt:lpstr>
      <vt:lpstr>Felhasználói szerepkörök</vt:lpstr>
      <vt:lpstr>Rendszer architektúra</vt:lpstr>
      <vt:lpstr>Adatfolyam működés</vt:lpstr>
      <vt:lpstr>Frontend technológiák</vt:lpstr>
      <vt:lpstr>Frontend funkciók</vt:lpstr>
      <vt:lpstr>Backend technológiák</vt:lpstr>
      <vt:lpstr>REST API felépítés</vt:lpstr>
      <vt:lpstr>Adatbázis felépítés</vt:lpstr>
      <vt:lpstr>Jogosultságkezelés</vt:lpstr>
      <vt:lpstr>Foglalási folyamat</vt:lpstr>
      <vt:lpstr>Fejlesztői struktúra</vt:lpstr>
      <vt:lpstr>Tesztelés és hibakezelés</vt:lpstr>
      <vt:lpstr>Csapatmunka</vt:lpstr>
      <vt:lpstr>CSAPATNEHÉZSÉGEK</vt:lpstr>
      <vt:lpstr>PowerPoint-bemutató</vt:lpstr>
      <vt:lpstr>Képek forrása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Király Gellért 094</dc:creator>
  <cp:lastModifiedBy>Ádám Macza</cp:lastModifiedBy>
  <cp:revision>14</cp:revision>
  <dcterms:created xsi:type="dcterms:W3CDTF">2026-04-11T17:08:10Z</dcterms:created>
  <dcterms:modified xsi:type="dcterms:W3CDTF">2026-04-11T21:53:51Z</dcterms:modified>
</cp:coreProperties>
</file>