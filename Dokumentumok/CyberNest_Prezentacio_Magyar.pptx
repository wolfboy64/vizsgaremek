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sldSz cx="18288000" cy="10287000"/>
  <p:notesSz cx="6858000" cy="9144000"/>
  <p:embeddedFontLst>
    <p:embeddedFont>
      <p:font typeface="Arimo" panose="020B0604020202020204" charset="0"/>
      <p:regular r:id="rId27"/>
    </p:embeddedFont>
    <p:embeddedFont>
      <p:font typeface="Open Sans" panose="020B0606030504020204" pitchFamily="34" charset="0"/>
      <p:regular r:id="rId28"/>
      <p:bold r:id="rId29"/>
      <p:italic r:id="rId30"/>
      <p:boldItalic r:id="rId31"/>
    </p:embeddedFont>
    <p:embeddedFont>
      <p:font typeface="Open Sans Bold" panose="020B0806030504020204" charset="0"/>
      <p:regular r:id="rId32"/>
    </p:embeddedFont>
    <p:embeddedFont>
      <p:font typeface="Open Sauce" panose="020B0604020202020204" charset="-18"/>
      <p:regular r:id="rId33"/>
    </p:embeddedFont>
    <p:embeddedFont>
      <p:font typeface="Poppins" panose="00000500000000000000" pitchFamily="2" charset="-18"/>
      <p:regular r:id="rId34"/>
      <p:bold r:id="rId35"/>
      <p:italic r:id="rId36"/>
      <p:boldItalic r:id="rId37"/>
    </p:embeddedFont>
    <p:embeddedFont>
      <p:font typeface="Poppins Bold" panose="00000800000000000000" charset="-18"/>
      <p:regular r:id="rId38"/>
    </p:embeddedFont>
    <p:embeddedFont>
      <p:font typeface="Telegraf Bold" panose="020B0604020202020204" charset="-18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A8CC"/>
    <a:srgbClr val="6C63FF"/>
    <a:srgbClr val="1B1F45"/>
    <a:srgbClr val="3E3F4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7" autoAdjust="0"/>
    <p:restoredTop sz="80890" autoAdjust="0"/>
  </p:normalViewPr>
  <p:slideViewPr>
    <p:cSldViewPr>
      <p:cViewPr>
        <p:scale>
          <a:sx n="50" d="100"/>
          <a:sy n="50" d="100"/>
        </p:scale>
        <p:origin x="660" y="-4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12.04.2026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A CyberNest </a:t>
            </a:r>
            <a:r>
              <a:rPr lang="en-US" dirty="0" err="1"/>
              <a:t>egy</a:t>
            </a:r>
            <a:r>
              <a:rPr lang="en-US" dirty="0"/>
              <a:t> </a:t>
            </a:r>
            <a:r>
              <a:rPr lang="en-US" dirty="0" err="1"/>
              <a:t>helyszíni</a:t>
            </a:r>
            <a:r>
              <a:rPr lang="en-US" dirty="0"/>
              <a:t> IT </a:t>
            </a:r>
            <a:r>
              <a:rPr lang="en-US" dirty="0" err="1"/>
              <a:t>mentorprogram</a:t>
            </a:r>
            <a:r>
              <a:rPr lang="en-US" dirty="0"/>
              <a:t>, </a:t>
            </a:r>
            <a:r>
              <a:rPr lang="en-US" dirty="0" err="1"/>
              <a:t>amelynek</a:t>
            </a:r>
            <a:r>
              <a:rPr lang="en-US" dirty="0"/>
              <a:t> </a:t>
            </a:r>
            <a:r>
              <a:rPr lang="en-US" dirty="0" err="1"/>
              <a:t>célja</a:t>
            </a:r>
            <a:r>
              <a:rPr lang="en-US" dirty="0"/>
              <a:t>, </a:t>
            </a:r>
            <a:r>
              <a:rPr lang="en-US" dirty="0" err="1"/>
              <a:t>hogy</a:t>
            </a:r>
            <a:r>
              <a:rPr lang="en-US" dirty="0"/>
              <a:t> a </a:t>
            </a:r>
            <a:r>
              <a:rPr lang="en-US" dirty="0" err="1"/>
              <a:t>tanulók</a:t>
            </a:r>
            <a:r>
              <a:rPr lang="en-US" dirty="0"/>
              <a:t> </a:t>
            </a:r>
            <a:r>
              <a:rPr lang="en-US" dirty="0" err="1"/>
              <a:t>valós</a:t>
            </a:r>
            <a:r>
              <a:rPr lang="en-US" dirty="0"/>
              <a:t> </a:t>
            </a:r>
            <a:r>
              <a:rPr lang="en-US" dirty="0" err="1"/>
              <a:t>infrastruktúrán</a:t>
            </a:r>
            <a:r>
              <a:rPr lang="en-US" dirty="0"/>
              <a:t>, </a:t>
            </a:r>
            <a:r>
              <a:rPr lang="en-US" dirty="0" err="1"/>
              <a:t>gyakorlati</a:t>
            </a:r>
            <a:r>
              <a:rPr lang="en-US" dirty="0"/>
              <a:t> </a:t>
            </a:r>
            <a:r>
              <a:rPr lang="en-US" dirty="0" err="1"/>
              <a:t>módon</a:t>
            </a:r>
            <a:r>
              <a:rPr lang="en-US" dirty="0"/>
              <a:t> </a:t>
            </a:r>
            <a:r>
              <a:rPr lang="en-US" dirty="0" err="1"/>
              <a:t>sajátítsák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informatikai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hálózati</a:t>
            </a:r>
            <a:r>
              <a:rPr lang="en-US" dirty="0"/>
              <a:t> </a:t>
            </a:r>
            <a:r>
              <a:rPr lang="en-US" dirty="0" err="1"/>
              <a:t>ismereteket</a:t>
            </a:r>
            <a:r>
              <a:rPr lang="en-US" dirty="0"/>
              <a:t>. A program </a:t>
            </a:r>
            <a:r>
              <a:rPr lang="en-US" dirty="0" err="1"/>
              <a:t>nem</a:t>
            </a:r>
            <a:r>
              <a:rPr lang="en-US" dirty="0"/>
              <a:t> </a:t>
            </a:r>
            <a:r>
              <a:rPr lang="en-US" dirty="0" err="1"/>
              <a:t>csak</a:t>
            </a:r>
            <a:r>
              <a:rPr lang="en-US" dirty="0"/>
              <a:t> </a:t>
            </a:r>
            <a:r>
              <a:rPr lang="en-US" dirty="0" err="1"/>
              <a:t>elméleti</a:t>
            </a:r>
            <a:r>
              <a:rPr lang="en-US" dirty="0"/>
              <a:t> </a:t>
            </a:r>
            <a:r>
              <a:rPr lang="en-US" dirty="0" err="1"/>
              <a:t>tanulásra</a:t>
            </a:r>
            <a:r>
              <a:rPr lang="en-US" dirty="0"/>
              <a:t> </a:t>
            </a:r>
            <a:r>
              <a:rPr lang="en-US" dirty="0" err="1"/>
              <a:t>épít</a:t>
            </a:r>
            <a:r>
              <a:rPr lang="en-US" dirty="0"/>
              <a:t>, </a:t>
            </a:r>
            <a:r>
              <a:rPr lang="en-US" dirty="0" err="1"/>
              <a:t>hanem</a:t>
            </a:r>
            <a:r>
              <a:rPr lang="en-US" dirty="0"/>
              <a:t> </a:t>
            </a:r>
            <a:r>
              <a:rPr lang="en-US" dirty="0" err="1"/>
              <a:t>valódi</a:t>
            </a:r>
            <a:r>
              <a:rPr lang="en-US" dirty="0"/>
              <a:t> </a:t>
            </a:r>
            <a:r>
              <a:rPr lang="en-US" dirty="0" err="1"/>
              <a:t>rendszerek</a:t>
            </a:r>
            <a:r>
              <a:rPr lang="en-US" dirty="0"/>
              <a:t> </a:t>
            </a:r>
            <a:r>
              <a:rPr lang="en-US" dirty="0" err="1"/>
              <a:t>használatán</a:t>
            </a:r>
            <a:r>
              <a:rPr lang="en-US" dirty="0"/>
              <a:t> </a:t>
            </a:r>
            <a:r>
              <a:rPr lang="en-US" dirty="0" err="1"/>
              <a:t>keresztül</a:t>
            </a:r>
            <a:r>
              <a:rPr lang="en-US" dirty="0"/>
              <a:t> </a:t>
            </a:r>
            <a:r>
              <a:rPr lang="en-US" dirty="0" err="1"/>
              <a:t>segíti</a:t>
            </a:r>
            <a:r>
              <a:rPr lang="en-US" dirty="0"/>
              <a:t> a </a:t>
            </a:r>
            <a:r>
              <a:rPr lang="en-US" dirty="0" err="1"/>
              <a:t>fejlődést</a:t>
            </a:r>
            <a:r>
              <a:rPr lang="en-US" dirty="0"/>
              <a:t>. A </a:t>
            </a:r>
            <a:r>
              <a:rPr lang="en-US" dirty="0" err="1"/>
              <a:t>résztvevők</a:t>
            </a:r>
            <a:r>
              <a:rPr lang="en-US" dirty="0"/>
              <a:t> a </a:t>
            </a:r>
            <a:r>
              <a:rPr lang="en-US" dirty="0" err="1"/>
              <a:t>saját</a:t>
            </a:r>
            <a:r>
              <a:rPr lang="en-US" dirty="0"/>
              <a:t> </a:t>
            </a:r>
            <a:r>
              <a:rPr lang="en-US" dirty="0" err="1"/>
              <a:t>szintjükről</a:t>
            </a:r>
            <a:r>
              <a:rPr lang="en-US" dirty="0"/>
              <a:t> </a:t>
            </a:r>
            <a:r>
              <a:rPr lang="en-US" dirty="0" err="1"/>
              <a:t>indulva</a:t>
            </a:r>
            <a:r>
              <a:rPr lang="en-US" dirty="0"/>
              <a:t> </a:t>
            </a:r>
            <a:r>
              <a:rPr lang="en-US" dirty="0" err="1"/>
              <a:t>fokozatosan</a:t>
            </a:r>
            <a:r>
              <a:rPr lang="en-US" dirty="0"/>
              <a:t> </a:t>
            </a:r>
            <a:r>
              <a:rPr lang="en-US" dirty="0" err="1"/>
              <a:t>juthatnak</a:t>
            </a:r>
            <a:r>
              <a:rPr lang="en-US" dirty="0"/>
              <a:t> </a:t>
            </a:r>
            <a:r>
              <a:rPr lang="en-US" dirty="0" err="1"/>
              <a:t>el</a:t>
            </a:r>
            <a:r>
              <a:rPr lang="en-US" dirty="0"/>
              <a:t> a </a:t>
            </a:r>
            <a:r>
              <a:rPr lang="en-US" dirty="0" err="1"/>
              <a:t>haladó</a:t>
            </a:r>
            <a:r>
              <a:rPr lang="en-US" dirty="0"/>
              <a:t> </a:t>
            </a:r>
            <a:r>
              <a:rPr lang="en-US" dirty="0" err="1"/>
              <a:t>szintig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alapötlete abból a problémából indul ki, hogy a hagyományos iskolai oktatás sok esetben nem biztosít elég gyakorlati tapasztalatot. A tanulás gyakran elméletközpontú, és nem mindig kapcsolódik valós rendszerekhez. Emiatt a diákok nehezebben értik meg, hogyan működnek a technológiák a gyakorlatban. Ezen kívül sokszor hiányzik a strukturált fejlődési út és a személyes mentorálás is, ami segítené a tanulást.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fő célja, hogy a tanulók ne csak elméleti tudást szerezzenek, hanem azt gyakorlati környezetben is alkalmazni tudják. Ehhez személyes mentorálás biztosít támogatást, ami segíti a tanulási folyamatot. A hangsúly a valós rendszerek megértésén és használatán van, nem csupán az eszközök felszíni kezelésén.”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rendszerben három fő felhasználói szerepkört különböztetünk meg. A vendég felhasználó csak megtekintheti a nyilvános tartalmakat, de nem fér hozzá a védett funkciókhoz. A regisztrált felhasználó már be tud jelentkezni, foglalásokat hozhat létre, illetve kezelheti a saját adatait és foglalásait. Az admin szerepkör rendelkezik a legmagasabb jogosultsággal, ő kezeli az eszközöket, az időpontokat és a felhasználókat is.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A CyberNest </a:t>
            </a:r>
            <a:r>
              <a:rPr lang="en-US" dirty="0" err="1"/>
              <a:t>egy</a:t>
            </a:r>
            <a:r>
              <a:rPr lang="en-US" dirty="0"/>
              <a:t> modern, </a:t>
            </a:r>
            <a:r>
              <a:rPr lang="en-US" dirty="0" err="1"/>
              <a:t>háromrétegű</a:t>
            </a:r>
            <a:r>
              <a:rPr lang="en-US" dirty="0"/>
              <a:t> </a:t>
            </a:r>
            <a:r>
              <a:rPr lang="en-US" dirty="0" err="1"/>
              <a:t>webes</a:t>
            </a:r>
            <a:r>
              <a:rPr lang="en-US" dirty="0"/>
              <a:t> </a:t>
            </a:r>
            <a:r>
              <a:rPr lang="en-US" dirty="0" err="1"/>
              <a:t>architektúrát</a:t>
            </a:r>
            <a:r>
              <a:rPr lang="en-US" dirty="0"/>
              <a:t> </a:t>
            </a:r>
            <a:r>
              <a:rPr lang="en-US" dirty="0" err="1"/>
              <a:t>követ</a:t>
            </a:r>
            <a:r>
              <a:rPr lang="en-US" dirty="0"/>
              <a:t>. A frontend </a:t>
            </a:r>
            <a:r>
              <a:rPr lang="en-US" dirty="0" err="1"/>
              <a:t>részt</a:t>
            </a:r>
            <a:r>
              <a:rPr lang="en-US" dirty="0"/>
              <a:t> React </a:t>
            </a:r>
            <a:r>
              <a:rPr lang="en-US" dirty="0" err="1"/>
              <a:t>és</a:t>
            </a:r>
            <a:r>
              <a:rPr lang="en-US" dirty="0"/>
              <a:t> Vite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valósítottuk</a:t>
            </a:r>
            <a:r>
              <a:rPr lang="en-US" dirty="0"/>
              <a:t> meg, </a:t>
            </a:r>
            <a:r>
              <a:rPr lang="en-US" dirty="0" err="1"/>
              <a:t>amely</a:t>
            </a:r>
            <a:r>
              <a:rPr lang="en-US" dirty="0"/>
              <a:t> a </a:t>
            </a:r>
            <a:r>
              <a:rPr lang="en-US" dirty="0" err="1"/>
              <a:t>felhasználói</a:t>
            </a:r>
            <a:r>
              <a:rPr lang="en-US" dirty="0"/>
              <a:t> </a:t>
            </a:r>
            <a:r>
              <a:rPr lang="en-US" dirty="0" err="1"/>
              <a:t>felületért</a:t>
            </a:r>
            <a:r>
              <a:rPr lang="en-US" dirty="0"/>
              <a:t> </a:t>
            </a:r>
            <a:r>
              <a:rPr lang="en-US" dirty="0" err="1"/>
              <a:t>felel</a:t>
            </a:r>
            <a:r>
              <a:rPr lang="en-US" dirty="0"/>
              <a:t>. A backend Node.js </a:t>
            </a:r>
            <a:r>
              <a:rPr lang="en-US" dirty="0" err="1"/>
              <a:t>és</a:t>
            </a:r>
            <a:r>
              <a:rPr lang="en-US" dirty="0"/>
              <a:t> Express </a:t>
            </a:r>
            <a:r>
              <a:rPr lang="en-US" dirty="0" err="1"/>
              <a:t>alapokon</a:t>
            </a:r>
            <a:r>
              <a:rPr lang="en-US" dirty="0"/>
              <a:t> </a:t>
            </a:r>
            <a:r>
              <a:rPr lang="en-US" dirty="0" err="1"/>
              <a:t>működik</a:t>
            </a:r>
            <a:r>
              <a:rPr lang="en-US" dirty="0"/>
              <a:t>, </a:t>
            </a:r>
            <a:r>
              <a:rPr lang="en-US" dirty="0" err="1"/>
              <a:t>itt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</a:t>
            </a:r>
            <a:r>
              <a:rPr lang="en-US" dirty="0" err="1"/>
              <a:t>üzleti</a:t>
            </a:r>
            <a:r>
              <a:rPr lang="en-US" dirty="0"/>
              <a:t> </a:t>
            </a:r>
            <a:r>
              <a:rPr lang="en-US" dirty="0" err="1"/>
              <a:t>logika</a:t>
            </a:r>
            <a:r>
              <a:rPr lang="en-US" dirty="0"/>
              <a:t> </a:t>
            </a:r>
            <a:r>
              <a:rPr lang="en-US" dirty="0" err="1"/>
              <a:t>feldolgozása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az</a:t>
            </a:r>
            <a:r>
              <a:rPr lang="en-US" dirty="0"/>
              <a:t> API </a:t>
            </a:r>
            <a:r>
              <a:rPr lang="en-US" dirty="0" err="1"/>
              <a:t>végpontok</a:t>
            </a:r>
            <a:r>
              <a:rPr lang="en-US" dirty="0"/>
              <a:t> </a:t>
            </a:r>
            <a:r>
              <a:rPr lang="en-US" dirty="0" err="1"/>
              <a:t>kezelése</a:t>
            </a:r>
            <a:r>
              <a:rPr lang="en-US" dirty="0"/>
              <a:t>.</a:t>
            </a:r>
          </a:p>
          <a:p>
            <a:r>
              <a:rPr lang="en-US" dirty="0"/>
              <a:t>Az </a:t>
            </a:r>
            <a:r>
              <a:rPr lang="en-US" dirty="0" err="1"/>
              <a:t>adatok</a:t>
            </a:r>
            <a:r>
              <a:rPr lang="en-US" dirty="0"/>
              <a:t> </a:t>
            </a:r>
            <a:r>
              <a:rPr lang="en-US" dirty="0" err="1"/>
              <a:t>tárolását</a:t>
            </a:r>
            <a:r>
              <a:rPr lang="en-US" dirty="0"/>
              <a:t> MySQL </a:t>
            </a:r>
            <a:r>
              <a:rPr lang="en-US" dirty="0" err="1"/>
              <a:t>adatbázis</a:t>
            </a:r>
            <a:r>
              <a:rPr lang="en-US" dirty="0"/>
              <a:t> </a:t>
            </a:r>
            <a:r>
              <a:rPr lang="en-US" dirty="0" err="1"/>
              <a:t>biztosítja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strukturált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megbízható</a:t>
            </a:r>
            <a:r>
              <a:rPr lang="en-US" dirty="0"/>
              <a:t> </a:t>
            </a:r>
            <a:r>
              <a:rPr lang="en-US" dirty="0" err="1"/>
              <a:t>adatkezelést</a:t>
            </a:r>
            <a:r>
              <a:rPr lang="en-US" dirty="0"/>
              <a:t> </a:t>
            </a:r>
            <a:r>
              <a:rPr lang="en-US" dirty="0" err="1"/>
              <a:t>tesz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. A </a:t>
            </a:r>
            <a:r>
              <a:rPr lang="en-US" dirty="0" err="1"/>
              <a:t>rendszerben</a:t>
            </a:r>
            <a:r>
              <a:rPr lang="en-US" dirty="0"/>
              <a:t> a </a:t>
            </a:r>
            <a:r>
              <a:rPr lang="en-US" dirty="0" err="1"/>
              <a:t>hitelesítés</a:t>
            </a:r>
            <a:r>
              <a:rPr lang="en-US" dirty="0"/>
              <a:t> JWT </a:t>
            </a:r>
            <a:r>
              <a:rPr lang="en-US" dirty="0" err="1"/>
              <a:t>tokenek</a:t>
            </a:r>
            <a:r>
              <a:rPr lang="en-US" dirty="0"/>
              <a:t> </a:t>
            </a:r>
            <a:r>
              <a:rPr lang="en-US" dirty="0" err="1"/>
              <a:t>segítségével</a:t>
            </a:r>
            <a:r>
              <a:rPr lang="en-US" dirty="0"/>
              <a:t> </a:t>
            </a:r>
            <a:r>
              <a:rPr lang="en-US" dirty="0" err="1"/>
              <a:t>történik</a:t>
            </a:r>
            <a:r>
              <a:rPr lang="en-US" dirty="0"/>
              <a:t>, </a:t>
            </a:r>
            <a:r>
              <a:rPr lang="en-US" dirty="0" err="1"/>
              <a:t>ami</a:t>
            </a:r>
            <a:r>
              <a:rPr lang="en-US" dirty="0"/>
              <a:t> </a:t>
            </a:r>
            <a:r>
              <a:rPr lang="en-US" dirty="0" err="1"/>
              <a:t>biztosítja</a:t>
            </a:r>
            <a:r>
              <a:rPr lang="en-US" dirty="0"/>
              <a:t> a </a:t>
            </a:r>
            <a:r>
              <a:rPr lang="en-US" dirty="0" err="1"/>
              <a:t>védett</a:t>
            </a:r>
            <a:r>
              <a:rPr lang="en-US" dirty="0"/>
              <a:t> </a:t>
            </a:r>
            <a:r>
              <a:rPr lang="en-US" dirty="0" err="1"/>
              <a:t>végpontokhoz</a:t>
            </a:r>
            <a:r>
              <a:rPr lang="en-US" dirty="0"/>
              <a:t> </a:t>
            </a:r>
            <a:r>
              <a:rPr lang="en-US" dirty="0" err="1"/>
              <a:t>való</a:t>
            </a:r>
            <a:r>
              <a:rPr lang="en-US" dirty="0"/>
              <a:t> </a:t>
            </a:r>
            <a:r>
              <a:rPr lang="en-US" dirty="0" err="1"/>
              <a:t>hozzáférést</a:t>
            </a:r>
            <a:r>
              <a:rPr lang="en-US" dirty="0"/>
              <a:t>.</a:t>
            </a:r>
          </a:p>
          <a:p>
            <a:r>
              <a:rPr lang="en-US" dirty="0" err="1"/>
              <a:t>Emellett</a:t>
            </a:r>
            <a:r>
              <a:rPr lang="en-US" dirty="0"/>
              <a:t> OAuth </a:t>
            </a:r>
            <a:r>
              <a:rPr lang="en-US" dirty="0" err="1"/>
              <a:t>alapú</a:t>
            </a:r>
            <a:r>
              <a:rPr lang="en-US" dirty="0"/>
              <a:t> </a:t>
            </a:r>
            <a:r>
              <a:rPr lang="en-US" dirty="0" err="1"/>
              <a:t>bejelentkezési</a:t>
            </a:r>
            <a:r>
              <a:rPr lang="en-US" dirty="0"/>
              <a:t> </a:t>
            </a:r>
            <a:r>
              <a:rPr lang="en-US" dirty="0" err="1"/>
              <a:t>lehetőség</a:t>
            </a:r>
            <a:r>
              <a:rPr lang="en-US" dirty="0"/>
              <a:t> is </a:t>
            </a:r>
            <a:r>
              <a:rPr lang="en-US" dirty="0" err="1"/>
              <a:t>szerepel</a:t>
            </a:r>
            <a:r>
              <a:rPr lang="en-US" dirty="0"/>
              <a:t>, </a:t>
            </a:r>
            <a:r>
              <a:rPr lang="en-US" dirty="0" err="1"/>
              <a:t>amely</a:t>
            </a:r>
            <a:r>
              <a:rPr lang="en-US" dirty="0"/>
              <a:t> </a:t>
            </a:r>
            <a:r>
              <a:rPr lang="en-US" dirty="0" err="1"/>
              <a:t>külső</a:t>
            </a:r>
            <a:r>
              <a:rPr lang="en-US" dirty="0"/>
              <a:t> </a:t>
            </a:r>
            <a:r>
              <a:rPr lang="en-US" dirty="0" err="1"/>
              <a:t>szolgáltatón</a:t>
            </a:r>
            <a:r>
              <a:rPr lang="en-US" dirty="0"/>
              <a:t> </a:t>
            </a:r>
            <a:r>
              <a:rPr lang="en-US" dirty="0" err="1"/>
              <a:t>keresztüli</a:t>
            </a:r>
            <a:r>
              <a:rPr lang="en-US" dirty="0"/>
              <a:t> </a:t>
            </a:r>
            <a:r>
              <a:rPr lang="en-US" dirty="0" err="1"/>
              <a:t>autentikációt</a:t>
            </a:r>
            <a:r>
              <a:rPr lang="en-US" dirty="0"/>
              <a:t> </a:t>
            </a:r>
            <a:r>
              <a:rPr lang="en-US" dirty="0" err="1"/>
              <a:t>tesz</a:t>
            </a:r>
            <a:r>
              <a:rPr lang="en-US" dirty="0"/>
              <a:t> </a:t>
            </a:r>
            <a:r>
              <a:rPr lang="en-US" dirty="0" err="1"/>
              <a:t>lehetővé</a:t>
            </a:r>
            <a:r>
              <a:rPr lang="en-US" dirty="0"/>
              <a:t>, </a:t>
            </a:r>
            <a:r>
              <a:rPr lang="en-US" dirty="0" err="1"/>
              <a:t>növelve</a:t>
            </a:r>
            <a:r>
              <a:rPr lang="en-US" dirty="0"/>
              <a:t> a </a:t>
            </a:r>
            <a:r>
              <a:rPr lang="en-US" dirty="0" err="1"/>
              <a:t>rendszer</a:t>
            </a:r>
            <a:r>
              <a:rPr lang="en-US" dirty="0"/>
              <a:t> </a:t>
            </a:r>
            <a:r>
              <a:rPr lang="en-US" dirty="0" err="1"/>
              <a:t>biztonságát</a:t>
            </a:r>
            <a:r>
              <a:rPr lang="en-US" dirty="0"/>
              <a:t> </a:t>
            </a:r>
            <a:r>
              <a:rPr lang="en-US" dirty="0" err="1"/>
              <a:t>és</a:t>
            </a:r>
            <a:r>
              <a:rPr lang="en-US" dirty="0"/>
              <a:t> </a:t>
            </a:r>
            <a:r>
              <a:rPr lang="en-US" dirty="0" err="1"/>
              <a:t>kényelmét</a:t>
            </a:r>
            <a:r>
              <a:rPr lang="en-US" dirty="0"/>
              <a:t>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rendszerünk egy klasszikus kliens–szerver alapú működést követ. A felhasználói felület, vagyis a frontend kéréseket küld a backend felé. A backend ezeket feldolgozza, és ha szükséges, JWT alapú hitelesítést is végez.</a:t>
            </a:r>
          </a:p>
          <a:p>
            <a:r>
              <a:rPr lang="en-US"/>
              <a:t>Ezt követően a backend adatbázis műveleteket hajt végre MySQL-ben, majd az eredményt JSON formátumban visszaküldi a frontendnek, amely megjeleníti azt a felhasználó számára.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frontend React alapokon készült, ami komponens alapú fejlesztést tesz lehetővé. A React Router segítségével oldottuk meg az oldalak közötti navigációt. A state management az alkalmazás különböző állapotainak kezeléséért felel, például a felhasználói adatok vagy bejelentkezési állapot esetén. A védett route-ok biztosítják, hogy csak bejelentkezett felhasználók férjenek hozzá bizonyos oldalakhoz.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frontend fő funkciói közé tartozik a bejelentkezés és regisztráció, amely a felhasználói hitelesítést biztosítja. A dashboard egy vezérlőpult, ahol a felhasználó a saját adatait és foglalásait tudja kezelni.</a:t>
            </a:r>
          </a:p>
          <a:p>
            <a:r>
              <a:rPr lang="en-US"/>
              <a:t>A foglalási folyamat több lépésből áll, ahol a felhasználó kiválasztja az eszközt, az időpontot, majd véglegesíti a foglalást. Az eszközlista az elérhető eszközöket jeleníti meg, míg a reszponzív felület biztosítja, hogy az alkalmazás különböző eszközökön, például mobilon és asztali gépen is jól használható legyen.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frontend részt React alapokon készítettük, amely lehetővé teszi a komponens alapú fejlesztést. A React Router segítségével valósítottuk meg a különböző oldalak közötti navigációt. A state management felel az alkalmazás állapotainak kezeléséért, míg a védett route-ok biztosítják, hogy csak bejelentkezett felhasználók érhessék el a bizonyos oldalakat.</a:t>
            </a:r>
          </a:p>
          <a:p>
            <a:r>
              <a:rPr lang="en-US"/>
              <a:t>A dashboard egy felhasználói vezérlőpult, ahol a bejelentkezett felhasználó áttekintheti a saját adatait, foglalásait és a számára elérhető funkciókat.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frontend részt React alapokon készítettük, amely lehetővé teszi a komponens alapú fejlesztést. A React Router segítségével valósítottuk meg a különböző oldalak közötti navigációt. A state management felel az alkalmazás állapotainak kezeléséért, míg a védett route-ok biztosítják, hogy csak bejelentkezett felhasználók érhessék el a bizonyos oldalakat.</a:t>
            </a:r>
          </a:p>
          <a:p>
            <a:r>
              <a:rPr lang="en-US"/>
              <a:t>A dashboard egy felhasználói vezérlőpult, ahol a bejelentkezett felhasználó áttekintheti a saját adatait, foglalásait és a számára elérhető funkciókat.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Az adatbázisunk relációs struktúrára épül, amely több egymáshoz kapcsolódó táblából áll. A felhasználók adatait a felhasznalo tábla kezeli, míg az eszkoz és idopont táblák a foglalható erőforrásokat és időpontokat tartalmazzák.</a:t>
            </a:r>
          </a:p>
          <a:p>
            <a:r>
              <a:rPr lang="en-US"/>
              <a:t>A foglalas tábla kapcsolja össze a felhasználókat az eszközökkel és időpontokkal. Emellett külön táblák kezelik az értékeléseket, például az általános ertekeles és a mentor_ertekeles.</a:t>
            </a:r>
          </a:p>
          <a:p>
            <a:r>
              <a:rPr lang="en-US"/>
              <a:t>A rendszer működését a log tábla követi nyomon, míg az üzemeltetői adatok az adminisztrációt támogatják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rendszer jogosultságkezelése JWT token alapú hitelesítéssel történik. A bejelentkezés után a felhasználó egy tokent kap, amelyet minden védett kérésnél elküld a backend felé.</a:t>
            </a:r>
          </a:p>
          <a:p>
            <a:r>
              <a:rPr lang="en-US"/>
              <a:t>A rendszer külön kezeli a felhasználói és admin szerepköröket, így bizonyos endpointok csak admin jogosultsággal érhetők el. A middleware réteg felel azért, hogy minden kérésnél ellenőrizze a tokent és a jogosultságokat, mielőtt a kérés továbbjutna a backend logikába.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foglalási folyamat több egymást követő lépésből áll. Először a felhasználó kiválasztja a számára megfelelő eszközt, majd ezután kiválasztja az elérhető időpontok közül a számára megfelelőt.</a:t>
            </a:r>
          </a:p>
          <a:p>
            <a:r>
              <a:rPr lang="en-US"/>
              <a:t>A következő lépésben megadja a szükséges adatokat, például a foglalás részleteit. Végül a rendszer a foglalást véglegesíti, és eltárolja az adatbázisban, így az később visszanézhető és kezelhető.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foglalási folyamat több egymást követő lépésből áll. Először a felhasználó kiválasztja a számára megfelelő eszközt, majd ezután kiválasztja az elérhető időpontok közül a számára megfelelőt.</a:t>
            </a:r>
          </a:p>
          <a:p>
            <a:r>
              <a:rPr lang="en-US"/>
              <a:t>A következő lépésben megadja a szükséges adatokat, például a foglalás részleteit. Végül a rendszer a foglalást véglegesíti, és eltárolja az adatbázisban, így az később visszanézhető és kezelhető.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foglalási folyamat több egymást követő lépésből áll. Először a felhasználó kiválasztja a számára megfelelő eszközt, majd ezután kiválasztja az elérhető időpontok közül a számára megfelelőt.</a:t>
            </a:r>
          </a:p>
          <a:p>
            <a:r>
              <a:rPr lang="en-US"/>
              <a:t>A következő lépésben megadja a szükséges adatokat, például a foglalás részleteit. Végül a rendszer a foglalást véglegesíti, és eltárolja az adatbázisban, így az később visszanézhető és kezelhető.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moduláris felépítésű. A frontend és backend külön mappában található, a backend pedig controller, route és model rétegekre van bontva, ami segíti a karbantarthatóságot és bővíthetőséget.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csapatmunkában készült, ahol külön szerepkörök voltak frontend, backend és desktop fejlesztésre. A verziókezelést GitHub segítségével oldottuk meg, ami lehetővé tette az együttműködést és a kódkezelést.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moduláris felépítésű. A frontend és backend külön mappában található, a backend pedig controller, route és model rétegekre van bontva, ami segíti a karbantarthatóságot és bővíthetőséget.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 projekt elején létrehoztuk a GitHub tárhelyet, ahol a közös munkát és a verziókezelést végeztük. Meghatároztuk az időbeosztást, hogy minden feladat határidőre elkészüljön. A fejlesztés során WPF technológiát használtunk az alkalmazás felépítéséhez. Megbeszéltük a szerepköröket, így mindenki pontosan tudta a saját feladatait. Az alkalmazást több platformon is teszteltük, és a felmerülő kompatibilitási problémákat folyamatosan javítottuk, hogy minél stabilabb működést érjünk el.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Összegzésként elmondható, hogy a projekt során sikeresen együttműködtünk, és a kezdeti tervezéstől a megvalósításig minden fontos lépést </a:t>
            </a: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végigvittünk</a:t>
            </a: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</a:t>
            </a:r>
            <a:r>
              <a:rPr lang="hu-HU" sz="2499" noProof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felmerülő problémákat közösen megoldottuk, így egy működő és jól használható alkalmazást hoztunk létre.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anva.com/design/DAHGoU6KMYs/AeFeHgGo-zDH38JVkk5g1A/edit?referrer=https%3A%2F%2Fwww.canva.com%2F" TargetMode="External"/><Relationship Id="rId2" Type="http://schemas.openxmlformats.org/officeDocument/2006/relationships/hyperlink" Target="https://app.eraser.io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3">
            <a:extLst>
              <a:ext uri="{FF2B5EF4-FFF2-40B4-BE49-F238E27FC236}">
                <a16:creationId xmlns:a16="http://schemas.microsoft.com/office/drawing/2014/main" id="{B7F827DD-548C-CA80-0523-7C2DE224AC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861" y="8688081"/>
            <a:ext cx="3019140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46F462F2-2F65-6799-BC9B-C362AA513A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76060" y="8688081"/>
            <a:ext cx="4226140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0E0CCC12-4690-7A31-2D47-62D24675D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1" y="8690119"/>
            <a:ext cx="2684576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6111" y="204877"/>
            <a:ext cx="17695777" cy="9732585"/>
            <a:chOff x="0" y="-38100"/>
            <a:chExt cx="4660616" cy="25633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00A8CC">
                <a:alpha val="20000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C0DDEB28-873B-F6D2-9BDD-72ED5E24AC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0" y="741940"/>
            <a:ext cx="385026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8" name="TextBox 8"/>
          <p:cNvSpPr txBox="1"/>
          <p:nvPr/>
        </p:nvSpPr>
        <p:spPr>
          <a:xfrm>
            <a:off x="2036410" y="834349"/>
            <a:ext cx="2685498" cy="875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91"/>
              </a:lnSpc>
              <a:spcBef>
                <a:spcPct val="0"/>
              </a:spcBef>
            </a:pPr>
            <a:r>
              <a:rPr lang="hu-HU" sz="2422" b="1" spc="-109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Vizsgaremek bemutató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Bevezető</a:t>
            </a:r>
          </a:p>
        </p:txBody>
      </p:sp>
      <p:sp>
        <p:nvSpPr>
          <p:cNvPr id="16" name="Freeform 3">
            <a:extLst>
              <a:ext uri="{FF2B5EF4-FFF2-40B4-BE49-F238E27FC236}">
                <a16:creationId xmlns:a16="http://schemas.microsoft.com/office/drawing/2014/main" id="{C04F21A1-F6BE-98B4-9758-ADB074940A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11408122" y="843874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 ez?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Fő probléma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Célok</a:t>
            </a:r>
          </a:p>
        </p:txBody>
      </p:sp>
      <p:sp>
        <p:nvSpPr>
          <p:cNvPr id="6" name="Freeform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908337" y="3835075"/>
            <a:ext cx="3100181" cy="2739785"/>
          </a:xfrm>
          <a:custGeom>
            <a:avLst/>
            <a:gdLst/>
            <a:ahLst/>
            <a:cxnLst/>
            <a:rect l="l" t="t" r="r" b="b"/>
            <a:pathLst>
              <a:path w="3100181" h="2739785">
                <a:moveTo>
                  <a:pt x="0" y="0"/>
                </a:moveTo>
                <a:lnTo>
                  <a:pt x="3100181" y="0"/>
                </a:lnTo>
                <a:lnTo>
                  <a:pt x="3100181" y="2739786"/>
                </a:lnTo>
                <a:lnTo>
                  <a:pt x="0" y="27397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7" name="TextBox 7"/>
          <p:cNvSpPr txBox="1">
            <a:spLocks noGrp="1"/>
          </p:cNvSpPr>
          <p:nvPr>
            <p:ph type="title" idx="4294967295"/>
          </p:nvPr>
        </p:nvSpPr>
        <p:spPr>
          <a:xfrm>
            <a:off x="4578412" y="3748941"/>
            <a:ext cx="12179177" cy="250247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30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3787" b="1" i="0" u="none" strike="noStrike" kern="1200" cap="none" spc="-6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CyberNest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05489" y="8994425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Király Gellért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801712" y="9002119"/>
            <a:ext cx="2684575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Macza Ádám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2511960" y="9002119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Kiss Richárd Bendegúz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9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1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7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7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7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170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/>
      <p:bldP spid="12" grpId="0"/>
      <p:bldP spid="13" grpId="0"/>
      <p:bldP spid="14" grpId="0"/>
      <p:bldP spid="15" grpId="0"/>
      <p:bldP spid="6" grpId="0" animBg="1"/>
      <p:bldP spid="7" grpId="0"/>
      <p:bldP spid="9" grpId="0"/>
      <p:bldP spid="11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3">
            <a:extLst>
              <a:ext uri="{FF2B5EF4-FFF2-40B4-BE49-F238E27FC236}">
                <a16:creationId xmlns:a16="http://schemas.microsoft.com/office/drawing/2014/main" id="{5D68C640-6B3F-6C85-4C9E-009D58F952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2057400"/>
            <a:ext cx="8641761" cy="7499107"/>
            <a:chOff x="0" y="0"/>
            <a:chExt cx="2276019" cy="197507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276019" cy="1975074"/>
            </a:xfrm>
            <a:custGeom>
              <a:avLst/>
              <a:gdLst/>
              <a:ahLst/>
              <a:cxnLst/>
              <a:rect l="l" t="t" r="r" b="b"/>
              <a:pathLst>
                <a:path w="2276019" h="1975074">
                  <a:moveTo>
                    <a:pt x="50169" y="0"/>
                  </a:moveTo>
                  <a:lnTo>
                    <a:pt x="2225851" y="0"/>
                  </a:lnTo>
                  <a:cubicBezTo>
                    <a:pt x="2239156" y="0"/>
                    <a:pt x="2251917" y="5286"/>
                    <a:pt x="2261325" y="14694"/>
                  </a:cubicBezTo>
                  <a:cubicBezTo>
                    <a:pt x="2270734" y="24103"/>
                    <a:pt x="2276019" y="36863"/>
                    <a:pt x="2276019" y="50169"/>
                  </a:cubicBezTo>
                  <a:lnTo>
                    <a:pt x="2276019" y="1924905"/>
                  </a:lnTo>
                  <a:cubicBezTo>
                    <a:pt x="2276019" y="1952612"/>
                    <a:pt x="2253558" y="1975074"/>
                    <a:pt x="2225851" y="1975074"/>
                  </a:cubicBezTo>
                  <a:lnTo>
                    <a:pt x="50169" y="1975074"/>
                  </a:lnTo>
                  <a:cubicBezTo>
                    <a:pt x="36863" y="1975074"/>
                    <a:pt x="24103" y="1969788"/>
                    <a:pt x="14694" y="1960380"/>
                  </a:cubicBezTo>
                  <a:cubicBezTo>
                    <a:pt x="5286" y="1950971"/>
                    <a:pt x="0" y="1938210"/>
                    <a:pt x="0" y="1924905"/>
                  </a:cubicBezTo>
                  <a:lnTo>
                    <a:pt x="0" y="50169"/>
                  </a:lnTo>
                  <a:cubicBezTo>
                    <a:pt x="0" y="36863"/>
                    <a:pt x="5286" y="24103"/>
                    <a:pt x="14694" y="14694"/>
                  </a:cubicBezTo>
                  <a:cubicBezTo>
                    <a:pt x="24103" y="5286"/>
                    <a:pt x="36863" y="0"/>
                    <a:pt x="5016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276019" cy="20417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9975275" y="6825024"/>
            <a:ext cx="7524688" cy="2731483"/>
            <a:chOff x="0" y="0"/>
            <a:chExt cx="1981811" cy="71940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81811" cy="719403"/>
            </a:xfrm>
            <a:custGeom>
              <a:avLst/>
              <a:gdLst/>
              <a:ahLst/>
              <a:cxnLst/>
              <a:rect l="l" t="t" r="r" b="b"/>
              <a:pathLst>
                <a:path w="1981811" h="719403">
                  <a:moveTo>
                    <a:pt x="57617" y="0"/>
                  </a:moveTo>
                  <a:lnTo>
                    <a:pt x="1924194" y="0"/>
                  </a:lnTo>
                  <a:cubicBezTo>
                    <a:pt x="1939475" y="0"/>
                    <a:pt x="1954130" y="6070"/>
                    <a:pt x="1964935" y="16876"/>
                  </a:cubicBezTo>
                  <a:cubicBezTo>
                    <a:pt x="1975740" y="27681"/>
                    <a:pt x="1981811" y="42336"/>
                    <a:pt x="1981811" y="57617"/>
                  </a:cubicBezTo>
                  <a:lnTo>
                    <a:pt x="1981811" y="661786"/>
                  </a:lnTo>
                  <a:cubicBezTo>
                    <a:pt x="1981811" y="677067"/>
                    <a:pt x="1975740" y="691722"/>
                    <a:pt x="1964935" y="702528"/>
                  </a:cubicBezTo>
                  <a:cubicBezTo>
                    <a:pt x="1954130" y="713333"/>
                    <a:pt x="1939475" y="719403"/>
                    <a:pt x="1924194" y="719403"/>
                  </a:cubicBezTo>
                  <a:lnTo>
                    <a:pt x="57617" y="719403"/>
                  </a:lnTo>
                  <a:cubicBezTo>
                    <a:pt x="42336" y="719403"/>
                    <a:pt x="27681" y="713333"/>
                    <a:pt x="16876" y="702528"/>
                  </a:cubicBezTo>
                  <a:cubicBezTo>
                    <a:pt x="6070" y="691722"/>
                    <a:pt x="0" y="677067"/>
                    <a:pt x="0" y="661786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2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981811" cy="786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8" name="Group 8" descr="Szerverterem"/>
          <p:cNvGrpSpPr/>
          <p:nvPr/>
        </p:nvGrpSpPr>
        <p:grpSpPr>
          <a:xfrm>
            <a:off x="9975275" y="2057400"/>
            <a:ext cx="7524688" cy="4166571"/>
            <a:chOff x="0" y="0"/>
            <a:chExt cx="1165771" cy="64551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65771" cy="645511"/>
            </a:xfrm>
            <a:custGeom>
              <a:avLst/>
              <a:gdLst/>
              <a:ahLst/>
              <a:cxnLst/>
              <a:rect l="l" t="t" r="r" b="b"/>
              <a:pathLst>
                <a:path w="1165771" h="645511">
                  <a:moveTo>
                    <a:pt x="57617" y="0"/>
                  </a:moveTo>
                  <a:lnTo>
                    <a:pt x="1108154" y="0"/>
                  </a:lnTo>
                  <a:cubicBezTo>
                    <a:pt x="1123435" y="0"/>
                    <a:pt x="1138090" y="6070"/>
                    <a:pt x="1148896" y="16876"/>
                  </a:cubicBezTo>
                  <a:cubicBezTo>
                    <a:pt x="1159701" y="27681"/>
                    <a:pt x="1165771" y="42336"/>
                    <a:pt x="1165771" y="57617"/>
                  </a:cubicBezTo>
                  <a:lnTo>
                    <a:pt x="1165771" y="587894"/>
                  </a:lnTo>
                  <a:cubicBezTo>
                    <a:pt x="1165771" y="603175"/>
                    <a:pt x="1159701" y="617830"/>
                    <a:pt x="1148896" y="628635"/>
                  </a:cubicBezTo>
                  <a:cubicBezTo>
                    <a:pt x="1138090" y="639441"/>
                    <a:pt x="1123435" y="645511"/>
                    <a:pt x="1108154" y="645511"/>
                  </a:cubicBezTo>
                  <a:lnTo>
                    <a:pt x="57617" y="645511"/>
                  </a:lnTo>
                  <a:cubicBezTo>
                    <a:pt x="42336" y="645511"/>
                    <a:pt x="27681" y="639441"/>
                    <a:pt x="16876" y="628635"/>
                  </a:cubicBezTo>
                  <a:cubicBezTo>
                    <a:pt x="6070" y="617830"/>
                    <a:pt x="0" y="603175"/>
                    <a:pt x="0" y="587894"/>
                  </a:cubicBezTo>
                  <a:lnTo>
                    <a:pt x="0" y="57617"/>
                  </a:lnTo>
                  <a:cubicBezTo>
                    <a:pt x="0" y="42336"/>
                    <a:pt x="6070" y="27681"/>
                    <a:pt x="16876" y="16876"/>
                  </a:cubicBezTo>
                  <a:cubicBezTo>
                    <a:pt x="27681" y="6070"/>
                    <a:pt x="42336" y="0"/>
                    <a:pt x="57617" y="0"/>
                  </a:cubicBezTo>
                  <a:close/>
                </a:path>
              </a:pathLst>
            </a:custGeom>
            <a:blipFill>
              <a:blip r:embed="rId3"/>
              <a:stretch>
                <a:fillRect t="-792" b="-792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726346" y="5817827"/>
            <a:ext cx="6797040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Helyszíni IT mentorprogram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Valós infrastruktúrán történő gyakorlati tanulás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Személyes támogatás, nem önálló online tanulás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Kezdőtől haladó szintig fejlődési lehetőség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622317" y="7300552"/>
            <a:ext cx="6230604" cy="1694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66"/>
              </a:lnSpc>
            </a:pPr>
            <a:r>
              <a:rPr lang="hu-HU" sz="4904" spc="-215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– Ahol nem csak tanulhatsz! --</a:t>
            </a:r>
          </a:p>
        </p:txBody>
      </p:sp>
      <p:sp>
        <p:nvSpPr>
          <p:cNvPr id="13" name="TextBox 13"/>
          <p:cNvSpPr txBox="1">
            <a:spLocks noGrp="1"/>
          </p:cNvSpPr>
          <p:nvPr>
            <p:ph type="title" idx="4294967295"/>
          </p:nvPr>
        </p:nvSpPr>
        <p:spPr>
          <a:xfrm>
            <a:off x="1726346" y="2974397"/>
            <a:ext cx="7719401" cy="216910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0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7919" b="1" i="0" u="none" strike="noStrike" kern="1200" cap="none" spc="-35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Mi is a CyberNest?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Bevezető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8122" y="843874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Mi ez?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Fő probléma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Célok</a:t>
            </a:r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A22CFF50-51BC-6404-87AE-B73391FC37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3">
            <a:extLst>
              <a:ext uri="{FF2B5EF4-FFF2-40B4-BE49-F238E27FC236}">
                <a16:creationId xmlns:a16="http://schemas.microsoft.com/office/drawing/2014/main" id="{ACAF0784-17E5-4805-A73D-C6634AFC6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00921" y="1986280"/>
            <a:ext cx="10876417" cy="7467954"/>
            <a:chOff x="0" y="0"/>
            <a:chExt cx="2864571" cy="196686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864571" cy="1966869"/>
            </a:xfrm>
            <a:custGeom>
              <a:avLst/>
              <a:gdLst/>
              <a:ahLst/>
              <a:cxnLst/>
              <a:rect l="l" t="t" r="r" b="b"/>
              <a:pathLst>
                <a:path w="2864571" h="1966869">
                  <a:moveTo>
                    <a:pt x="39861" y="0"/>
                  </a:moveTo>
                  <a:lnTo>
                    <a:pt x="2824709" y="0"/>
                  </a:lnTo>
                  <a:cubicBezTo>
                    <a:pt x="2835281" y="0"/>
                    <a:pt x="2845420" y="4200"/>
                    <a:pt x="2852896" y="11675"/>
                  </a:cubicBezTo>
                  <a:cubicBezTo>
                    <a:pt x="2860371" y="19151"/>
                    <a:pt x="2864571" y="29289"/>
                    <a:pt x="2864571" y="39861"/>
                  </a:cubicBezTo>
                  <a:lnTo>
                    <a:pt x="2864571" y="1927007"/>
                  </a:lnTo>
                  <a:cubicBezTo>
                    <a:pt x="2864571" y="1949022"/>
                    <a:pt x="2846724" y="1966869"/>
                    <a:pt x="2824709" y="1966869"/>
                  </a:cubicBezTo>
                  <a:lnTo>
                    <a:pt x="39861" y="1966869"/>
                  </a:lnTo>
                  <a:cubicBezTo>
                    <a:pt x="17846" y="1966869"/>
                    <a:pt x="0" y="1949022"/>
                    <a:pt x="0" y="1927007"/>
                  </a:cubicBezTo>
                  <a:lnTo>
                    <a:pt x="0" y="39861"/>
                  </a:lnTo>
                  <a:cubicBezTo>
                    <a:pt x="0" y="17846"/>
                    <a:pt x="17846" y="0"/>
                    <a:pt x="3986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864571" cy="203354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6" name="TextBox 6"/>
          <p:cNvSpPr txBox="1"/>
          <p:nvPr/>
        </p:nvSpPr>
        <p:spPr>
          <a:xfrm>
            <a:off x="7271096" y="5413135"/>
            <a:ext cx="9736067" cy="29864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hu-HU" sz="2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Az iskolai oktatás gyakran kevés gyakorlati lehetőséget biztosít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hu-HU" sz="2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tanulás sokszor elméletközpontú, valós környezet nélkül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hu-HU" sz="2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Hiányzik a valós infrastruktúrán történő gyakorlás</a:t>
            </a:r>
          </a:p>
          <a:p>
            <a:pPr marL="604518" lvl="1" indent="-302259" algn="l">
              <a:lnSpc>
                <a:spcPts val="3919"/>
              </a:lnSpc>
              <a:buFont typeface="Arial"/>
              <a:buChar char="•"/>
            </a:pPr>
            <a:r>
              <a:rPr lang="hu-HU" sz="2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fejlődés nem mindig strukturált és mentorált</a:t>
            </a:r>
          </a:p>
        </p:txBody>
      </p:sp>
      <p:sp>
        <p:nvSpPr>
          <p:cNvPr id="7" name="TextBox 7"/>
          <p:cNvSpPr txBox="1">
            <a:spLocks noGrp="1"/>
          </p:cNvSpPr>
          <p:nvPr>
            <p:ph type="title" idx="4294967295"/>
          </p:nvPr>
        </p:nvSpPr>
        <p:spPr>
          <a:xfrm>
            <a:off x="7481253" y="2684552"/>
            <a:ext cx="9315752" cy="179870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731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599" b="1" i="0" u="none" strike="noStrike" kern="1200" cap="none" spc="-29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Probléma, amire a projekt megoldást nyújt</a:t>
            </a:r>
          </a:p>
        </p:txBody>
      </p:sp>
      <p:grpSp>
        <p:nvGrpSpPr>
          <p:cNvPr id="8" name="Group 8" descr="Board "/>
          <p:cNvGrpSpPr/>
          <p:nvPr/>
        </p:nvGrpSpPr>
        <p:grpSpPr>
          <a:xfrm>
            <a:off x="1028700" y="1986280"/>
            <a:ext cx="5264882" cy="7467954"/>
            <a:chOff x="0" y="0"/>
            <a:chExt cx="792915" cy="11247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92915" cy="1124707"/>
            </a:xfrm>
            <a:custGeom>
              <a:avLst/>
              <a:gdLst/>
              <a:ahLst/>
              <a:cxnLst/>
              <a:rect l="l" t="t" r="r" b="b"/>
              <a:pathLst>
                <a:path w="792915" h="1124707">
                  <a:moveTo>
                    <a:pt x="82347" y="0"/>
                  </a:moveTo>
                  <a:lnTo>
                    <a:pt x="710568" y="0"/>
                  </a:lnTo>
                  <a:cubicBezTo>
                    <a:pt x="732407" y="0"/>
                    <a:pt x="753353" y="8676"/>
                    <a:pt x="768796" y="24119"/>
                  </a:cubicBezTo>
                  <a:cubicBezTo>
                    <a:pt x="784239" y="39562"/>
                    <a:pt x="792915" y="60507"/>
                    <a:pt x="792915" y="82347"/>
                  </a:cubicBezTo>
                  <a:lnTo>
                    <a:pt x="792915" y="1042360"/>
                  </a:lnTo>
                  <a:cubicBezTo>
                    <a:pt x="792915" y="1064200"/>
                    <a:pt x="784239" y="1085145"/>
                    <a:pt x="768796" y="1100588"/>
                  </a:cubicBezTo>
                  <a:cubicBezTo>
                    <a:pt x="753353" y="1116031"/>
                    <a:pt x="732407" y="1124707"/>
                    <a:pt x="710568" y="1124707"/>
                  </a:cubicBezTo>
                  <a:lnTo>
                    <a:pt x="82347" y="1124707"/>
                  </a:lnTo>
                  <a:cubicBezTo>
                    <a:pt x="60507" y="1124707"/>
                    <a:pt x="39562" y="1116031"/>
                    <a:pt x="24119" y="1100588"/>
                  </a:cubicBezTo>
                  <a:cubicBezTo>
                    <a:pt x="8676" y="1085145"/>
                    <a:pt x="0" y="1064200"/>
                    <a:pt x="0" y="1042360"/>
                  </a:cubicBezTo>
                  <a:lnTo>
                    <a:pt x="0" y="82347"/>
                  </a:lnTo>
                  <a:cubicBezTo>
                    <a:pt x="0" y="60507"/>
                    <a:pt x="8676" y="39562"/>
                    <a:pt x="24119" y="24119"/>
                  </a:cubicBezTo>
                  <a:cubicBezTo>
                    <a:pt x="39562" y="8676"/>
                    <a:pt x="60507" y="0"/>
                    <a:pt x="82347" y="0"/>
                  </a:cubicBezTo>
                  <a:close/>
                </a:path>
              </a:pathLst>
            </a:custGeom>
            <a:blipFill>
              <a:blip r:embed="rId4"/>
              <a:stretch>
                <a:fillRect l="-56650" r="-56650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Bevezető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08122" y="843874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 ez?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Fő probléma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Célok</a:t>
            </a: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12304325-9456-E247-DCD0-A97A5163E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3">
            <a:extLst>
              <a:ext uri="{FF2B5EF4-FFF2-40B4-BE49-F238E27FC236}">
                <a16:creationId xmlns:a16="http://schemas.microsoft.com/office/drawing/2014/main" id="{073A4AC9-4012-DE5A-8A1F-8AA74A91B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03689" y="1851792"/>
            <a:ext cx="9783203" cy="5849788"/>
            <a:chOff x="0" y="0"/>
            <a:chExt cx="2576646" cy="1540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646" cy="1540685"/>
            </a:xfrm>
            <a:custGeom>
              <a:avLst/>
              <a:gdLst/>
              <a:ahLst/>
              <a:cxnLst/>
              <a:rect l="l" t="t" r="r" b="b"/>
              <a:pathLst>
                <a:path w="2576646" h="1540685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4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8234980"/>
            <a:ext cx="16682906" cy="1233630"/>
            <a:chOff x="0" y="0"/>
            <a:chExt cx="4393852" cy="32490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393852" cy="324907"/>
            </a:xfrm>
            <a:custGeom>
              <a:avLst/>
              <a:gdLst/>
              <a:ahLst/>
              <a:cxnLst/>
              <a:rect l="l" t="t" r="r" b="b"/>
              <a:pathLst>
                <a:path w="4393852" h="324907">
                  <a:moveTo>
                    <a:pt x="21811" y="0"/>
                  </a:moveTo>
                  <a:lnTo>
                    <a:pt x="4372041" y="0"/>
                  </a:lnTo>
                  <a:cubicBezTo>
                    <a:pt x="4384087" y="0"/>
                    <a:pt x="4393852" y="9765"/>
                    <a:pt x="4393852" y="21811"/>
                  </a:cubicBezTo>
                  <a:lnTo>
                    <a:pt x="4393852" y="303096"/>
                  </a:lnTo>
                  <a:cubicBezTo>
                    <a:pt x="4393852" y="315142"/>
                    <a:pt x="4384087" y="324907"/>
                    <a:pt x="4372041" y="324907"/>
                  </a:cubicBezTo>
                  <a:lnTo>
                    <a:pt x="21811" y="324907"/>
                  </a:lnTo>
                  <a:cubicBezTo>
                    <a:pt x="9765" y="324907"/>
                    <a:pt x="0" y="315142"/>
                    <a:pt x="0" y="303096"/>
                  </a:cubicBezTo>
                  <a:lnTo>
                    <a:pt x="0" y="21811"/>
                  </a:lnTo>
                  <a:cubicBezTo>
                    <a:pt x="0" y="9765"/>
                    <a:pt x="9765" y="0"/>
                    <a:pt x="21811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4393852" cy="3915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60731" y="4232275"/>
            <a:ext cx="8269119" cy="1755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Gyakorlati IT tudás átadása valós környezetben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Személyes mentorálás és folyamatos támogatás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Valós rendszerek megértése és használata</a:t>
            </a:r>
          </a:p>
        </p:txBody>
      </p:sp>
      <p:sp>
        <p:nvSpPr>
          <p:cNvPr id="9" name="TextBox 9"/>
          <p:cNvSpPr txBox="1">
            <a:spLocks noGrp="1"/>
          </p:cNvSpPr>
          <p:nvPr>
            <p:ph type="title" idx="4294967295"/>
          </p:nvPr>
        </p:nvSpPr>
        <p:spPr>
          <a:xfrm>
            <a:off x="8460731" y="2630417"/>
            <a:ext cx="8656428" cy="11464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80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7919" b="1" i="0" u="none" strike="noStrike" kern="1200" cap="none" spc="-356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PROJEKT CÉLJA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53913" y="8446299"/>
            <a:ext cx="16305387" cy="82051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5"/>
              </a:lnSpc>
            </a:pPr>
            <a:r>
              <a:rPr lang="hu-HU" sz="2976" b="1" spc="-133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„Nem az számít, hogy mindent tudsz, hanem hogy mersz kérdezni, hibázni, és közben valódi rendszereken tanulni – mert ott kezdődik az igazi tudás.”</a:t>
            </a:r>
          </a:p>
        </p:txBody>
      </p:sp>
      <p:sp>
        <p:nvSpPr>
          <p:cNvPr id="11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grpSp>
        <p:nvGrpSpPr>
          <p:cNvPr id="12" name="Group 12" descr="Drives"/>
          <p:cNvGrpSpPr/>
          <p:nvPr/>
        </p:nvGrpSpPr>
        <p:grpSpPr>
          <a:xfrm>
            <a:off x="1028700" y="1901239"/>
            <a:ext cx="6270972" cy="5911234"/>
            <a:chOff x="0" y="0"/>
            <a:chExt cx="944436" cy="890258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944436" cy="890258"/>
            </a:xfrm>
            <a:custGeom>
              <a:avLst/>
              <a:gdLst/>
              <a:ahLst/>
              <a:cxnLst/>
              <a:rect l="l" t="t" r="r" b="b"/>
              <a:pathLst>
                <a:path w="944436" h="890258">
                  <a:moveTo>
                    <a:pt x="69136" y="0"/>
                  </a:moveTo>
                  <a:lnTo>
                    <a:pt x="875301" y="0"/>
                  </a:lnTo>
                  <a:cubicBezTo>
                    <a:pt x="893636" y="0"/>
                    <a:pt x="911221" y="7284"/>
                    <a:pt x="924187" y="20249"/>
                  </a:cubicBezTo>
                  <a:cubicBezTo>
                    <a:pt x="937152" y="33215"/>
                    <a:pt x="944436" y="50800"/>
                    <a:pt x="944436" y="69136"/>
                  </a:cubicBezTo>
                  <a:lnTo>
                    <a:pt x="944436" y="821122"/>
                  </a:lnTo>
                  <a:cubicBezTo>
                    <a:pt x="944436" y="839458"/>
                    <a:pt x="937152" y="857043"/>
                    <a:pt x="924187" y="870009"/>
                  </a:cubicBezTo>
                  <a:cubicBezTo>
                    <a:pt x="911221" y="882974"/>
                    <a:pt x="893636" y="890258"/>
                    <a:pt x="875301" y="890258"/>
                  </a:cubicBezTo>
                  <a:lnTo>
                    <a:pt x="69136" y="890258"/>
                  </a:lnTo>
                  <a:cubicBezTo>
                    <a:pt x="30953" y="890258"/>
                    <a:pt x="0" y="859305"/>
                    <a:pt x="0" y="821122"/>
                  </a:cubicBezTo>
                  <a:lnTo>
                    <a:pt x="0" y="69136"/>
                  </a:lnTo>
                  <a:cubicBezTo>
                    <a:pt x="0" y="50800"/>
                    <a:pt x="7284" y="33215"/>
                    <a:pt x="20249" y="20249"/>
                  </a:cubicBezTo>
                  <a:cubicBezTo>
                    <a:pt x="33215" y="7284"/>
                    <a:pt x="50800" y="0"/>
                    <a:pt x="69136" y="0"/>
                  </a:cubicBezTo>
                  <a:close/>
                </a:path>
              </a:pathLst>
            </a:custGeom>
            <a:blipFill>
              <a:blip r:embed="rId4"/>
              <a:stretch>
                <a:fillRect l="-25410" r="-25410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Bevezető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08122" y="843874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 ez?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Fő probléma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Célok</a:t>
            </a: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C0A519FE-CA99-5BAA-BB44-757C2A6F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3">
            <a:extLst>
              <a:ext uri="{FF2B5EF4-FFF2-40B4-BE49-F238E27FC236}">
                <a16:creationId xmlns:a16="http://schemas.microsoft.com/office/drawing/2014/main" id="{330A6557-8660-581E-3723-14D3214B88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0" name="Freeform 3">
            <a:extLst>
              <a:ext uri="{FF2B5EF4-FFF2-40B4-BE49-F238E27FC236}">
                <a16:creationId xmlns:a16="http://schemas.microsoft.com/office/drawing/2014/main" id="{B4171626-978D-064D-8AE8-0FA28FF7EF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00A8CC">
                <a:alpha val="20000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4795861"/>
            <a:ext cx="7770874" cy="4660838"/>
            <a:chOff x="0" y="0"/>
            <a:chExt cx="2046650" cy="12275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046650" cy="1227546"/>
            </a:xfrm>
            <a:custGeom>
              <a:avLst/>
              <a:gdLst/>
              <a:ahLst/>
              <a:cxnLst/>
              <a:rect l="l" t="t" r="r" b="b"/>
              <a:pathLst>
                <a:path w="2046650" h="1227546">
                  <a:moveTo>
                    <a:pt x="55791" y="0"/>
                  </a:moveTo>
                  <a:lnTo>
                    <a:pt x="1990859" y="0"/>
                  </a:lnTo>
                  <a:cubicBezTo>
                    <a:pt x="2021671" y="0"/>
                    <a:pt x="2046650" y="24979"/>
                    <a:pt x="2046650" y="55791"/>
                  </a:cubicBezTo>
                  <a:lnTo>
                    <a:pt x="2046650" y="1171754"/>
                  </a:lnTo>
                  <a:cubicBezTo>
                    <a:pt x="2046650" y="1186551"/>
                    <a:pt x="2040772" y="1200742"/>
                    <a:pt x="2030309" y="1211205"/>
                  </a:cubicBezTo>
                  <a:cubicBezTo>
                    <a:pt x="2019846" y="1221668"/>
                    <a:pt x="2005655" y="1227546"/>
                    <a:pt x="1990859" y="1227546"/>
                  </a:cubicBezTo>
                  <a:lnTo>
                    <a:pt x="55791" y="1227546"/>
                  </a:lnTo>
                  <a:cubicBezTo>
                    <a:pt x="40995" y="1227546"/>
                    <a:pt x="26804" y="1221668"/>
                    <a:pt x="16341" y="1211205"/>
                  </a:cubicBezTo>
                  <a:cubicBezTo>
                    <a:pt x="5878" y="1200742"/>
                    <a:pt x="0" y="1186551"/>
                    <a:pt x="0" y="1171754"/>
                  </a:cubicBezTo>
                  <a:lnTo>
                    <a:pt x="0" y="55791"/>
                  </a:lnTo>
                  <a:cubicBezTo>
                    <a:pt x="0" y="40995"/>
                    <a:pt x="5878" y="26804"/>
                    <a:pt x="16341" y="16341"/>
                  </a:cubicBezTo>
                  <a:cubicBezTo>
                    <a:pt x="26804" y="5878"/>
                    <a:pt x="40995" y="0"/>
                    <a:pt x="55791" y="0"/>
                  </a:cubicBezTo>
                  <a:close/>
                </a:path>
              </a:pathLst>
            </a:custGeom>
            <a:solidFill>
              <a:srgbClr val="6C63FF">
                <a:alpha val="21961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2046650" cy="1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grpSp>
        <p:nvGrpSpPr>
          <p:cNvPr id="8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11360" y="1796578"/>
            <a:ext cx="16648096" cy="2555903"/>
            <a:chOff x="0" y="0"/>
            <a:chExt cx="4384684" cy="673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384684" cy="673160"/>
            </a:xfrm>
            <a:custGeom>
              <a:avLst/>
              <a:gdLst/>
              <a:ahLst/>
              <a:cxnLst/>
              <a:rect l="l" t="t" r="r" b="b"/>
              <a:pathLst>
                <a:path w="4384684" h="673160">
                  <a:moveTo>
                    <a:pt x="26042" y="0"/>
                  </a:moveTo>
                  <a:lnTo>
                    <a:pt x="4358642" y="0"/>
                  </a:lnTo>
                  <a:cubicBezTo>
                    <a:pt x="4365548" y="0"/>
                    <a:pt x="4372172" y="2744"/>
                    <a:pt x="4377056" y="7627"/>
                  </a:cubicBezTo>
                  <a:cubicBezTo>
                    <a:pt x="4381940" y="12511"/>
                    <a:pt x="4384684" y="19135"/>
                    <a:pt x="4384684" y="26042"/>
                  </a:cubicBezTo>
                  <a:lnTo>
                    <a:pt x="4384684" y="647118"/>
                  </a:lnTo>
                  <a:cubicBezTo>
                    <a:pt x="4384684" y="654024"/>
                    <a:pt x="4381940" y="660648"/>
                    <a:pt x="4377056" y="665532"/>
                  </a:cubicBezTo>
                  <a:cubicBezTo>
                    <a:pt x="4372172" y="670416"/>
                    <a:pt x="4365548" y="673160"/>
                    <a:pt x="4358642" y="673160"/>
                  </a:cubicBezTo>
                  <a:lnTo>
                    <a:pt x="26042" y="673160"/>
                  </a:lnTo>
                  <a:cubicBezTo>
                    <a:pt x="19135" y="673160"/>
                    <a:pt x="12511" y="670416"/>
                    <a:pt x="7627" y="665532"/>
                  </a:cubicBezTo>
                  <a:cubicBezTo>
                    <a:pt x="2744" y="660648"/>
                    <a:pt x="0" y="654024"/>
                    <a:pt x="0" y="647118"/>
                  </a:cubicBezTo>
                  <a:lnTo>
                    <a:pt x="0" y="26042"/>
                  </a:lnTo>
                  <a:cubicBezTo>
                    <a:pt x="0" y="19135"/>
                    <a:pt x="2744" y="12511"/>
                    <a:pt x="7627" y="7627"/>
                  </a:cubicBezTo>
                  <a:cubicBezTo>
                    <a:pt x="12511" y="2744"/>
                    <a:pt x="19135" y="0"/>
                    <a:pt x="26042" y="0"/>
                  </a:cubicBezTo>
                  <a:close/>
                </a:path>
              </a:pathLst>
            </a:custGeom>
            <a:solidFill>
              <a:srgbClr val="6C63FF">
                <a:alpha val="21961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4384684" cy="711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sp>
        <p:nvSpPr>
          <p:cNvPr id="11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TextBox 12"/>
          <p:cNvSpPr txBox="1"/>
          <p:nvPr/>
        </p:nvSpPr>
        <p:spPr>
          <a:xfrm>
            <a:off x="1199241" y="4900605"/>
            <a:ext cx="6978890" cy="43846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99"/>
              </a:lnSpc>
            </a:pPr>
            <a:r>
              <a:rPr lang="hu-HU" sz="2499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Vendég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böngészés, információk megtekintése</a:t>
            </a:r>
          </a:p>
          <a:p>
            <a:pPr algn="just">
              <a:lnSpc>
                <a:spcPts val="3499"/>
              </a:lnSpc>
            </a:pPr>
            <a:r>
              <a:rPr lang="hu-HU" sz="2499" b="1" noProof="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  <a:endParaRPr lang="hu-HU" sz="2499" b="1" noProof="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bejelentkezés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foglalás létrehozása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saját adatok és foglalások kezelése</a:t>
            </a:r>
          </a:p>
          <a:p>
            <a:pPr algn="just">
              <a:lnSpc>
                <a:spcPts val="3499"/>
              </a:lnSpc>
            </a:pPr>
            <a:r>
              <a:rPr lang="hu-HU" sz="2499" b="1" noProof="0" dirty="0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Admin</a:t>
            </a:r>
            <a:endParaRPr lang="hu-HU" sz="2499" b="1" noProof="0" dirty="0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eszközök és időpontok kezelése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felhasználók felügyelete </a:t>
            </a:r>
          </a:p>
          <a:p>
            <a:pPr marL="539749" lvl="1" indent="-269875" algn="just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rendszeradminisztráció</a:t>
            </a:r>
          </a:p>
        </p:txBody>
      </p:sp>
      <p:sp>
        <p:nvSpPr>
          <p:cNvPr id="13" name="TextBox 13"/>
          <p:cNvSpPr txBox="1">
            <a:spLocks noGrp="1"/>
          </p:cNvSpPr>
          <p:nvPr>
            <p:ph type="title" idx="4294967295"/>
          </p:nvPr>
        </p:nvSpPr>
        <p:spPr>
          <a:xfrm>
            <a:off x="803986" y="2479792"/>
            <a:ext cx="16648096" cy="1256150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887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8699" b="1" i="0" u="none" strike="noStrike" kern="1200" cap="none" spc="-39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Felhasználói szerepkörök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144000" y="841660"/>
            <a:ext cx="18450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Szerepkörök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193810" y="841660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Felépítés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17444" y="841660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Adatfolyam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053375" y="865423"/>
            <a:ext cx="2205925" cy="40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4"/>
              </a:lnSpc>
              <a:spcBef>
                <a:spcPct val="0"/>
              </a:spcBef>
            </a:pPr>
            <a:r>
              <a:rPr lang="hu-HU" sz="223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Technológiák</a:t>
            </a:r>
          </a:p>
        </p:txBody>
      </p:sp>
      <p:sp>
        <p:nvSpPr>
          <p:cNvPr id="18" name="Freeform 1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907460" y="4795861"/>
            <a:ext cx="8551996" cy="4660838"/>
          </a:xfrm>
          <a:prstGeom prst="roundRect">
            <a:avLst/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8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3">
            <a:extLst>
              <a:ext uri="{FF2B5EF4-FFF2-40B4-BE49-F238E27FC236}">
                <a16:creationId xmlns:a16="http://schemas.microsoft.com/office/drawing/2014/main" id="{1EE4D6A6-806F-9E63-83B4-E6E6D64D8E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261035" y="2095500"/>
            <a:ext cx="13765929" cy="7502432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4" name="TextBox 4"/>
          <p:cNvSpPr txBox="1">
            <a:spLocks noGrp="1"/>
          </p:cNvSpPr>
          <p:nvPr>
            <p:ph type="title" idx="4294967295"/>
          </p:nvPr>
        </p:nvSpPr>
        <p:spPr>
          <a:xfrm>
            <a:off x="9144000" y="841660"/>
            <a:ext cx="1845022" cy="40954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0" eaLnBrk="1" fontAlgn="auto" latinLnBrk="0" hangingPunct="1">
              <a:lnSpc>
                <a:spcPts val="315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251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Szerepkörök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193810" y="841660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Felépítés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3117444" y="841660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Adatfolyam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5053375" y="865423"/>
            <a:ext cx="2205925" cy="40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4"/>
              </a:lnSpc>
              <a:spcBef>
                <a:spcPct val="0"/>
              </a:spcBef>
            </a:pPr>
            <a:r>
              <a:rPr lang="hu-HU" sz="223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Technológiák</a:t>
            </a:r>
          </a:p>
        </p:txBody>
      </p:sp>
      <p:sp>
        <p:nvSpPr>
          <p:cNvPr id="9" name="Freeform 3">
            <a:extLst>
              <a:ext uri="{FF2B5EF4-FFF2-40B4-BE49-F238E27FC236}">
                <a16:creationId xmlns:a16="http://schemas.microsoft.com/office/drawing/2014/main" id="{83998AE2-AC3B-75C4-ED57-FBCAC3FE3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0EA95605-A4D2-2060-48F2-0F44B6BA4A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 descr="Architecture Diagramm"/>
          <p:cNvGrpSpPr/>
          <p:nvPr/>
        </p:nvGrpSpPr>
        <p:grpSpPr>
          <a:xfrm>
            <a:off x="5196053" y="1894724"/>
            <a:ext cx="12424138" cy="7599868"/>
            <a:chOff x="0" y="0"/>
            <a:chExt cx="1924824" cy="1177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4824" cy="1177418"/>
            </a:xfrm>
            <a:custGeom>
              <a:avLst/>
              <a:gdLst/>
              <a:ahLst/>
              <a:cxnLst/>
              <a:rect l="l" t="t" r="r" b="b"/>
              <a:pathLst>
                <a:path w="1924824" h="1177418">
                  <a:moveTo>
                    <a:pt x="34896" y="0"/>
                  </a:moveTo>
                  <a:lnTo>
                    <a:pt x="1889929" y="0"/>
                  </a:lnTo>
                  <a:cubicBezTo>
                    <a:pt x="1899183" y="0"/>
                    <a:pt x="1908059" y="3676"/>
                    <a:pt x="1914603" y="10221"/>
                  </a:cubicBezTo>
                  <a:cubicBezTo>
                    <a:pt x="1921148" y="16765"/>
                    <a:pt x="1924824" y="25641"/>
                    <a:pt x="1924824" y="34896"/>
                  </a:cubicBezTo>
                  <a:lnTo>
                    <a:pt x="1924824" y="1142523"/>
                  </a:lnTo>
                  <a:cubicBezTo>
                    <a:pt x="1924824" y="1151778"/>
                    <a:pt x="1921148" y="1160654"/>
                    <a:pt x="1914603" y="1167198"/>
                  </a:cubicBezTo>
                  <a:cubicBezTo>
                    <a:pt x="1908059" y="1173742"/>
                    <a:pt x="1899183" y="1177418"/>
                    <a:pt x="1889929" y="1177418"/>
                  </a:cubicBezTo>
                  <a:lnTo>
                    <a:pt x="34896" y="1177418"/>
                  </a:lnTo>
                  <a:cubicBezTo>
                    <a:pt x="25641" y="1177418"/>
                    <a:pt x="16765" y="1173742"/>
                    <a:pt x="10221" y="1167198"/>
                  </a:cubicBezTo>
                  <a:cubicBezTo>
                    <a:pt x="3676" y="1160654"/>
                    <a:pt x="0" y="1151778"/>
                    <a:pt x="0" y="1142523"/>
                  </a:cubicBezTo>
                  <a:lnTo>
                    <a:pt x="0" y="34896"/>
                  </a:lnTo>
                  <a:cubicBezTo>
                    <a:pt x="0" y="25641"/>
                    <a:pt x="3676" y="16765"/>
                    <a:pt x="10221" y="10221"/>
                  </a:cubicBezTo>
                  <a:cubicBezTo>
                    <a:pt x="16765" y="3676"/>
                    <a:pt x="25641" y="0"/>
                    <a:pt x="34896" y="0"/>
                  </a:cubicBezTo>
                  <a:close/>
                </a:path>
              </a:pathLst>
            </a:custGeom>
            <a:blipFill>
              <a:blip r:embed="rId3"/>
              <a:stretch>
                <a:fillRect l="-36" r="-36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grpSp>
        <p:nvGrpSpPr>
          <p:cNvPr id="4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4121613" cy="2477588"/>
            <a:chOff x="0" y="0"/>
            <a:chExt cx="1085528" cy="652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5528" cy="652533"/>
            </a:xfrm>
            <a:custGeom>
              <a:avLst/>
              <a:gdLst/>
              <a:ahLst/>
              <a:cxnLst/>
              <a:rect l="l" t="t" r="r" b="b"/>
              <a:pathLst>
                <a:path w="1085528" h="652533">
                  <a:moveTo>
                    <a:pt x="105189" y="0"/>
                  </a:moveTo>
                  <a:lnTo>
                    <a:pt x="980339" y="0"/>
                  </a:lnTo>
                  <a:cubicBezTo>
                    <a:pt x="1038433" y="0"/>
                    <a:pt x="1085528" y="47095"/>
                    <a:pt x="1085528" y="105189"/>
                  </a:cubicBezTo>
                  <a:lnTo>
                    <a:pt x="1085528" y="547345"/>
                  </a:lnTo>
                  <a:cubicBezTo>
                    <a:pt x="1085528" y="575242"/>
                    <a:pt x="1074445" y="601998"/>
                    <a:pt x="1054719" y="621724"/>
                  </a:cubicBezTo>
                  <a:cubicBezTo>
                    <a:pt x="1034992" y="641451"/>
                    <a:pt x="1008237" y="652533"/>
                    <a:pt x="980339" y="652533"/>
                  </a:cubicBezTo>
                  <a:lnTo>
                    <a:pt x="105189" y="652533"/>
                  </a:lnTo>
                  <a:cubicBezTo>
                    <a:pt x="77291" y="652533"/>
                    <a:pt x="50536" y="641451"/>
                    <a:pt x="30809" y="621724"/>
                  </a:cubicBezTo>
                  <a:cubicBezTo>
                    <a:pt x="11082" y="601998"/>
                    <a:pt x="0" y="575242"/>
                    <a:pt x="0" y="547345"/>
                  </a:cubicBezTo>
                  <a:lnTo>
                    <a:pt x="0" y="105189"/>
                  </a:lnTo>
                  <a:cubicBezTo>
                    <a:pt x="0" y="77291"/>
                    <a:pt x="11082" y="50536"/>
                    <a:pt x="30809" y="30809"/>
                  </a:cubicBezTo>
                  <a:cubicBezTo>
                    <a:pt x="50536" y="11082"/>
                    <a:pt x="77291" y="0"/>
                    <a:pt x="105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085528" cy="719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7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4883665"/>
            <a:ext cx="4121613" cy="4610927"/>
            <a:chOff x="0" y="0"/>
            <a:chExt cx="1085528" cy="1214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5528" cy="1214401"/>
            </a:xfrm>
            <a:custGeom>
              <a:avLst/>
              <a:gdLst/>
              <a:ahLst/>
              <a:cxnLst/>
              <a:rect l="l" t="t" r="r" b="b"/>
              <a:pathLst>
                <a:path w="1085528" h="1214401">
                  <a:moveTo>
                    <a:pt x="105189" y="0"/>
                  </a:moveTo>
                  <a:lnTo>
                    <a:pt x="980339" y="0"/>
                  </a:lnTo>
                  <a:cubicBezTo>
                    <a:pt x="1038433" y="0"/>
                    <a:pt x="1085528" y="47095"/>
                    <a:pt x="1085528" y="105189"/>
                  </a:cubicBezTo>
                  <a:lnTo>
                    <a:pt x="1085528" y="1109212"/>
                  </a:lnTo>
                  <a:cubicBezTo>
                    <a:pt x="1085528" y="1137110"/>
                    <a:pt x="1074445" y="1163865"/>
                    <a:pt x="1054719" y="1183592"/>
                  </a:cubicBezTo>
                  <a:cubicBezTo>
                    <a:pt x="1034992" y="1203318"/>
                    <a:pt x="1008237" y="1214401"/>
                    <a:pt x="980339" y="1214401"/>
                  </a:cubicBezTo>
                  <a:lnTo>
                    <a:pt x="105189" y="1214401"/>
                  </a:lnTo>
                  <a:cubicBezTo>
                    <a:pt x="77291" y="1214401"/>
                    <a:pt x="50536" y="1203318"/>
                    <a:pt x="30809" y="1183592"/>
                  </a:cubicBezTo>
                  <a:cubicBezTo>
                    <a:pt x="11082" y="1163865"/>
                    <a:pt x="0" y="1137110"/>
                    <a:pt x="0" y="1109212"/>
                  </a:cubicBezTo>
                  <a:lnTo>
                    <a:pt x="0" y="105189"/>
                  </a:lnTo>
                  <a:cubicBezTo>
                    <a:pt x="0" y="77291"/>
                    <a:pt x="11082" y="50536"/>
                    <a:pt x="30809" y="30809"/>
                  </a:cubicBezTo>
                  <a:cubicBezTo>
                    <a:pt x="50536" y="11082"/>
                    <a:pt x="77291" y="0"/>
                    <a:pt x="105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3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085528" cy="1281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354504" y="5098073"/>
            <a:ext cx="3020577" cy="4115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Frontend: </a:t>
            </a:r>
            <a:r>
              <a:rPr lang="hu-HU" sz="2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React</a:t>
            </a: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+ </a:t>
            </a:r>
            <a:r>
              <a:rPr lang="hu-HU" sz="2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Vite</a:t>
            </a:r>
            <a:endParaRPr lang="hu-HU" sz="25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Backend: Node.js + Express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Adatbázis: </a:t>
            </a:r>
            <a:r>
              <a:rPr lang="hu-HU" sz="2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endParaRPr lang="hu-HU" sz="25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Hitelesítés: JWT + </a:t>
            </a:r>
            <a:r>
              <a:rPr lang="hu-HU" sz="2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OAuth</a:t>
            </a:r>
            <a:endParaRPr lang="hu-HU" sz="25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210137" y="2518825"/>
            <a:ext cx="3309311" cy="12579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612" b="1" i="0" u="none" strike="noStrike" kern="1200" cap="none" spc="-20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Rendszer architektúra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18450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Szerepkörök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193810" y="841660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Felépítés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117444" y="841660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Adatfolyam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53375" y="865423"/>
            <a:ext cx="2205925" cy="40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4"/>
              </a:lnSpc>
              <a:spcBef>
                <a:spcPct val="0"/>
              </a:spcBef>
            </a:pPr>
            <a:r>
              <a:rPr lang="hu-HU" sz="223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Technológiák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1415F205-A101-6B03-72A4-88AECFDBA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C04E67F9-0499-AD0E-AE86-39E63BA4214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8597596" cy="2790475"/>
            <a:chOff x="0" y="0"/>
            <a:chExt cx="2937671" cy="953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7671" cy="953464"/>
            </a:xfrm>
            <a:custGeom>
              <a:avLst/>
              <a:gdLst/>
              <a:ahLst/>
              <a:cxnLst/>
              <a:rect l="l" t="t" r="r" b="b"/>
              <a:pathLst>
                <a:path w="2937671" h="953464">
                  <a:moveTo>
                    <a:pt x="50427" y="0"/>
                  </a:moveTo>
                  <a:lnTo>
                    <a:pt x="2887244" y="0"/>
                  </a:lnTo>
                  <a:cubicBezTo>
                    <a:pt x="2915094" y="0"/>
                    <a:pt x="2937671" y="22577"/>
                    <a:pt x="2937671" y="50427"/>
                  </a:cubicBezTo>
                  <a:lnTo>
                    <a:pt x="2937671" y="903038"/>
                  </a:lnTo>
                  <a:cubicBezTo>
                    <a:pt x="2937671" y="930887"/>
                    <a:pt x="2915094" y="953464"/>
                    <a:pt x="2887244" y="953464"/>
                  </a:cubicBezTo>
                  <a:lnTo>
                    <a:pt x="50427" y="953464"/>
                  </a:lnTo>
                  <a:cubicBezTo>
                    <a:pt x="22577" y="953464"/>
                    <a:pt x="0" y="930887"/>
                    <a:pt x="0" y="903038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37671" cy="1020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5143500"/>
            <a:ext cx="8597596" cy="4407758"/>
            <a:chOff x="0" y="0"/>
            <a:chExt cx="2264387" cy="1160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4387" cy="1160891"/>
            </a:xfrm>
            <a:custGeom>
              <a:avLst/>
              <a:gdLst/>
              <a:ahLst/>
              <a:cxnLst/>
              <a:rect l="l" t="t" r="r" b="b"/>
              <a:pathLst>
                <a:path w="2264387" h="1160891">
                  <a:moveTo>
                    <a:pt x="50427" y="0"/>
                  </a:moveTo>
                  <a:lnTo>
                    <a:pt x="2213961" y="0"/>
                  </a:lnTo>
                  <a:cubicBezTo>
                    <a:pt x="2241811" y="0"/>
                    <a:pt x="2264387" y="22577"/>
                    <a:pt x="2264387" y="50427"/>
                  </a:cubicBezTo>
                  <a:lnTo>
                    <a:pt x="2264387" y="1110464"/>
                  </a:lnTo>
                  <a:cubicBezTo>
                    <a:pt x="2264387" y="1138314"/>
                    <a:pt x="2241811" y="1160891"/>
                    <a:pt x="2213961" y="1160891"/>
                  </a:cubicBezTo>
                  <a:lnTo>
                    <a:pt x="50427" y="1160891"/>
                  </a:lnTo>
                  <a:cubicBezTo>
                    <a:pt x="22577" y="1160891"/>
                    <a:pt x="0" y="1138314"/>
                    <a:pt x="0" y="1110464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64387" cy="122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1253962" y="5559854"/>
            <a:ext cx="7697643" cy="3508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Felhasználói kérés a frontendről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backend fogadja és feldolgozza a kérést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Szükség esetén JWT hitelesítést végez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backend adatbázis műveletet hajt végre (</a:t>
            </a: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MySQL</a:t>
            </a: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backend JSON formátumban választ küld vissza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 frontend megjeleníti az eredményt</a:t>
            </a:r>
          </a:p>
        </p:txBody>
      </p:sp>
      <p:sp>
        <p:nvSpPr>
          <p:cNvPr id="9" name="TextBox 9"/>
          <p:cNvSpPr txBox="1">
            <a:spLocks noGrp="1"/>
          </p:cNvSpPr>
          <p:nvPr>
            <p:ph type="title" idx="4294967295"/>
          </p:nvPr>
        </p:nvSpPr>
        <p:spPr>
          <a:xfrm>
            <a:off x="1565652" y="2448975"/>
            <a:ext cx="7074263" cy="172007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3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252" b="1" i="0" u="none" strike="noStrike" kern="1200" cap="none" spc="-28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Adatfolyam működés</a:t>
            </a:r>
          </a:p>
        </p:txBody>
      </p:sp>
      <p:grpSp>
        <p:nvGrpSpPr>
          <p:cNvPr id="10" name="Group 10" descr="Process Diagram&#10;"/>
          <p:cNvGrpSpPr/>
          <p:nvPr/>
        </p:nvGrpSpPr>
        <p:grpSpPr>
          <a:xfrm>
            <a:off x="9637186" y="1894724"/>
            <a:ext cx="8179087" cy="7656534"/>
            <a:chOff x="0" y="0"/>
            <a:chExt cx="1201467" cy="1124707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1201467" cy="1124707"/>
            </a:xfrm>
            <a:custGeom>
              <a:avLst/>
              <a:gdLst/>
              <a:ahLst/>
              <a:cxnLst/>
              <a:rect l="l" t="t" r="r" b="b"/>
              <a:pathLst>
                <a:path w="1201467" h="1124707">
                  <a:moveTo>
                    <a:pt x="53007" y="0"/>
                  </a:moveTo>
                  <a:lnTo>
                    <a:pt x="1148461" y="0"/>
                  </a:lnTo>
                  <a:cubicBezTo>
                    <a:pt x="1162519" y="0"/>
                    <a:pt x="1176001" y="5585"/>
                    <a:pt x="1185942" y="15525"/>
                  </a:cubicBezTo>
                  <a:cubicBezTo>
                    <a:pt x="1195883" y="25466"/>
                    <a:pt x="1201467" y="38949"/>
                    <a:pt x="1201467" y="53007"/>
                  </a:cubicBezTo>
                  <a:lnTo>
                    <a:pt x="1201467" y="1071700"/>
                  </a:lnTo>
                  <a:cubicBezTo>
                    <a:pt x="1201467" y="1100975"/>
                    <a:pt x="1177735" y="1124707"/>
                    <a:pt x="1148461" y="1124707"/>
                  </a:cubicBezTo>
                  <a:lnTo>
                    <a:pt x="53007" y="1124707"/>
                  </a:lnTo>
                  <a:cubicBezTo>
                    <a:pt x="23732" y="1124707"/>
                    <a:pt x="0" y="1100975"/>
                    <a:pt x="0" y="1071700"/>
                  </a:cubicBezTo>
                  <a:lnTo>
                    <a:pt x="0" y="53007"/>
                  </a:lnTo>
                  <a:cubicBezTo>
                    <a:pt x="0" y="23732"/>
                    <a:pt x="23732" y="0"/>
                    <a:pt x="53007" y="0"/>
                  </a:cubicBezTo>
                  <a:close/>
                </a:path>
              </a:pathLst>
            </a:custGeom>
            <a:blipFill>
              <a:blip r:embed="rId3"/>
              <a:stretch>
                <a:fillRect t="-474" b="-474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2" name="TextBox 12"/>
          <p:cNvSpPr txBox="1"/>
          <p:nvPr/>
        </p:nvSpPr>
        <p:spPr>
          <a:xfrm>
            <a:off x="9144000" y="841660"/>
            <a:ext cx="18450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Szerepkörök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93810" y="841660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Felépítés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17444" y="841660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Adatfolyam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53375" y="865423"/>
            <a:ext cx="2205925" cy="4066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4"/>
              </a:lnSpc>
              <a:spcBef>
                <a:spcPct val="0"/>
              </a:spcBef>
            </a:pPr>
            <a:r>
              <a:rPr lang="hu-HU" sz="223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Technológiák</a:t>
            </a:r>
          </a:p>
        </p:txBody>
      </p:sp>
      <p:sp>
        <p:nvSpPr>
          <p:cNvPr id="16" name="Freeform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C21B95D8-E4EB-DB01-F66A-4889BB25B3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43EA1F30-F143-C353-E444-08FE43026F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61704" y="6356028"/>
            <a:ext cx="8825903" cy="3265935"/>
            <a:chOff x="0" y="0"/>
            <a:chExt cx="2324518" cy="8601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24518" cy="860164"/>
            </a:xfrm>
            <a:custGeom>
              <a:avLst/>
              <a:gdLst/>
              <a:ahLst/>
              <a:cxnLst/>
              <a:rect l="l" t="t" r="r" b="b"/>
              <a:pathLst>
                <a:path w="2324518" h="860164">
                  <a:moveTo>
                    <a:pt x="36842" y="0"/>
                  </a:moveTo>
                  <a:lnTo>
                    <a:pt x="2287676" y="0"/>
                  </a:lnTo>
                  <a:cubicBezTo>
                    <a:pt x="2308023" y="0"/>
                    <a:pt x="2324518" y="16495"/>
                    <a:pt x="2324518" y="36842"/>
                  </a:cubicBezTo>
                  <a:lnTo>
                    <a:pt x="2324518" y="823322"/>
                  </a:lnTo>
                  <a:cubicBezTo>
                    <a:pt x="2324518" y="843670"/>
                    <a:pt x="2308023" y="860164"/>
                    <a:pt x="2287676" y="860164"/>
                  </a:cubicBezTo>
                  <a:lnTo>
                    <a:pt x="36842" y="860164"/>
                  </a:lnTo>
                  <a:cubicBezTo>
                    <a:pt x="16495" y="860164"/>
                    <a:pt x="0" y="843670"/>
                    <a:pt x="0" y="823322"/>
                  </a:cubicBezTo>
                  <a:lnTo>
                    <a:pt x="0" y="36842"/>
                  </a:lnTo>
                  <a:cubicBezTo>
                    <a:pt x="0" y="16495"/>
                    <a:pt x="16495" y="0"/>
                    <a:pt x="36842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6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324518" cy="9268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61704" y="1894724"/>
            <a:ext cx="8825903" cy="3823129"/>
            <a:chOff x="0" y="0"/>
            <a:chExt cx="2324518" cy="1006915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324518" cy="1006915"/>
            </a:xfrm>
            <a:custGeom>
              <a:avLst/>
              <a:gdLst/>
              <a:ahLst/>
              <a:cxnLst/>
              <a:rect l="l" t="t" r="r" b="b"/>
              <a:pathLst>
                <a:path w="2324518" h="1006915">
                  <a:moveTo>
                    <a:pt x="49122" y="0"/>
                  </a:moveTo>
                  <a:lnTo>
                    <a:pt x="2275395" y="0"/>
                  </a:lnTo>
                  <a:cubicBezTo>
                    <a:pt x="2288423" y="0"/>
                    <a:pt x="2300918" y="5175"/>
                    <a:pt x="2310130" y="14388"/>
                  </a:cubicBezTo>
                  <a:cubicBezTo>
                    <a:pt x="2319342" y="23600"/>
                    <a:pt x="2324518" y="36094"/>
                    <a:pt x="2324518" y="49122"/>
                  </a:cubicBezTo>
                  <a:lnTo>
                    <a:pt x="2324518" y="957793"/>
                  </a:lnTo>
                  <a:cubicBezTo>
                    <a:pt x="2324518" y="970821"/>
                    <a:pt x="2319342" y="983315"/>
                    <a:pt x="2310130" y="992527"/>
                  </a:cubicBezTo>
                  <a:cubicBezTo>
                    <a:pt x="2300918" y="1001739"/>
                    <a:pt x="2288423" y="1006915"/>
                    <a:pt x="2275395" y="1006915"/>
                  </a:cubicBezTo>
                  <a:lnTo>
                    <a:pt x="49122" y="1006915"/>
                  </a:lnTo>
                  <a:cubicBezTo>
                    <a:pt x="36094" y="1006915"/>
                    <a:pt x="23600" y="1001739"/>
                    <a:pt x="14388" y="992527"/>
                  </a:cubicBezTo>
                  <a:cubicBezTo>
                    <a:pt x="5175" y="983315"/>
                    <a:pt x="0" y="970821"/>
                    <a:pt x="0" y="957793"/>
                  </a:cubicBezTo>
                  <a:lnTo>
                    <a:pt x="0" y="49122"/>
                  </a:lnTo>
                  <a:cubicBezTo>
                    <a:pt x="0" y="36094"/>
                    <a:pt x="5175" y="23600"/>
                    <a:pt x="14388" y="14388"/>
                  </a:cubicBezTo>
                  <a:cubicBezTo>
                    <a:pt x="23600" y="5175"/>
                    <a:pt x="36094" y="0"/>
                    <a:pt x="49122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324518" cy="10735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5809561" y="6819295"/>
            <a:ext cx="1169701" cy="1169701"/>
          </a:xfrm>
          <a:custGeom>
            <a:avLst/>
            <a:gdLst/>
            <a:ahLst/>
            <a:cxnLst/>
            <a:rect l="l" t="t" r="r" b="b"/>
            <a:pathLst>
              <a:path w="1169701" h="1169701">
                <a:moveTo>
                  <a:pt x="0" y="0"/>
                </a:moveTo>
                <a:lnTo>
                  <a:pt x="1169701" y="0"/>
                </a:lnTo>
                <a:lnTo>
                  <a:pt x="1169701" y="1169701"/>
                </a:lnTo>
                <a:lnTo>
                  <a:pt x="0" y="116970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44939" y="1894724"/>
            <a:ext cx="8070224" cy="7727240"/>
          </a:xfrm>
          <a:custGeom>
            <a:avLst/>
            <a:gdLst/>
            <a:ahLst/>
            <a:cxnLst/>
            <a:rect l="l" t="t" r="r" b="b"/>
            <a:pathLst>
              <a:path w="8070224" h="7727240">
                <a:moveTo>
                  <a:pt x="0" y="0"/>
                </a:moveTo>
                <a:lnTo>
                  <a:pt x="8070224" y="0"/>
                </a:lnTo>
                <a:lnTo>
                  <a:pt x="8070224" y="7727240"/>
                </a:lnTo>
                <a:lnTo>
                  <a:pt x="0" y="77272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Box 10"/>
          <p:cNvSpPr txBox="1">
            <a:spLocks noGrp="1"/>
          </p:cNvSpPr>
          <p:nvPr>
            <p:ph type="title" idx="4294967295"/>
          </p:nvPr>
        </p:nvSpPr>
        <p:spPr>
          <a:xfrm>
            <a:off x="9411514" y="2528963"/>
            <a:ext cx="7384352" cy="260880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9728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9537" b="1" i="0" u="none" strike="noStrike" kern="1200" cap="none" spc="-429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Frontend technológiák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411514" y="6860853"/>
            <a:ext cx="5738811" cy="26009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65"/>
              </a:lnSpc>
            </a:pP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hu-HU" sz="2975" spc="-130" noProof="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React</a:t>
            </a: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</a:t>
            </a:r>
          </a:p>
          <a:p>
            <a:pPr algn="just">
              <a:lnSpc>
                <a:spcPts val="4165"/>
              </a:lnSpc>
            </a:pP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hu-HU" sz="2975" spc="-130" noProof="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React</a:t>
            </a: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Router </a:t>
            </a:r>
          </a:p>
          <a:p>
            <a:pPr algn="just">
              <a:lnSpc>
                <a:spcPts val="4165"/>
              </a:lnSpc>
            </a:pP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</a:t>
            </a:r>
            <a:r>
              <a:rPr lang="hu-HU" sz="2975" spc="-130" noProof="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State</a:t>
            </a: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 management </a:t>
            </a:r>
          </a:p>
          <a:p>
            <a:pPr algn="just">
              <a:lnSpc>
                <a:spcPts val="4165"/>
              </a:lnSpc>
            </a:pP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•Védett </a:t>
            </a:r>
            <a:r>
              <a:rPr lang="hu-HU" sz="2975" spc="-130" noProof="0" dirty="0" err="1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route</a:t>
            </a:r>
            <a:r>
              <a:rPr lang="hu-HU" sz="2975" spc="-130" noProof="0" dirty="0">
                <a:solidFill>
                  <a:srgbClr val="FFFFFF"/>
                </a:solidFill>
                <a:latin typeface="Open Sauce"/>
                <a:ea typeface="Open Sauce"/>
                <a:cs typeface="Open Sauce"/>
                <a:sym typeface="Open Sauce"/>
              </a:rPr>
              <a:t>-ok</a:t>
            </a:r>
          </a:p>
          <a:p>
            <a:pPr algn="just">
              <a:lnSpc>
                <a:spcPts val="4165"/>
              </a:lnSpc>
            </a:pPr>
            <a:endParaRPr lang="hu-HU" sz="2975" spc="-130" noProof="0" dirty="0">
              <a:solidFill>
                <a:srgbClr val="FFFFFF"/>
              </a:solidFill>
              <a:latin typeface="Open Sauce"/>
              <a:ea typeface="Open Sauce"/>
              <a:cs typeface="Open Sauce"/>
              <a:sym typeface="Open Sauce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9144000" y="841660"/>
            <a:ext cx="18450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Szerepkörök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193810" y="841660"/>
            <a:ext cx="190708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Felépítés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117444" y="841660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Adatfolyam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053375" y="865423"/>
            <a:ext cx="2205925" cy="400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24"/>
              </a:lnSpc>
              <a:spcBef>
                <a:spcPct val="0"/>
              </a:spcBef>
            </a:pPr>
            <a:r>
              <a:rPr lang="hu-HU" sz="2232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Technológiák</a:t>
            </a:r>
          </a:p>
        </p:txBody>
      </p:sp>
      <p:sp>
        <p:nvSpPr>
          <p:cNvPr id="16" name="Freeform 1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D7C6992A-B4EC-A3B7-70A4-79C433EB88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E0A9CE0F-018D-23E1-CA3B-73C5A6E195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2150EDA4-56D7-5247-0A6A-7DBBCA82D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0968" y="1918694"/>
            <a:ext cx="4522867" cy="3571561"/>
            <a:chOff x="0" y="0"/>
            <a:chExt cx="1191208" cy="9406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91208" cy="940658"/>
            </a:xfrm>
            <a:custGeom>
              <a:avLst/>
              <a:gdLst/>
              <a:ahLst/>
              <a:cxnLst/>
              <a:rect l="l" t="t" r="r" b="b"/>
              <a:pathLst>
                <a:path w="1191208" h="940658">
                  <a:moveTo>
                    <a:pt x="95857" y="0"/>
                  </a:moveTo>
                  <a:lnTo>
                    <a:pt x="1095351" y="0"/>
                  </a:lnTo>
                  <a:cubicBezTo>
                    <a:pt x="1148291" y="0"/>
                    <a:pt x="1191208" y="42917"/>
                    <a:pt x="1191208" y="95857"/>
                  </a:cubicBezTo>
                  <a:lnTo>
                    <a:pt x="1191208" y="844801"/>
                  </a:lnTo>
                  <a:cubicBezTo>
                    <a:pt x="1191208" y="897741"/>
                    <a:pt x="1148291" y="940658"/>
                    <a:pt x="1095351" y="940658"/>
                  </a:cubicBezTo>
                  <a:lnTo>
                    <a:pt x="95857" y="940658"/>
                  </a:lnTo>
                  <a:cubicBezTo>
                    <a:pt x="42917" y="940658"/>
                    <a:pt x="0" y="897741"/>
                    <a:pt x="0" y="844801"/>
                  </a:cubicBezTo>
                  <a:lnTo>
                    <a:pt x="0" y="95857"/>
                  </a:lnTo>
                  <a:cubicBezTo>
                    <a:pt x="0" y="42917"/>
                    <a:pt x="42917" y="0"/>
                    <a:pt x="9585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191208" cy="100733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5688741"/>
            <a:ext cx="4522867" cy="3619424"/>
            <a:chOff x="0" y="0"/>
            <a:chExt cx="1036672" cy="82959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36672" cy="829596"/>
            </a:xfrm>
            <a:custGeom>
              <a:avLst/>
              <a:gdLst/>
              <a:ahLst/>
              <a:cxnLst/>
              <a:rect l="l" t="t" r="r" b="b"/>
              <a:pathLst>
                <a:path w="1036672" h="829596">
                  <a:moveTo>
                    <a:pt x="95857" y="0"/>
                  </a:moveTo>
                  <a:lnTo>
                    <a:pt x="940815" y="0"/>
                  </a:lnTo>
                  <a:cubicBezTo>
                    <a:pt x="966238" y="0"/>
                    <a:pt x="990619" y="10099"/>
                    <a:pt x="1008596" y="28076"/>
                  </a:cubicBezTo>
                  <a:cubicBezTo>
                    <a:pt x="1026573" y="46052"/>
                    <a:pt x="1036672" y="70434"/>
                    <a:pt x="1036672" y="95857"/>
                  </a:cubicBezTo>
                  <a:lnTo>
                    <a:pt x="1036672" y="733740"/>
                  </a:lnTo>
                  <a:cubicBezTo>
                    <a:pt x="1036672" y="786680"/>
                    <a:pt x="993755" y="829596"/>
                    <a:pt x="940815" y="829596"/>
                  </a:cubicBezTo>
                  <a:lnTo>
                    <a:pt x="95857" y="829596"/>
                  </a:lnTo>
                  <a:cubicBezTo>
                    <a:pt x="42917" y="829596"/>
                    <a:pt x="0" y="786680"/>
                    <a:pt x="0" y="733740"/>
                  </a:cubicBezTo>
                  <a:lnTo>
                    <a:pt x="0" y="95857"/>
                  </a:lnTo>
                  <a:cubicBezTo>
                    <a:pt x="0" y="42917"/>
                    <a:pt x="42917" y="0"/>
                    <a:pt x="9585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1036672" cy="89627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8" name="Freeform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41247" y="1822988"/>
            <a:ext cx="7868055" cy="7435312"/>
          </a:xfrm>
          <a:prstGeom prst="roundRect">
            <a:avLst>
              <a:gd name="adj" fmla="val 4856"/>
            </a:avLst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14410251" y="2552701"/>
            <a:ext cx="3127028" cy="6705600"/>
          </a:xfrm>
          <a:prstGeom prst="roundRect">
            <a:avLst>
              <a:gd name="adj" fmla="val 14640"/>
            </a:avLst>
          </a:prstGeom>
          <a:blipFill>
            <a:blip r:embed="rId5"/>
            <a:stretch>
              <a:fillRect b="-8449"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Funkciók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417845" y="641635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technológiák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726729" y="819695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5034325" y="841660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Adatbázis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64808" y="6250790"/>
            <a:ext cx="3601222" cy="25143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2315" lvl="1" indent="-346158" algn="l">
              <a:lnSpc>
                <a:spcPts val="3270"/>
              </a:lnSpc>
              <a:buFont typeface="Arial"/>
              <a:buChar char="•"/>
            </a:pPr>
            <a:r>
              <a:rPr lang="hu-HU" sz="3206" b="1" spc="-144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Login / </a:t>
            </a:r>
            <a:r>
              <a:rPr lang="hu-HU" sz="3206" b="1" spc="-144" noProof="0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Register</a:t>
            </a:r>
            <a:endParaRPr lang="hu-HU" sz="3206" b="1" spc="-144" noProof="0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692315" lvl="1" indent="-346158" algn="l">
              <a:lnSpc>
                <a:spcPts val="3270"/>
              </a:lnSpc>
              <a:buFont typeface="Arial"/>
              <a:buChar char="•"/>
            </a:pPr>
            <a:r>
              <a:rPr lang="hu-HU" sz="3206" b="1" spc="-144" noProof="0" dirty="0" err="1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Dashboard</a:t>
            </a:r>
            <a:endParaRPr lang="hu-HU" sz="3206" b="1" spc="-144" noProof="0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marL="692315" lvl="1" indent="-346158" algn="l">
              <a:lnSpc>
                <a:spcPts val="3270"/>
              </a:lnSpc>
              <a:buFont typeface="Arial"/>
              <a:buChar char="•"/>
            </a:pPr>
            <a:r>
              <a:rPr lang="hu-HU" sz="3206" b="1" spc="-144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Foglalási folyamat</a:t>
            </a:r>
          </a:p>
          <a:p>
            <a:pPr marL="692315" lvl="1" indent="-346158" algn="l">
              <a:lnSpc>
                <a:spcPts val="3270"/>
              </a:lnSpc>
              <a:buFont typeface="Arial"/>
              <a:buChar char="•"/>
            </a:pPr>
            <a:r>
              <a:rPr lang="hu-HU" sz="3206" b="1" spc="-144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Eszközlista</a:t>
            </a:r>
          </a:p>
          <a:p>
            <a:pPr marL="692315" lvl="1" indent="-346158" algn="l">
              <a:lnSpc>
                <a:spcPts val="3270"/>
              </a:lnSpc>
              <a:buFont typeface="Arial"/>
              <a:buChar char="•"/>
            </a:pPr>
            <a:r>
              <a:rPr lang="hu-HU" sz="3206" b="1" spc="-144" noProof="0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Reszponzív UI</a:t>
            </a:r>
          </a:p>
        </p:txBody>
      </p:sp>
      <p:sp>
        <p:nvSpPr>
          <p:cNvPr id="16" name="TextBox 16"/>
          <p:cNvSpPr txBox="1">
            <a:spLocks noGrp="1"/>
          </p:cNvSpPr>
          <p:nvPr>
            <p:ph type="title" idx="4294967295"/>
          </p:nvPr>
        </p:nvSpPr>
        <p:spPr>
          <a:xfrm>
            <a:off x="1291434" y="2563988"/>
            <a:ext cx="3541934" cy="215714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auto" latinLnBrk="0" hangingPunct="1">
              <a:lnSpc>
                <a:spcPts val="86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197" b="0" i="0" u="none" strike="noStrike" kern="1200" cap="none" spc="-272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uce"/>
                <a:ea typeface="Open Sauce"/>
                <a:cs typeface="Open Sauce"/>
                <a:sym typeface="Open Sauce"/>
              </a:rPr>
              <a:t>Frontend funkciók</a:t>
            </a:r>
          </a:p>
        </p:txBody>
      </p:sp>
      <p:pic>
        <p:nvPicPr>
          <p:cNvPr id="20" name="Kép 19" descr="Mobil nézet">
            <a:extLst>
              <a:ext uri="{FF2B5EF4-FFF2-40B4-BE49-F238E27FC236}">
                <a16:creationId xmlns:a16="http://schemas.microsoft.com/office/drawing/2014/main" id="{E40861DD-366A-DF4C-8019-2EDC7527E23B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54647" y="2247899"/>
            <a:ext cx="3638237" cy="7219405"/>
          </a:xfrm>
          <a:prstGeom prst="rect">
            <a:avLst/>
          </a:prstGeom>
        </p:spPr>
      </p:pic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59F9F869-9CA2-69A1-D377-63DBC0028D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 descr="Api diagramm"/>
          <p:cNvGrpSpPr/>
          <p:nvPr/>
        </p:nvGrpSpPr>
        <p:grpSpPr>
          <a:xfrm>
            <a:off x="5283561" y="1837745"/>
            <a:ext cx="12175993" cy="8059017"/>
            <a:chOff x="0" y="0"/>
            <a:chExt cx="1924824" cy="127985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24824" cy="1279851"/>
            </a:xfrm>
            <a:custGeom>
              <a:avLst/>
              <a:gdLst/>
              <a:ahLst/>
              <a:cxnLst/>
              <a:rect l="l" t="t" r="r" b="b"/>
              <a:pathLst>
                <a:path w="1924824" h="1279851">
                  <a:moveTo>
                    <a:pt x="34896" y="0"/>
                  </a:moveTo>
                  <a:lnTo>
                    <a:pt x="1889929" y="0"/>
                  </a:lnTo>
                  <a:cubicBezTo>
                    <a:pt x="1899183" y="0"/>
                    <a:pt x="1908059" y="3676"/>
                    <a:pt x="1914603" y="10221"/>
                  </a:cubicBezTo>
                  <a:cubicBezTo>
                    <a:pt x="1921148" y="16765"/>
                    <a:pt x="1924824" y="25641"/>
                    <a:pt x="1924824" y="34896"/>
                  </a:cubicBezTo>
                  <a:lnTo>
                    <a:pt x="1924824" y="1244956"/>
                  </a:lnTo>
                  <a:cubicBezTo>
                    <a:pt x="1924824" y="1254211"/>
                    <a:pt x="1921148" y="1263087"/>
                    <a:pt x="1914603" y="1269631"/>
                  </a:cubicBezTo>
                  <a:cubicBezTo>
                    <a:pt x="1908059" y="1276175"/>
                    <a:pt x="1899183" y="1279851"/>
                    <a:pt x="1889929" y="1279851"/>
                  </a:cubicBezTo>
                  <a:lnTo>
                    <a:pt x="34896" y="1279851"/>
                  </a:lnTo>
                  <a:cubicBezTo>
                    <a:pt x="25641" y="1279851"/>
                    <a:pt x="16765" y="1276175"/>
                    <a:pt x="10221" y="1269631"/>
                  </a:cubicBezTo>
                  <a:cubicBezTo>
                    <a:pt x="3676" y="1263087"/>
                    <a:pt x="0" y="1254211"/>
                    <a:pt x="0" y="1244956"/>
                  </a:cubicBezTo>
                  <a:lnTo>
                    <a:pt x="0" y="34896"/>
                  </a:lnTo>
                  <a:cubicBezTo>
                    <a:pt x="0" y="25641"/>
                    <a:pt x="3676" y="16765"/>
                    <a:pt x="10221" y="10221"/>
                  </a:cubicBezTo>
                  <a:cubicBezTo>
                    <a:pt x="16765" y="3676"/>
                    <a:pt x="25641" y="0"/>
                    <a:pt x="34896" y="0"/>
                  </a:cubicBezTo>
                  <a:close/>
                </a:path>
              </a:pathLst>
            </a:custGeom>
            <a:blipFill>
              <a:blip r:embed="rId3"/>
              <a:stretch>
                <a:fillRect t="-2544" b="-2544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grpSp>
        <p:nvGrpSpPr>
          <p:cNvPr id="4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4121613" cy="2477588"/>
            <a:chOff x="0" y="0"/>
            <a:chExt cx="1085528" cy="652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085528" cy="652533"/>
            </a:xfrm>
            <a:custGeom>
              <a:avLst/>
              <a:gdLst/>
              <a:ahLst/>
              <a:cxnLst/>
              <a:rect l="l" t="t" r="r" b="b"/>
              <a:pathLst>
                <a:path w="1085528" h="652533">
                  <a:moveTo>
                    <a:pt x="105189" y="0"/>
                  </a:moveTo>
                  <a:lnTo>
                    <a:pt x="980339" y="0"/>
                  </a:lnTo>
                  <a:cubicBezTo>
                    <a:pt x="1038433" y="0"/>
                    <a:pt x="1085528" y="47095"/>
                    <a:pt x="1085528" y="105189"/>
                  </a:cubicBezTo>
                  <a:lnTo>
                    <a:pt x="1085528" y="547345"/>
                  </a:lnTo>
                  <a:cubicBezTo>
                    <a:pt x="1085528" y="575242"/>
                    <a:pt x="1074445" y="601998"/>
                    <a:pt x="1054719" y="621724"/>
                  </a:cubicBezTo>
                  <a:cubicBezTo>
                    <a:pt x="1034992" y="641451"/>
                    <a:pt x="1008237" y="652533"/>
                    <a:pt x="980339" y="652533"/>
                  </a:cubicBezTo>
                  <a:lnTo>
                    <a:pt x="105189" y="652533"/>
                  </a:lnTo>
                  <a:cubicBezTo>
                    <a:pt x="77291" y="652533"/>
                    <a:pt x="50536" y="641451"/>
                    <a:pt x="30809" y="621724"/>
                  </a:cubicBezTo>
                  <a:cubicBezTo>
                    <a:pt x="11082" y="601998"/>
                    <a:pt x="0" y="575242"/>
                    <a:pt x="0" y="547345"/>
                  </a:cubicBezTo>
                  <a:lnTo>
                    <a:pt x="0" y="105189"/>
                  </a:lnTo>
                  <a:cubicBezTo>
                    <a:pt x="0" y="77291"/>
                    <a:pt x="11082" y="50536"/>
                    <a:pt x="30809" y="30809"/>
                  </a:cubicBezTo>
                  <a:cubicBezTo>
                    <a:pt x="50536" y="11082"/>
                    <a:pt x="77291" y="0"/>
                    <a:pt x="105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085528" cy="719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7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4883665"/>
            <a:ext cx="4121613" cy="4610927"/>
            <a:chOff x="0" y="0"/>
            <a:chExt cx="1085528" cy="1214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085528" cy="1214401"/>
            </a:xfrm>
            <a:custGeom>
              <a:avLst/>
              <a:gdLst/>
              <a:ahLst/>
              <a:cxnLst/>
              <a:rect l="l" t="t" r="r" b="b"/>
              <a:pathLst>
                <a:path w="1085528" h="1214401">
                  <a:moveTo>
                    <a:pt x="105189" y="0"/>
                  </a:moveTo>
                  <a:lnTo>
                    <a:pt x="980339" y="0"/>
                  </a:lnTo>
                  <a:cubicBezTo>
                    <a:pt x="1038433" y="0"/>
                    <a:pt x="1085528" y="47095"/>
                    <a:pt x="1085528" y="105189"/>
                  </a:cubicBezTo>
                  <a:lnTo>
                    <a:pt x="1085528" y="1109212"/>
                  </a:lnTo>
                  <a:cubicBezTo>
                    <a:pt x="1085528" y="1137110"/>
                    <a:pt x="1074445" y="1163865"/>
                    <a:pt x="1054719" y="1183592"/>
                  </a:cubicBezTo>
                  <a:cubicBezTo>
                    <a:pt x="1034992" y="1203318"/>
                    <a:pt x="1008237" y="1214401"/>
                    <a:pt x="980339" y="1214401"/>
                  </a:cubicBezTo>
                  <a:lnTo>
                    <a:pt x="105189" y="1214401"/>
                  </a:lnTo>
                  <a:cubicBezTo>
                    <a:pt x="77291" y="1214401"/>
                    <a:pt x="50536" y="1203318"/>
                    <a:pt x="30809" y="1183592"/>
                  </a:cubicBezTo>
                  <a:cubicBezTo>
                    <a:pt x="11082" y="1163865"/>
                    <a:pt x="0" y="1137110"/>
                    <a:pt x="0" y="1109212"/>
                  </a:cubicBezTo>
                  <a:lnTo>
                    <a:pt x="0" y="105189"/>
                  </a:lnTo>
                  <a:cubicBezTo>
                    <a:pt x="0" y="77291"/>
                    <a:pt x="11082" y="50536"/>
                    <a:pt x="30809" y="30809"/>
                  </a:cubicBezTo>
                  <a:cubicBezTo>
                    <a:pt x="50536" y="11082"/>
                    <a:pt x="77291" y="0"/>
                    <a:pt x="1051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9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085528" cy="1281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354504" y="5775936"/>
            <a:ext cx="3020577" cy="273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hu-HU" sz="30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Node.js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hu-HU" sz="30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Express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hu-HU" sz="30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REST API</a:t>
            </a:r>
          </a:p>
          <a:p>
            <a:pPr marL="669286" lvl="1" indent="-334643" algn="l">
              <a:lnSpc>
                <a:spcPts val="4339"/>
              </a:lnSpc>
              <a:buFont typeface="Arial"/>
              <a:buChar char="•"/>
            </a:pPr>
            <a:r>
              <a:rPr lang="hu-HU" sz="30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Middleware</a:t>
            </a:r>
            <a:r>
              <a:rPr lang="hu-HU" sz="30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rendszer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049705" y="2518825"/>
            <a:ext cx="3630174" cy="125796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4704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4612" b="1" i="0" u="none" strike="noStrike" kern="1200" cap="none" spc="-20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Backend technológiák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Funkciók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7845" y="641635"/>
            <a:ext cx="196542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Backend technológiák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26729" y="819695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34325" y="841660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Adatbázis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781E64C7-B57B-2273-4185-86A44FF18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8597596" cy="2790475"/>
            <a:chOff x="0" y="0"/>
            <a:chExt cx="2937671" cy="953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7671" cy="953464"/>
            </a:xfrm>
            <a:custGeom>
              <a:avLst/>
              <a:gdLst/>
              <a:ahLst/>
              <a:cxnLst/>
              <a:rect l="l" t="t" r="r" b="b"/>
              <a:pathLst>
                <a:path w="2937671" h="953464">
                  <a:moveTo>
                    <a:pt x="50427" y="0"/>
                  </a:moveTo>
                  <a:lnTo>
                    <a:pt x="2887244" y="0"/>
                  </a:lnTo>
                  <a:cubicBezTo>
                    <a:pt x="2915094" y="0"/>
                    <a:pt x="2937671" y="22577"/>
                    <a:pt x="2937671" y="50427"/>
                  </a:cubicBezTo>
                  <a:lnTo>
                    <a:pt x="2937671" y="903038"/>
                  </a:lnTo>
                  <a:cubicBezTo>
                    <a:pt x="2937671" y="930887"/>
                    <a:pt x="2915094" y="953464"/>
                    <a:pt x="2887244" y="953464"/>
                  </a:cubicBezTo>
                  <a:lnTo>
                    <a:pt x="50427" y="953464"/>
                  </a:lnTo>
                  <a:cubicBezTo>
                    <a:pt x="22577" y="953464"/>
                    <a:pt x="0" y="930887"/>
                    <a:pt x="0" y="903038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37671" cy="1020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5143500"/>
            <a:ext cx="8597596" cy="4407758"/>
            <a:chOff x="0" y="0"/>
            <a:chExt cx="2264387" cy="1160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4387" cy="1160891"/>
            </a:xfrm>
            <a:custGeom>
              <a:avLst/>
              <a:gdLst/>
              <a:ahLst/>
              <a:cxnLst/>
              <a:rect l="l" t="t" r="r" b="b"/>
              <a:pathLst>
                <a:path w="2264387" h="1160891">
                  <a:moveTo>
                    <a:pt x="50427" y="0"/>
                  </a:moveTo>
                  <a:lnTo>
                    <a:pt x="2213961" y="0"/>
                  </a:lnTo>
                  <a:cubicBezTo>
                    <a:pt x="2241811" y="0"/>
                    <a:pt x="2264387" y="22577"/>
                    <a:pt x="2264387" y="50427"/>
                  </a:cubicBezTo>
                  <a:lnTo>
                    <a:pt x="2264387" y="1110464"/>
                  </a:lnTo>
                  <a:cubicBezTo>
                    <a:pt x="2264387" y="1138314"/>
                    <a:pt x="2241811" y="1160891"/>
                    <a:pt x="2213961" y="1160891"/>
                  </a:cubicBezTo>
                  <a:lnTo>
                    <a:pt x="50427" y="1160891"/>
                  </a:lnTo>
                  <a:cubicBezTo>
                    <a:pt x="22577" y="1160891"/>
                    <a:pt x="0" y="1138314"/>
                    <a:pt x="0" y="1110464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64387" cy="122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8" name="Group 8" descr="Thunderclient teszt&#10;"/>
          <p:cNvGrpSpPr/>
          <p:nvPr/>
        </p:nvGrpSpPr>
        <p:grpSpPr>
          <a:xfrm>
            <a:off x="9763586" y="2371701"/>
            <a:ext cx="8179087" cy="6634716"/>
            <a:chOff x="0" y="0"/>
            <a:chExt cx="1201467" cy="9746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1467" cy="974607"/>
            </a:xfrm>
            <a:custGeom>
              <a:avLst/>
              <a:gdLst/>
              <a:ahLst/>
              <a:cxnLst/>
              <a:rect l="l" t="t" r="r" b="b"/>
              <a:pathLst>
                <a:path w="1201467" h="974607">
                  <a:moveTo>
                    <a:pt x="53007" y="0"/>
                  </a:moveTo>
                  <a:lnTo>
                    <a:pt x="1148461" y="0"/>
                  </a:lnTo>
                  <a:cubicBezTo>
                    <a:pt x="1162519" y="0"/>
                    <a:pt x="1176001" y="5585"/>
                    <a:pt x="1185942" y="15525"/>
                  </a:cubicBezTo>
                  <a:cubicBezTo>
                    <a:pt x="1195883" y="25466"/>
                    <a:pt x="1201467" y="38949"/>
                    <a:pt x="1201467" y="53007"/>
                  </a:cubicBezTo>
                  <a:lnTo>
                    <a:pt x="1201467" y="921600"/>
                  </a:lnTo>
                  <a:cubicBezTo>
                    <a:pt x="1201467" y="950875"/>
                    <a:pt x="1177735" y="974607"/>
                    <a:pt x="1148461" y="974607"/>
                  </a:cubicBezTo>
                  <a:lnTo>
                    <a:pt x="53007" y="974607"/>
                  </a:lnTo>
                  <a:cubicBezTo>
                    <a:pt x="23732" y="974607"/>
                    <a:pt x="0" y="950875"/>
                    <a:pt x="0" y="921600"/>
                  </a:cubicBezTo>
                  <a:lnTo>
                    <a:pt x="0" y="53007"/>
                  </a:lnTo>
                  <a:cubicBezTo>
                    <a:pt x="0" y="23732"/>
                    <a:pt x="23732" y="0"/>
                    <a:pt x="53007" y="0"/>
                  </a:cubicBezTo>
                  <a:close/>
                </a:path>
              </a:pathLst>
            </a:custGeom>
            <a:blipFill>
              <a:blip r:embed="rId3"/>
              <a:stretch>
                <a:fillRect l="-883" r="-883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316374" y="5546184"/>
            <a:ext cx="7697643" cy="34118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1036307" lvl="1" indent="-518154" algn="l">
              <a:lnSpc>
                <a:spcPts val="6719"/>
              </a:lnSpc>
              <a:buFont typeface="Arial"/>
              <a:buChar char="•"/>
            </a:pPr>
            <a:r>
              <a:rPr lang="hu-HU" sz="4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 </a:t>
            </a:r>
            <a:r>
              <a:rPr lang="hu-HU" sz="47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endpointok</a:t>
            </a:r>
            <a:endParaRPr lang="hu-HU" sz="47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1036307" lvl="1" indent="-518154" algn="l">
              <a:lnSpc>
                <a:spcPts val="6719"/>
              </a:lnSpc>
              <a:buFont typeface="Arial"/>
              <a:buChar char="•"/>
            </a:pPr>
            <a:r>
              <a:rPr lang="hu-HU" sz="4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Eszköz CRUD</a:t>
            </a:r>
          </a:p>
          <a:p>
            <a:pPr marL="1036307" lvl="1" indent="-518154" algn="l">
              <a:lnSpc>
                <a:spcPts val="6719"/>
              </a:lnSpc>
              <a:buFont typeface="Arial"/>
              <a:buChar char="•"/>
            </a:pPr>
            <a:r>
              <a:rPr lang="hu-HU" sz="4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Foglalás kezelés</a:t>
            </a:r>
          </a:p>
          <a:p>
            <a:pPr marL="1036307" lvl="1" indent="-518154" algn="l">
              <a:lnSpc>
                <a:spcPts val="6719"/>
              </a:lnSpc>
              <a:buFont typeface="Arial"/>
              <a:buChar char="•"/>
            </a:pPr>
            <a:r>
              <a:rPr lang="hu-HU" sz="47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Időpont kezelés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517036" y="2488889"/>
            <a:ext cx="7074263" cy="18402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8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752" b="1" i="0" u="none" strike="noStrike" kern="1200" cap="none" spc="-3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REST API felépítés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Funkciók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17845" y="641635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technológiák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26729" y="819695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API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34325" y="841660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Adatbázis</a:t>
            </a:r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5577C61C-995D-3F45-E365-22D2213AAD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57A6AC21-BFF0-FE3D-9462-6CA764095E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Freeform 3">
            <a:extLst>
              <a:ext uri="{FF2B5EF4-FFF2-40B4-BE49-F238E27FC236}">
                <a16:creationId xmlns:a16="http://schemas.microsoft.com/office/drawing/2014/main" id="{0301789F-DBC6-FF0D-FBF9-DAFACE341F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C790F38B-A68E-A676-0719-A48E577CA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00A8CC">
                <a:alpha val="21961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4795861"/>
            <a:ext cx="4902550" cy="4660838"/>
            <a:chOff x="0" y="0"/>
            <a:chExt cx="1291206" cy="122754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291206" cy="1227546"/>
            </a:xfrm>
            <a:custGeom>
              <a:avLst/>
              <a:gdLst/>
              <a:ahLst/>
              <a:cxnLst/>
              <a:rect l="l" t="t" r="r" b="b"/>
              <a:pathLst>
                <a:path w="1291206" h="1227546">
                  <a:moveTo>
                    <a:pt x="88433" y="0"/>
                  </a:moveTo>
                  <a:lnTo>
                    <a:pt x="1202773" y="0"/>
                  </a:lnTo>
                  <a:cubicBezTo>
                    <a:pt x="1251614" y="0"/>
                    <a:pt x="1291206" y="39593"/>
                    <a:pt x="1291206" y="88433"/>
                  </a:cubicBezTo>
                  <a:lnTo>
                    <a:pt x="1291206" y="1139113"/>
                  </a:lnTo>
                  <a:cubicBezTo>
                    <a:pt x="1291206" y="1162567"/>
                    <a:pt x="1281889" y="1185060"/>
                    <a:pt x="1265305" y="1201644"/>
                  </a:cubicBezTo>
                  <a:cubicBezTo>
                    <a:pt x="1248721" y="1218229"/>
                    <a:pt x="1226227" y="1227546"/>
                    <a:pt x="1202773" y="1227546"/>
                  </a:cubicBezTo>
                  <a:lnTo>
                    <a:pt x="88433" y="1227546"/>
                  </a:lnTo>
                  <a:cubicBezTo>
                    <a:pt x="64979" y="1227546"/>
                    <a:pt x="42486" y="1218229"/>
                    <a:pt x="25901" y="1201644"/>
                  </a:cubicBezTo>
                  <a:cubicBezTo>
                    <a:pt x="9317" y="1185060"/>
                    <a:pt x="0" y="1162567"/>
                    <a:pt x="0" y="1139113"/>
                  </a:cubicBezTo>
                  <a:lnTo>
                    <a:pt x="0" y="88433"/>
                  </a:lnTo>
                  <a:cubicBezTo>
                    <a:pt x="0" y="64979"/>
                    <a:pt x="9317" y="42486"/>
                    <a:pt x="25901" y="25901"/>
                  </a:cubicBezTo>
                  <a:cubicBezTo>
                    <a:pt x="42486" y="9317"/>
                    <a:pt x="64979" y="0"/>
                    <a:pt x="88433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38100"/>
              <a:ext cx="1291206" cy="126564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grpSp>
        <p:nvGrpSpPr>
          <p:cNvPr id="8" name="Group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11360" y="1796578"/>
            <a:ext cx="4895175" cy="2555903"/>
            <a:chOff x="0" y="0"/>
            <a:chExt cx="1289264" cy="67316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89264" cy="673160"/>
            </a:xfrm>
            <a:custGeom>
              <a:avLst/>
              <a:gdLst/>
              <a:ahLst/>
              <a:cxnLst/>
              <a:rect l="l" t="t" r="r" b="b"/>
              <a:pathLst>
                <a:path w="1289264" h="673160">
                  <a:moveTo>
                    <a:pt x="88566" y="0"/>
                  </a:moveTo>
                  <a:lnTo>
                    <a:pt x="1200698" y="0"/>
                  </a:lnTo>
                  <a:cubicBezTo>
                    <a:pt x="1224187" y="0"/>
                    <a:pt x="1246715" y="9331"/>
                    <a:pt x="1263324" y="25940"/>
                  </a:cubicBezTo>
                  <a:cubicBezTo>
                    <a:pt x="1279933" y="42550"/>
                    <a:pt x="1289264" y="65077"/>
                    <a:pt x="1289264" y="88566"/>
                  </a:cubicBezTo>
                  <a:lnTo>
                    <a:pt x="1289264" y="584593"/>
                  </a:lnTo>
                  <a:cubicBezTo>
                    <a:pt x="1289264" y="633507"/>
                    <a:pt x="1249612" y="673160"/>
                    <a:pt x="1200698" y="673160"/>
                  </a:cubicBezTo>
                  <a:lnTo>
                    <a:pt x="88566" y="673160"/>
                  </a:lnTo>
                  <a:cubicBezTo>
                    <a:pt x="65077" y="673160"/>
                    <a:pt x="42550" y="663828"/>
                    <a:pt x="25940" y="647219"/>
                  </a:cubicBezTo>
                  <a:cubicBezTo>
                    <a:pt x="9331" y="630610"/>
                    <a:pt x="0" y="608083"/>
                    <a:pt x="0" y="584593"/>
                  </a:cubicBezTo>
                  <a:lnTo>
                    <a:pt x="0" y="88566"/>
                  </a:lnTo>
                  <a:cubicBezTo>
                    <a:pt x="0" y="65077"/>
                    <a:pt x="9331" y="42550"/>
                    <a:pt x="25940" y="25940"/>
                  </a:cubicBezTo>
                  <a:cubicBezTo>
                    <a:pt x="42550" y="9331"/>
                    <a:pt x="65077" y="0"/>
                    <a:pt x="88566" y="0"/>
                  </a:cubicBezTo>
                  <a:close/>
                </a:path>
              </a:pathLst>
            </a:custGeom>
            <a:solidFill>
              <a:srgbClr val="FFFFFF">
                <a:alpha val="21961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1289264" cy="711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sp>
        <p:nvSpPr>
          <p:cNvPr id="11" name="Freeform 11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2" name="Freeform 1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35095" y="1711865"/>
            <a:ext cx="10724206" cy="7798342"/>
          </a:xfrm>
          <a:prstGeom prst="roundRect">
            <a:avLst>
              <a:gd name="adj" fmla="val 4804"/>
            </a:avLst>
          </a:pr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1647242" y="5119680"/>
            <a:ext cx="6978890" cy="3946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ertekeles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eszkoz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page_review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felhasznalo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foglalas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idopont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log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mentor_ertekeles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uzemelteto</a:t>
            </a:r>
            <a:endParaRPr lang="hu-HU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4" name="TextBox 14"/>
          <p:cNvSpPr txBox="1">
            <a:spLocks noGrp="1"/>
          </p:cNvSpPr>
          <p:nvPr>
            <p:ph type="title" idx="4294967295"/>
          </p:nvPr>
        </p:nvSpPr>
        <p:spPr>
          <a:xfrm>
            <a:off x="350685" y="2147937"/>
            <a:ext cx="5816524" cy="189128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03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899" b="1" i="0" u="none" strike="noStrike" kern="1200" cap="none" spc="-31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Adatbázis felépítés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144000" y="841660"/>
            <a:ext cx="1662550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Funkciók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417845" y="641635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technológiák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726729" y="819695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5034325" y="841660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Adatbázis</a:t>
            </a: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3">
            <a:extLst>
              <a:ext uri="{FF2B5EF4-FFF2-40B4-BE49-F238E27FC236}">
                <a16:creationId xmlns:a16="http://schemas.microsoft.com/office/drawing/2014/main" id="{5D276EF8-A18E-0682-AB9E-C6505145B8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810643" y="2923292"/>
            <a:ext cx="9783203" cy="5849788"/>
            <a:chOff x="0" y="0"/>
            <a:chExt cx="2576646" cy="1540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646" cy="1540685"/>
            </a:xfrm>
            <a:custGeom>
              <a:avLst/>
              <a:gdLst/>
              <a:ahLst/>
              <a:cxnLst/>
              <a:rect l="l" t="t" r="r" b="b"/>
              <a:pathLst>
                <a:path w="2576646" h="1540685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9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grpSp>
        <p:nvGrpSpPr>
          <p:cNvPr id="6" name="Group 6" descr="Lock kép"/>
          <p:cNvGrpSpPr/>
          <p:nvPr/>
        </p:nvGrpSpPr>
        <p:grpSpPr>
          <a:xfrm>
            <a:off x="1096762" y="2923292"/>
            <a:ext cx="6270972" cy="5911234"/>
            <a:chOff x="0" y="0"/>
            <a:chExt cx="944436" cy="8902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4436" cy="890258"/>
            </a:xfrm>
            <a:custGeom>
              <a:avLst/>
              <a:gdLst/>
              <a:ahLst/>
              <a:cxnLst/>
              <a:rect l="l" t="t" r="r" b="b"/>
              <a:pathLst>
                <a:path w="944436" h="890258">
                  <a:moveTo>
                    <a:pt x="69136" y="0"/>
                  </a:moveTo>
                  <a:lnTo>
                    <a:pt x="875301" y="0"/>
                  </a:lnTo>
                  <a:cubicBezTo>
                    <a:pt x="893636" y="0"/>
                    <a:pt x="911221" y="7284"/>
                    <a:pt x="924187" y="20249"/>
                  </a:cubicBezTo>
                  <a:cubicBezTo>
                    <a:pt x="937152" y="33215"/>
                    <a:pt x="944436" y="50800"/>
                    <a:pt x="944436" y="69136"/>
                  </a:cubicBezTo>
                  <a:lnTo>
                    <a:pt x="944436" y="821122"/>
                  </a:lnTo>
                  <a:cubicBezTo>
                    <a:pt x="944436" y="839458"/>
                    <a:pt x="937152" y="857043"/>
                    <a:pt x="924187" y="870009"/>
                  </a:cubicBezTo>
                  <a:cubicBezTo>
                    <a:pt x="911221" y="882974"/>
                    <a:pt x="893636" y="890258"/>
                    <a:pt x="875301" y="890258"/>
                  </a:cubicBezTo>
                  <a:lnTo>
                    <a:pt x="69136" y="890258"/>
                  </a:lnTo>
                  <a:cubicBezTo>
                    <a:pt x="30953" y="890258"/>
                    <a:pt x="0" y="859305"/>
                    <a:pt x="0" y="821122"/>
                  </a:cubicBezTo>
                  <a:lnTo>
                    <a:pt x="0" y="69136"/>
                  </a:lnTo>
                  <a:cubicBezTo>
                    <a:pt x="0" y="50800"/>
                    <a:pt x="7284" y="33215"/>
                    <a:pt x="20249" y="20249"/>
                  </a:cubicBezTo>
                  <a:cubicBezTo>
                    <a:pt x="33215" y="7284"/>
                    <a:pt x="50800" y="0"/>
                    <a:pt x="69136" y="0"/>
                  </a:cubicBezTo>
                  <a:close/>
                </a:path>
              </a:pathLst>
            </a:custGeom>
            <a:blipFill>
              <a:blip r:embed="rId4"/>
              <a:stretch>
                <a:fillRect t="-3042" b="-3042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567686" y="5533250"/>
            <a:ext cx="8269119" cy="1927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JWT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token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alapú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auth</a:t>
            </a:r>
            <a:endParaRPr lang="hu-HU" sz="35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Adminvs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user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endpointok</a:t>
            </a:r>
            <a:endParaRPr lang="hu-HU" sz="35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Middleware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ellenőrzés</a:t>
            </a:r>
          </a:p>
        </p:txBody>
      </p:sp>
      <p:sp>
        <p:nvSpPr>
          <p:cNvPr id="9" name="TextBox 9"/>
          <p:cNvSpPr txBox="1">
            <a:spLocks noGrp="1"/>
          </p:cNvSpPr>
          <p:nvPr>
            <p:ph type="title" idx="4294967295"/>
          </p:nvPr>
        </p:nvSpPr>
        <p:spPr>
          <a:xfrm>
            <a:off x="8567686" y="3701917"/>
            <a:ext cx="8656428" cy="10862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7669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7519" b="1" i="0" u="none" strike="noStrike" kern="1200" cap="none" spc="-338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Jogosultságkezelés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Jogosultságok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466461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Foglalási folyamat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Fejlesztői struktúra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Tesztelés és hibakezelés</a:t>
            </a: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7389612D-F072-DEEB-B491-F83A21F23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Freeform 3">
            <a:extLst>
              <a:ext uri="{FF2B5EF4-FFF2-40B4-BE49-F238E27FC236}">
                <a16:creationId xmlns:a16="http://schemas.microsoft.com/office/drawing/2014/main" id="{070CD530-38B6-3DDA-9D00-3435B2813B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 descr="foglalasi folyamat 1."/>
          <p:cNvGrpSpPr/>
          <p:nvPr/>
        </p:nvGrpSpPr>
        <p:grpSpPr>
          <a:xfrm>
            <a:off x="7067353" y="1894724"/>
            <a:ext cx="8252914" cy="7599868"/>
            <a:chOff x="0" y="0"/>
            <a:chExt cx="1278592" cy="11774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278592" cy="1177418"/>
            </a:xfrm>
            <a:custGeom>
              <a:avLst/>
              <a:gdLst/>
              <a:ahLst/>
              <a:cxnLst/>
              <a:rect l="l" t="t" r="r" b="b"/>
              <a:pathLst>
                <a:path w="1278592" h="1177418">
                  <a:moveTo>
                    <a:pt x="52533" y="0"/>
                  </a:moveTo>
                  <a:lnTo>
                    <a:pt x="1226060" y="0"/>
                  </a:lnTo>
                  <a:cubicBezTo>
                    <a:pt x="1239992" y="0"/>
                    <a:pt x="1253354" y="5535"/>
                    <a:pt x="1263206" y="15386"/>
                  </a:cubicBezTo>
                  <a:cubicBezTo>
                    <a:pt x="1273058" y="25238"/>
                    <a:pt x="1278592" y="38600"/>
                    <a:pt x="1278592" y="52533"/>
                  </a:cubicBezTo>
                  <a:lnTo>
                    <a:pt x="1278592" y="1124886"/>
                  </a:lnTo>
                  <a:cubicBezTo>
                    <a:pt x="1278592" y="1138818"/>
                    <a:pt x="1273058" y="1152180"/>
                    <a:pt x="1263206" y="1162032"/>
                  </a:cubicBezTo>
                  <a:cubicBezTo>
                    <a:pt x="1253354" y="1171884"/>
                    <a:pt x="1239992" y="1177418"/>
                    <a:pt x="1226060" y="1177418"/>
                  </a:cubicBezTo>
                  <a:lnTo>
                    <a:pt x="52533" y="1177418"/>
                  </a:lnTo>
                  <a:cubicBezTo>
                    <a:pt x="38600" y="1177418"/>
                    <a:pt x="25238" y="1171884"/>
                    <a:pt x="15386" y="1162032"/>
                  </a:cubicBezTo>
                  <a:cubicBezTo>
                    <a:pt x="5535" y="1152180"/>
                    <a:pt x="0" y="1138818"/>
                    <a:pt x="0" y="1124886"/>
                  </a:cubicBezTo>
                  <a:lnTo>
                    <a:pt x="0" y="52533"/>
                  </a:lnTo>
                  <a:cubicBezTo>
                    <a:pt x="0" y="38600"/>
                    <a:pt x="5535" y="25238"/>
                    <a:pt x="15386" y="15386"/>
                  </a:cubicBezTo>
                  <a:cubicBezTo>
                    <a:pt x="25238" y="5535"/>
                    <a:pt x="38600" y="0"/>
                    <a:pt x="52533" y="0"/>
                  </a:cubicBezTo>
                  <a:close/>
                </a:path>
              </a:pathLst>
            </a:custGeom>
            <a:blipFill>
              <a:blip r:embed="rId3"/>
              <a:stretch>
                <a:fillRect l="-389" r="-389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grpSp>
        <p:nvGrpSpPr>
          <p:cNvPr id="4" name="Group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5327282" cy="2477588"/>
            <a:chOff x="0" y="0"/>
            <a:chExt cx="1403070" cy="652533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403070" cy="652533"/>
            </a:xfrm>
            <a:custGeom>
              <a:avLst/>
              <a:gdLst/>
              <a:ahLst/>
              <a:cxnLst/>
              <a:rect l="l" t="t" r="r" b="b"/>
              <a:pathLst>
                <a:path w="1403070" h="652533">
                  <a:moveTo>
                    <a:pt x="81383" y="0"/>
                  </a:moveTo>
                  <a:lnTo>
                    <a:pt x="1321688" y="0"/>
                  </a:lnTo>
                  <a:cubicBezTo>
                    <a:pt x="1366634" y="0"/>
                    <a:pt x="1403070" y="36436"/>
                    <a:pt x="1403070" y="81383"/>
                  </a:cubicBezTo>
                  <a:lnTo>
                    <a:pt x="1403070" y="571151"/>
                  </a:lnTo>
                  <a:cubicBezTo>
                    <a:pt x="1403070" y="616097"/>
                    <a:pt x="1366634" y="652533"/>
                    <a:pt x="1321688" y="652533"/>
                  </a:cubicBezTo>
                  <a:lnTo>
                    <a:pt x="81383" y="652533"/>
                  </a:lnTo>
                  <a:cubicBezTo>
                    <a:pt x="36436" y="652533"/>
                    <a:pt x="0" y="616097"/>
                    <a:pt x="0" y="571151"/>
                  </a:cubicBezTo>
                  <a:lnTo>
                    <a:pt x="0" y="81383"/>
                  </a:lnTo>
                  <a:cubicBezTo>
                    <a:pt x="0" y="36436"/>
                    <a:pt x="36436" y="0"/>
                    <a:pt x="813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66675"/>
              <a:ext cx="1403070" cy="719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7" name="Group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4883665"/>
            <a:ext cx="5327282" cy="4610927"/>
            <a:chOff x="0" y="0"/>
            <a:chExt cx="1403070" cy="121440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1403070" cy="1214401"/>
            </a:xfrm>
            <a:custGeom>
              <a:avLst/>
              <a:gdLst/>
              <a:ahLst/>
              <a:cxnLst/>
              <a:rect l="l" t="t" r="r" b="b"/>
              <a:pathLst>
                <a:path w="1403070" h="1214401">
                  <a:moveTo>
                    <a:pt x="81383" y="0"/>
                  </a:moveTo>
                  <a:lnTo>
                    <a:pt x="1321688" y="0"/>
                  </a:lnTo>
                  <a:cubicBezTo>
                    <a:pt x="1366634" y="0"/>
                    <a:pt x="1403070" y="36436"/>
                    <a:pt x="1403070" y="81383"/>
                  </a:cubicBezTo>
                  <a:lnTo>
                    <a:pt x="1403070" y="1133018"/>
                  </a:lnTo>
                  <a:cubicBezTo>
                    <a:pt x="1403070" y="1177964"/>
                    <a:pt x="1366634" y="1214401"/>
                    <a:pt x="1321688" y="1214401"/>
                  </a:cubicBezTo>
                  <a:lnTo>
                    <a:pt x="81383" y="1214401"/>
                  </a:lnTo>
                  <a:cubicBezTo>
                    <a:pt x="36436" y="1214401"/>
                    <a:pt x="0" y="1177964"/>
                    <a:pt x="0" y="1133018"/>
                  </a:cubicBezTo>
                  <a:lnTo>
                    <a:pt x="0" y="81383"/>
                  </a:lnTo>
                  <a:cubicBezTo>
                    <a:pt x="0" y="36436"/>
                    <a:pt x="36436" y="0"/>
                    <a:pt x="81383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58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66675"/>
              <a:ext cx="1403070" cy="128107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515543" y="6241073"/>
            <a:ext cx="3904167" cy="18294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Eszköz kiválasztás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Időpont választás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Adatok megadása</a:t>
            </a:r>
          </a:p>
          <a:p>
            <a:pPr marL="561339" lvl="1" indent="-280669" algn="l">
              <a:lnSpc>
                <a:spcPts val="3639"/>
              </a:lnSpc>
              <a:buFont typeface="Arial"/>
              <a:buChar char="•"/>
            </a:pPr>
            <a:r>
              <a:rPr lang="hu-HU" sz="2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Véglegesítés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328945" y="2372902"/>
            <a:ext cx="4277362" cy="155933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5826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5712" b="1" i="0" u="none" strike="noStrike" kern="1200" cap="none" spc="-257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Foglalási folyamat</a:t>
            </a:r>
          </a:p>
        </p:txBody>
      </p:sp>
      <p:sp>
        <p:nvSpPr>
          <p:cNvPr id="13" name="AutoShape 1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078001" y="5694658"/>
            <a:ext cx="1630673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TextBox 14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Jogosultságok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466461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Foglalási folyamat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Fejlesztői struktúra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Tesztelés és hibakezelés</a:t>
            </a:r>
          </a:p>
        </p:txBody>
      </p:sp>
      <p:sp>
        <p:nvSpPr>
          <p:cNvPr id="19" name="Freeform 3">
            <a:extLst>
              <a:ext uri="{FF2B5EF4-FFF2-40B4-BE49-F238E27FC236}">
                <a16:creationId xmlns:a16="http://schemas.microsoft.com/office/drawing/2014/main" id="{61013CDC-1459-E48A-F427-E3C3EF2A6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C3E9BA85-2E25-3364-688B-0656811FEC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809" y="1748522"/>
            <a:ext cx="8606805" cy="8208740"/>
          </a:xfrm>
          <a:custGeom>
            <a:avLst/>
            <a:gdLst/>
            <a:ahLst/>
            <a:cxnLst/>
            <a:rect l="l" t="t" r="r" b="b"/>
            <a:pathLst>
              <a:path w="8606805" h="8208740">
                <a:moveTo>
                  <a:pt x="0" y="0"/>
                </a:moveTo>
                <a:lnTo>
                  <a:pt x="8606805" y="0"/>
                </a:lnTo>
                <a:lnTo>
                  <a:pt x="8606805" y="8208741"/>
                </a:lnTo>
                <a:lnTo>
                  <a:pt x="0" y="82087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97091" y="1767572"/>
            <a:ext cx="8618100" cy="8208740"/>
          </a:xfrm>
          <a:custGeom>
            <a:avLst/>
            <a:gdLst/>
            <a:ahLst/>
            <a:cxnLst/>
            <a:rect l="l" t="t" r="r" b="b"/>
            <a:pathLst>
              <a:path w="8618100" h="8208740">
                <a:moveTo>
                  <a:pt x="0" y="0"/>
                </a:moveTo>
                <a:lnTo>
                  <a:pt x="8618100" y="0"/>
                </a:lnTo>
                <a:lnTo>
                  <a:pt x="8618100" y="8208741"/>
                </a:lnTo>
                <a:lnTo>
                  <a:pt x="0" y="82087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4" name="Auto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V="1">
            <a:off x="8646259" y="5871943"/>
            <a:ext cx="930689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Jogosultságok</a:t>
            </a:r>
          </a:p>
        </p:txBody>
      </p:sp>
      <p:sp>
        <p:nvSpPr>
          <p:cNvPr id="6" name="TextBox 6"/>
          <p:cNvSpPr txBox="1">
            <a:spLocks noGrp="1"/>
          </p:cNvSpPr>
          <p:nvPr>
            <p:ph type="title" idx="4294967295"/>
          </p:nvPr>
        </p:nvSpPr>
        <p:spPr>
          <a:xfrm>
            <a:off x="11466461" y="662462"/>
            <a:ext cx="1907082" cy="80959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15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251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Foglalási folyamat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Fejlesztői struktúra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Tesztelés és hibakezelés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14400" y="703564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B2E08B98-0EA0-98D9-2ED7-3DDBDFF974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37357" y="575559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3">
            <a:extLst>
              <a:ext uri="{FF2B5EF4-FFF2-40B4-BE49-F238E27FC236}">
                <a16:creationId xmlns:a16="http://schemas.microsoft.com/office/drawing/2014/main" id="{1137B677-B30D-CCC0-1565-2321332284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2" name="Freeform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88326" y="1652394"/>
            <a:ext cx="8584304" cy="8208740"/>
          </a:xfrm>
          <a:custGeom>
            <a:avLst/>
            <a:gdLst/>
            <a:ahLst/>
            <a:cxnLst/>
            <a:rect l="l" t="t" r="r" b="b"/>
            <a:pathLst>
              <a:path w="8584304" h="8208740">
                <a:moveTo>
                  <a:pt x="0" y="0"/>
                </a:moveTo>
                <a:lnTo>
                  <a:pt x="8584303" y="0"/>
                </a:lnTo>
                <a:lnTo>
                  <a:pt x="8584303" y="8208740"/>
                </a:lnTo>
                <a:lnTo>
                  <a:pt x="0" y="820874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3" name="Freeform 3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9301671" y="1652394"/>
            <a:ext cx="8698003" cy="8208740"/>
          </a:xfrm>
          <a:custGeom>
            <a:avLst/>
            <a:gdLst/>
            <a:ahLst/>
            <a:cxnLst/>
            <a:rect l="l" t="t" r="r" b="b"/>
            <a:pathLst>
              <a:path w="8698003" h="8208740">
                <a:moveTo>
                  <a:pt x="0" y="0"/>
                </a:moveTo>
                <a:lnTo>
                  <a:pt x="8698003" y="0"/>
                </a:lnTo>
                <a:lnTo>
                  <a:pt x="8698003" y="8208740"/>
                </a:lnTo>
                <a:lnTo>
                  <a:pt x="0" y="820874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4" name="AutoShape 4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94593" y="5742024"/>
            <a:ext cx="901519" cy="862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hu-HU" noProof="0" dirty="0"/>
          </a:p>
        </p:txBody>
      </p:sp>
      <p:sp>
        <p:nvSpPr>
          <p:cNvPr id="5" name="TextBox 5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Jogosultságok</a:t>
            </a:r>
          </a:p>
        </p:txBody>
      </p:sp>
      <p:sp>
        <p:nvSpPr>
          <p:cNvPr id="6" name="TextBox 6"/>
          <p:cNvSpPr txBox="1">
            <a:spLocks noGrp="1"/>
          </p:cNvSpPr>
          <p:nvPr>
            <p:ph type="title" idx="4294967295"/>
          </p:nvPr>
        </p:nvSpPr>
        <p:spPr>
          <a:xfrm>
            <a:off x="11466461" y="662462"/>
            <a:ext cx="1907082" cy="80959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3151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2251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Bold"/>
                <a:ea typeface="Poppins Bold"/>
                <a:cs typeface="Poppins Bold"/>
                <a:sym typeface="Poppins Bold"/>
              </a:rPr>
              <a:t>Foglalási folyamat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Fejlesztői struktúra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Tesztelés és hibakezelés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38200" y="662462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F5CF58B6-DB05-6C51-2281-89FDEB9BA6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61157" y="516349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 3">
            <a:extLst>
              <a:ext uri="{FF2B5EF4-FFF2-40B4-BE49-F238E27FC236}">
                <a16:creationId xmlns:a16="http://schemas.microsoft.com/office/drawing/2014/main" id="{9BE1B429-A336-5E71-961E-3018908C31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61704" y="1635721"/>
            <a:ext cx="8597596" cy="2790475"/>
            <a:chOff x="0" y="0"/>
            <a:chExt cx="2937671" cy="953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7671" cy="953464"/>
            </a:xfrm>
            <a:custGeom>
              <a:avLst/>
              <a:gdLst/>
              <a:ahLst/>
              <a:cxnLst/>
              <a:rect l="l" t="t" r="r" b="b"/>
              <a:pathLst>
                <a:path w="2937671" h="953464">
                  <a:moveTo>
                    <a:pt x="50427" y="0"/>
                  </a:moveTo>
                  <a:lnTo>
                    <a:pt x="2887244" y="0"/>
                  </a:lnTo>
                  <a:cubicBezTo>
                    <a:pt x="2915094" y="0"/>
                    <a:pt x="2937671" y="22577"/>
                    <a:pt x="2937671" y="50427"/>
                  </a:cubicBezTo>
                  <a:lnTo>
                    <a:pt x="2937671" y="903038"/>
                  </a:lnTo>
                  <a:cubicBezTo>
                    <a:pt x="2937671" y="930887"/>
                    <a:pt x="2915094" y="953464"/>
                    <a:pt x="2887244" y="953464"/>
                  </a:cubicBezTo>
                  <a:lnTo>
                    <a:pt x="50427" y="953464"/>
                  </a:lnTo>
                  <a:cubicBezTo>
                    <a:pt x="22577" y="953464"/>
                    <a:pt x="0" y="930887"/>
                    <a:pt x="0" y="903038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37671" cy="1020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661704" y="4884497"/>
            <a:ext cx="8597596" cy="4407758"/>
            <a:chOff x="0" y="0"/>
            <a:chExt cx="2264387" cy="1160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4387" cy="1160891"/>
            </a:xfrm>
            <a:custGeom>
              <a:avLst/>
              <a:gdLst/>
              <a:ahLst/>
              <a:cxnLst/>
              <a:rect l="l" t="t" r="r" b="b"/>
              <a:pathLst>
                <a:path w="2264387" h="1160891">
                  <a:moveTo>
                    <a:pt x="50427" y="0"/>
                  </a:moveTo>
                  <a:lnTo>
                    <a:pt x="2213961" y="0"/>
                  </a:lnTo>
                  <a:cubicBezTo>
                    <a:pt x="2241811" y="0"/>
                    <a:pt x="2264387" y="22577"/>
                    <a:pt x="2264387" y="50427"/>
                  </a:cubicBezTo>
                  <a:lnTo>
                    <a:pt x="2264387" y="1110464"/>
                  </a:lnTo>
                  <a:cubicBezTo>
                    <a:pt x="2264387" y="1138314"/>
                    <a:pt x="2241811" y="1160891"/>
                    <a:pt x="2213961" y="1160891"/>
                  </a:cubicBezTo>
                  <a:lnTo>
                    <a:pt x="50427" y="1160891"/>
                  </a:lnTo>
                  <a:cubicBezTo>
                    <a:pt x="22577" y="1160891"/>
                    <a:pt x="0" y="1138314"/>
                    <a:pt x="0" y="1110464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64387" cy="122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9063064" y="5752971"/>
            <a:ext cx="7697643" cy="25660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frontend/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backend/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controllers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routes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/ </a:t>
            </a:r>
            <a:r>
              <a:rPr lang="hu-HU" sz="35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models</a:t>
            </a: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</a:p>
          <a:p>
            <a:pPr marL="777234" lvl="1" indent="-388617" algn="l">
              <a:lnSpc>
                <a:spcPts val="5039"/>
              </a:lnSpc>
              <a:buFont typeface="Arial"/>
              <a:buChar char="•"/>
            </a:pPr>
            <a:r>
              <a:rPr lang="hu-HU" sz="35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moduláris felépítés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9374754" y="2229886"/>
            <a:ext cx="7074263" cy="1840294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88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752" b="1" i="0" u="none" strike="noStrike" kern="1200" cap="none" spc="-303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Fejlesztői struktúra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Jogosultságok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66461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Foglalási folyamat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Fejlesztői struktúra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Tesztelés és hibakezelés</a:t>
            </a:r>
          </a:p>
        </p:txBody>
      </p:sp>
      <p:pic>
        <p:nvPicPr>
          <p:cNvPr id="18" name="Kép 17" descr="mappastruktura">
            <a:extLst>
              <a:ext uri="{FF2B5EF4-FFF2-40B4-BE49-F238E27FC236}">
                <a16:creationId xmlns:a16="http://schemas.microsoft.com/office/drawing/2014/main" id="{2E8FA40C-1AB3-DBF0-4735-2B51F821DD2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6708" y="380585"/>
            <a:ext cx="2518298" cy="9517207"/>
          </a:xfrm>
          <a:prstGeom prst="roundRect">
            <a:avLst/>
          </a:prstGeom>
        </p:spPr>
      </p:pic>
      <p:sp>
        <p:nvSpPr>
          <p:cNvPr id="20" name="Freeform 3">
            <a:extLst>
              <a:ext uri="{FF2B5EF4-FFF2-40B4-BE49-F238E27FC236}">
                <a16:creationId xmlns:a16="http://schemas.microsoft.com/office/drawing/2014/main" id="{FCA74DDD-E2CD-221B-318A-7D363B09C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18849D90-90CB-E9ED-89C1-1885FCBDA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8597596" cy="2790475"/>
            <a:chOff x="0" y="0"/>
            <a:chExt cx="2937671" cy="9534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937671" cy="953464"/>
            </a:xfrm>
            <a:custGeom>
              <a:avLst/>
              <a:gdLst/>
              <a:ahLst/>
              <a:cxnLst/>
              <a:rect l="l" t="t" r="r" b="b"/>
              <a:pathLst>
                <a:path w="2937671" h="953464">
                  <a:moveTo>
                    <a:pt x="50427" y="0"/>
                  </a:moveTo>
                  <a:lnTo>
                    <a:pt x="2887244" y="0"/>
                  </a:lnTo>
                  <a:cubicBezTo>
                    <a:pt x="2915094" y="0"/>
                    <a:pt x="2937671" y="22577"/>
                    <a:pt x="2937671" y="50427"/>
                  </a:cubicBezTo>
                  <a:lnTo>
                    <a:pt x="2937671" y="903038"/>
                  </a:lnTo>
                  <a:cubicBezTo>
                    <a:pt x="2937671" y="930887"/>
                    <a:pt x="2915094" y="953464"/>
                    <a:pt x="2887244" y="953464"/>
                  </a:cubicBezTo>
                  <a:lnTo>
                    <a:pt x="50427" y="953464"/>
                  </a:lnTo>
                  <a:cubicBezTo>
                    <a:pt x="22577" y="953464"/>
                    <a:pt x="0" y="930887"/>
                    <a:pt x="0" y="903038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937671" cy="10201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5143500"/>
            <a:ext cx="8597596" cy="4407758"/>
            <a:chOff x="0" y="0"/>
            <a:chExt cx="2264387" cy="1160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4387" cy="1160891"/>
            </a:xfrm>
            <a:custGeom>
              <a:avLst/>
              <a:gdLst/>
              <a:ahLst/>
              <a:cxnLst/>
              <a:rect l="l" t="t" r="r" b="b"/>
              <a:pathLst>
                <a:path w="2264387" h="1160891">
                  <a:moveTo>
                    <a:pt x="50427" y="0"/>
                  </a:moveTo>
                  <a:lnTo>
                    <a:pt x="2213961" y="0"/>
                  </a:lnTo>
                  <a:cubicBezTo>
                    <a:pt x="2241811" y="0"/>
                    <a:pt x="2264387" y="22577"/>
                    <a:pt x="2264387" y="50427"/>
                  </a:cubicBezTo>
                  <a:lnTo>
                    <a:pt x="2264387" y="1110464"/>
                  </a:lnTo>
                  <a:cubicBezTo>
                    <a:pt x="2264387" y="1138314"/>
                    <a:pt x="2241811" y="1160891"/>
                    <a:pt x="2213961" y="1160891"/>
                  </a:cubicBezTo>
                  <a:lnTo>
                    <a:pt x="50427" y="1160891"/>
                  </a:lnTo>
                  <a:cubicBezTo>
                    <a:pt x="22577" y="1160891"/>
                    <a:pt x="0" y="1138314"/>
                    <a:pt x="0" y="1110464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64387" cy="122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8" name="Group 8" descr="dokumentacio tesztelés táblázat"/>
          <p:cNvGrpSpPr/>
          <p:nvPr/>
        </p:nvGrpSpPr>
        <p:grpSpPr>
          <a:xfrm>
            <a:off x="9637186" y="1894724"/>
            <a:ext cx="8179087" cy="7656534"/>
            <a:chOff x="0" y="0"/>
            <a:chExt cx="1201467" cy="1124707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01467" cy="1124707"/>
            </a:xfrm>
            <a:custGeom>
              <a:avLst/>
              <a:gdLst/>
              <a:ahLst/>
              <a:cxnLst/>
              <a:rect l="l" t="t" r="r" b="b"/>
              <a:pathLst>
                <a:path w="1201467" h="1124707">
                  <a:moveTo>
                    <a:pt x="53007" y="0"/>
                  </a:moveTo>
                  <a:lnTo>
                    <a:pt x="1148461" y="0"/>
                  </a:lnTo>
                  <a:cubicBezTo>
                    <a:pt x="1162519" y="0"/>
                    <a:pt x="1176001" y="5585"/>
                    <a:pt x="1185942" y="15525"/>
                  </a:cubicBezTo>
                  <a:cubicBezTo>
                    <a:pt x="1195883" y="25466"/>
                    <a:pt x="1201467" y="38949"/>
                    <a:pt x="1201467" y="53007"/>
                  </a:cubicBezTo>
                  <a:lnTo>
                    <a:pt x="1201467" y="1071700"/>
                  </a:lnTo>
                  <a:cubicBezTo>
                    <a:pt x="1201467" y="1100975"/>
                    <a:pt x="1177735" y="1124707"/>
                    <a:pt x="1148461" y="1124707"/>
                  </a:cubicBezTo>
                  <a:lnTo>
                    <a:pt x="53007" y="1124707"/>
                  </a:lnTo>
                  <a:cubicBezTo>
                    <a:pt x="23732" y="1124707"/>
                    <a:pt x="0" y="1100975"/>
                    <a:pt x="0" y="1071700"/>
                  </a:cubicBezTo>
                  <a:lnTo>
                    <a:pt x="0" y="53007"/>
                  </a:lnTo>
                  <a:cubicBezTo>
                    <a:pt x="0" y="23732"/>
                    <a:pt x="23732" y="0"/>
                    <a:pt x="53007" y="0"/>
                  </a:cubicBezTo>
                  <a:close/>
                </a:path>
              </a:pathLst>
            </a:custGeom>
            <a:blipFill>
              <a:blip r:embed="rId3"/>
              <a:stretch>
                <a:fillRect t="-2210" b="-2210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205345" y="6367891"/>
            <a:ext cx="7697643" cy="18637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hu-HU" sz="3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API tesztelés (Postman)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hu-HU" sz="3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hibakódok (400/401/403/500)</a:t>
            </a:r>
          </a:p>
          <a:p>
            <a:pPr marL="755644" lvl="1" indent="-377822" algn="l">
              <a:lnSpc>
                <a:spcPts val="4899"/>
              </a:lnSpc>
              <a:buFont typeface="Arial"/>
              <a:buChar char="•"/>
            </a:pPr>
            <a:r>
              <a:rPr lang="hu-HU" sz="3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validáció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517036" y="2479364"/>
            <a:ext cx="7074263" cy="1720073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3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252" b="1" i="0" u="none" strike="noStrike" kern="1200" cap="none" spc="-28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Tesztelés és hibakezelés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2197322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Jogosultságok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466461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Foglalási folyamat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602144" y="662462"/>
            <a:ext cx="1916881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Fejlesztői struktúra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718904" y="662462"/>
            <a:ext cx="187494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Tesztelés és hibakezelés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5A7308B3-2995-B154-F3B5-E322A17AB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6DE800E8-28DB-25F5-0DED-39B4EC1E5D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2168153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Csapatmunka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7590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 nehézségek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Végszó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Köszönjük!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23F9C0DA-FEB8-7C42-0E22-787790F985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19" name="Group 8" descr="csapatkep">
            <a:extLst>
              <a:ext uri="{FF2B5EF4-FFF2-40B4-BE49-F238E27FC236}">
                <a16:creationId xmlns:a16="http://schemas.microsoft.com/office/drawing/2014/main" id="{21A3A0BB-BD31-8417-10C1-7D10D98283AA}"/>
              </a:ext>
            </a:extLst>
          </p:cNvPr>
          <p:cNvGrpSpPr/>
          <p:nvPr/>
        </p:nvGrpSpPr>
        <p:grpSpPr>
          <a:xfrm>
            <a:off x="1703924" y="5591678"/>
            <a:ext cx="7770471" cy="4302666"/>
            <a:chOff x="0" y="0"/>
            <a:chExt cx="1165771" cy="645511"/>
          </a:xfrm>
        </p:grpSpPr>
        <p:sp>
          <p:nvSpPr>
            <p:cNvPr id="20" name="Freeform 9">
              <a:extLst>
                <a:ext uri="{FF2B5EF4-FFF2-40B4-BE49-F238E27FC236}">
                  <a16:creationId xmlns:a16="http://schemas.microsoft.com/office/drawing/2014/main" id="{00291F9C-CF0C-CDD8-9CA0-C5194DE4F752}"/>
                </a:ext>
              </a:extLst>
            </p:cNvPr>
            <p:cNvSpPr/>
            <p:nvPr/>
          </p:nvSpPr>
          <p:spPr>
            <a:xfrm>
              <a:off x="0" y="0"/>
              <a:ext cx="1165771" cy="645511"/>
            </a:xfrm>
            <a:custGeom>
              <a:avLst/>
              <a:gdLst/>
              <a:ahLst/>
              <a:cxnLst/>
              <a:rect l="l" t="t" r="r" b="b"/>
              <a:pathLst>
                <a:path w="1165771" h="645511">
                  <a:moveTo>
                    <a:pt x="44208" y="0"/>
                  </a:moveTo>
                  <a:lnTo>
                    <a:pt x="1121563" y="0"/>
                  </a:lnTo>
                  <a:cubicBezTo>
                    <a:pt x="1133288" y="0"/>
                    <a:pt x="1144532" y="4658"/>
                    <a:pt x="1152823" y="12948"/>
                  </a:cubicBezTo>
                  <a:cubicBezTo>
                    <a:pt x="1161113" y="21239"/>
                    <a:pt x="1165771" y="32483"/>
                    <a:pt x="1165771" y="44208"/>
                  </a:cubicBezTo>
                  <a:lnTo>
                    <a:pt x="1165771" y="601303"/>
                  </a:lnTo>
                  <a:cubicBezTo>
                    <a:pt x="1165771" y="625718"/>
                    <a:pt x="1145978" y="645511"/>
                    <a:pt x="1121563" y="645511"/>
                  </a:cubicBezTo>
                  <a:lnTo>
                    <a:pt x="44208" y="645511"/>
                  </a:lnTo>
                  <a:cubicBezTo>
                    <a:pt x="32483" y="645511"/>
                    <a:pt x="21239" y="640853"/>
                    <a:pt x="12948" y="632563"/>
                  </a:cubicBezTo>
                  <a:cubicBezTo>
                    <a:pt x="4658" y="624272"/>
                    <a:pt x="0" y="613028"/>
                    <a:pt x="0" y="601303"/>
                  </a:cubicBezTo>
                  <a:lnTo>
                    <a:pt x="0" y="44208"/>
                  </a:lnTo>
                  <a:cubicBezTo>
                    <a:pt x="0" y="32483"/>
                    <a:pt x="4658" y="21239"/>
                    <a:pt x="12948" y="12948"/>
                  </a:cubicBezTo>
                  <a:cubicBezTo>
                    <a:pt x="21239" y="4658"/>
                    <a:pt x="32483" y="0"/>
                    <a:pt x="44208" y="0"/>
                  </a:cubicBezTo>
                  <a:close/>
                </a:path>
              </a:pathLst>
            </a:custGeom>
            <a:blipFill>
              <a:blip r:embed="rId4"/>
              <a:stretch>
                <a:fillRect t="-1599" b="-1599"/>
              </a:stretch>
            </a:blipFill>
          </p:spPr>
          <p:txBody>
            <a:bodyPr/>
            <a:lstStyle/>
            <a:p>
              <a:endParaRPr lang="en-US" noProof="0" dirty="0"/>
            </a:p>
          </p:txBody>
        </p:sp>
      </p:grpSp>
      <p:grpSp>
        <p:nvGrpSpPr>
          <p:cNvPr id="21" name="Group 2">
            <a:extLst>
              <a:ext uri="{FF2B5EF4-FFF2-40B4-BE49-F238E27FC236}">
                <a16:creationId xmlns:a16="http://schemas.microsoft.com/office/drawing/2014/main" id="{12355497-1AA5-E0C8-F1CD-7A6C94F180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77738" y="2477765"/>
            <a:ext cx="4761997" cy="2900065"/>
            <a:chOff x="0" y="0"/>
            <a:chExt cx="1615326" cy="763803"/>
          </a:xfrm>
        </p:grpSpPr>
        <p:sp>
          <p:nvSpPr>
            <p:cNvPr id="22" name="Freeform 3">
              <a:extLst>
                <a:ext uri="{FF2B5EF4-FFF2-40B4-BE49-F238E27FC236}">
                  <a16:creationId xmlns:a16="http://schemas.microsoft.com/office/drawing/2014/main" id="{8C577AE9-BE18-B7AB-EE58-6ED1330E3641}"/>
                </a:ext>
              </a:extLst>
            </p:cNvPr>
            <p:cNvSpPr/>
            <p:nvPr/>
          </p:nvSpPr>
          <p:spPr>
            <a:xfrm>
              <a:off x="0" y="0"/>
              <a:ext cx="1615326" cy="763803"/>
            </a:xfrm>
            <a:custGeom>
              <a:avLst/>
              <a:gdLst/>
              <a:ahLst/>
              <a:cxnLst/>
              <a:rect l="l" t="t" r="r" b="b"/>
              <a:pathLst>
                <a:path w="1615326" h="763803">
                  <a:moveTo>
                    <a:pt x="70689" y="0"/>
                  </a:moveTo>
                  <a:lnTo>
                    <a:pt x="1544638" y="0"/>
                  </a:lnTo>
                  <a:cubicBezTo>
                    <a:pt x="1583678" y="0"/>
                    <a:pt x="1615326" y="31648"/>
                    <a:pt x="1615326" y="70689"/>
                  </a:cubicBezTo>
                  <a:lnTo>
                    <a:pt x="1615326" y="693114"/>
                  </a:lnTo>
                  <a:cubicBezTo>
                    <a:pt x="1615326" y="732155"/>
                    <a:pt x="1583678" y="763803"/>
                    <a:pt x="1544638" y="763803"/>
                  </a:cubicBezTo>
                  <a:lnTo>
                    <a:pt x="70689" y="763803"/>
                  </a:lnTo>
                  <a:cubicBezTo>
                    <a:pt x="31648" y="763803"/>
                    <a:pt x="0" y="732155"/>
                    <a:pt x="0" y="693114"/>
                  </a:cubicBezTo>
                  <a:lnTo>
                    <a:pt x="0" y="70689"/>
                  </a:lnTo>
                  <a:cubicBezTo>
                    <a:pt x="0" y="31648"/>
                    <a:pt x="31648" y="0"/>
                    <a:pt x="706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3" name="TextBox 4">
              <a:extLst>
                <a:ext uri="{FF2B5EF4-FFF2-40B4-BE49-F238E27FC236}">
                  <a16:creationId xmlns:a16="http://schemas.microsoft.com/office/drawing/2014/main" id="{16DA9AF3-5299-8139-9F43-1A6F058E6AD1}"/>
                </a:ext>
              </a:extLst>
            </p:cNvPr>
            <p:cNvSpPr txBox="1"/>
            <p:nvPr/>
          </p:nvSpPr>
          <p:spPr>
            <a:xfrm>
              <a:off x="0" y="-66675"/>
              <a:ext cx="1615326" cy="8304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en-US" noProof="0" dirty="0"/>
            </a:p>
          </p:txBody>
        </p:sp>
      </p:grpSp>
      <p:grpSp>
        <p:nvGrpSpPr>
          <p:cNvPr id="24" name="Group 5">
            <a:extLst>
              <a:ext uri="{FF2B5EF4-FFF2-40B4-BE49-F238E27FC236}">
                <a16:creationId xmlns:a16="http://schemas.microsoft.com/office/drawing/2014/main" id="{44004660-A2A4-A1A5-FD7A-01029DFBA5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565067" y="2477765"/>
            <a:ext cx="4963709" cy="2900065"/>
            <a:chOff x="0" y="0"/>
            <a:chExt cx="1615326" cy="719403"/>
          </a:xfrm>
        </p:grpSpPr>
        <p:sp>
          <p:nvSpPr>
            <p:cNvPr id="25" name="Freeform 6">
              <a:extLst>
                <a:ext uri="{FF2B5EF4-FFF2-40B4-BE49-F238E27FC236}">
                  <a16:creationId xmlns:a16="http://schemas.microsoft.com/office/drawing/2014/main" id="{16369C34-D0EE-7120-78AA-95714B2BEE0C}"/>
                </a:ext>
              </a:extLst>
            </p:cNvPr>
            <p:cNvSpPr/>
            <p:nvPr/>
          </p:nvSpPr>
          <p:spPr>
            <a:xfrm>
              <a:off x="0" y="0"/>
              <a:ext cx="1615326" cy="719403"/>
            </a:xfrm>
            <a:custGeom>
              <a:avLst/>
              <a:gdLst/>
              <a:ahLst/>
              <a:cxnLst/>
              <a:rect l="l" t="t" r="r" b="b"/>
              <a:pathLst>
                <a:path w="1615326" h="719403">
                  <a:moveTo>
                    <a:pt x="70689" y="0"/>
                  </a:moveTo>
                  <a:lnTo>
                    <a:pt x="1544638" y="0"/>
                  </a:lnTo>
                  <a:cubicBezTo>
                    <a:pt x="1583678" y="0"/>
                    <a:pt x="1615326" y="31648"/>
                    <a:pt x="1615326" y="70689"/>
                  </a:cubicBezTo>
                  <a:lnTo>
                    <a:pt x="1615326" y="648714"/>
                  </a:lnTo>
                  <a:cubicBezTo>
                    <a:pt x="1615326" y="687755"/>
                    <a:pt x="1583678" y="719403"/>
                    <a:pt x="1544638" y="719403"/>
                  </a:cubicBezTo>
                  <a:lnTo>
                    <a:pt x="70689" y="719403"/>
                  </a:lnTo>
                  <a:cubicBezTo>
                    <a:pt x="31648" y="719403"/>
                    <a:pt x="0" y="687755"/>
                    <a:pt x="0" y="648714"/>
                  </a:cubicBezTo>
                  <a:lnTo>
                    <a:pt x="0" y="70689"/>
                  </a:lnTo>
                  <a:cubicBezTo>
                    <a:pt x="0" y="31648"/>
                    <a:pt x="31648" y="0"/>
                    <a:pt x="70689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4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en-US" noProof="0" dirty="0"/>
            </a:p>
          </p:txBody>
        </p:sp>
        <p:sp>
          <p:nvSpPr>
            <p:cNvPr id="26" name="TextBox 7">
              <a:extLst>
                <a:ext uri="{FF2B5EF4-FFF2-40B4-BE49-F238E27FC236}">
                  <a16:creationId xmlns:a16="http://schemas.microsoft.com/office/drawing/2014/main" id="{EEA686CE-09C0-FE8F-BC83-CE2ACFA1CC82}"/>
                </a:ext>
              </a:extLst>
            </p:cNvPr>
            <p:cNvSpPr txBox="1"/>
            <p:nvPr/>
          </p:nvSpPr>
          <p:spPr>
            <a:xfrm>
              <a:off x="0" y="-66675"/>
              <a:ext cx="1615326" cy="78607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en-US" noProof="0" dirty="0"/>
            </a:p>
          </p:txBody>
        </p:sp>
      </p:grpSp>
      <p:sp>
        <p:nvSpPr>
          <p:cNvPr id="27" name="TextBox 11">
            <a:extLst>
              <a:ext uri="{FF2B5EF4-FFF2-40B4-BE49-F238E27FC236}">
                <a16:creationId xmlns:a16="http://schemas.microsoft.com/office/drawing/2014/main" id="{03550F5F-30B3-D08D-1CA7-F1F3AD65BBBB}"/>
              </a:ext>
            </a:extLst>
          </p:cNvPr>
          <p:cNvSpPr txBox="1"/>
          <p:nvPr/>
        </p:nvSpPr>
        <p:spPr>
          <a:xfrm>
            <a:off x="5995502" y="2589030"/>
            <a:ext cx="3904126" cy="26705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frontend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backend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desktop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en-US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 </a:t>
            </a: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csapattervetés</a:t>
            </a:r>
            <a:endParaRPr lang="en-US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verziókezelés</a:t>
            </a:r>
            <a:endParaRPr lang="en-US" sz="2499" noProof="0" dirty="0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8124F53C-A8C4-773B-CE41-69EDF6D2926B}"/>
              </a:ext>
            </a:extLst>
          </p:cNvPr>
          <p:cNvSpPr txBox="1">
            <a:spLocks/>
          </p:cNvSpPr>
          <p:nvPr/>
        </p:nvSpPr>
        <p:spPr>
          <a:xfrm>
            <a:off x="1005045" y="3468661"/>
            <a:ext cx="4253736" cy="78765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ts val="6547"/>
              </a:lnSpc>
              <a:spcBef>
                <a:spcPts val="0"/>
              </a:spcBef>
              <a:defRPr/>
            </a:pPr>
            <a:r>
              <a:rPr lang="hu-HU" sz="4800" b="1" spc="-288" dirty="0">
                <a:solidFill>
                  <a:srgbClr val="FFFFFF"/>
                </a:solidFill>
                <a:latin typeface="Telegraf Bold"/>
                <a:ea typeface="Telegraf Bold"/>
                <a:cs typeface="Telegraf Bold"/>
                <a:sym typeface="Telegraf Bold"/>
              </a:rPr>
              <a:t>Csapatmunka</a:t>
            </a:r>
            <a:endParaRPr lang="en-US" sz="4800" b="1" spc="-288" dirty="0">
              <a:solidFill>
                <a:srgbClr val="FFFFFF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pic>
        <p:nvPicPr>
          <p:cNvPr id="29" name="Kép 28">
            <a:extLst>
              <a:ext uri="{FF2B5EF4-FFF2-40B4-BE49-F238E27FC236}">
                <a16:creationId xmlns:a16="http://schemas.microsoft.com/office/drawing/2014/main" id="{02C2F3C7-3305-F70D-A348-5DA878D7940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0063" y="3924300"/>
            <a:ext cx="7486210" cy="5390071"/>
          </a:xfrm>
          <a:prstGeom prst="roundRect">
            <a:avLst>
              <a:gd name="adj" fmla="val 8493"/>
            </a:avLst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3">
            <a:extLst>
              <a:ext uri="{FF2B5EF4-FFF2-40B4-BE49-F238E27FC236}">
                <a16:creationId xmlns:a16="http://schemas.microsoft.com/office/drawing/2014/main" id="{B1224F64-04F6-A001-DCBC-CB76A1938A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7703689" y="2249329"/>
            <a:ext cx="9783203" cy="5849788"/>
            <a:chOff x="0" y="0"/>
            <a:chExt cx="2576646" cy="154068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76646" cy="1540685"/>
            </a:xfrm>
            <a:custGeom>
              <a:avLst/>
              <a:gdLst/>
              <a:ahLst/>
              <a:cxnLst/>
              <a:rect l="l" t="t" r="r" b="b"/>
              <a:pathLst>
                <a:path w="2576646" h="1540685">
                  <a:moveTo>
                    <a:pt x="44315" y="0"/>
                  </a:moveTo>
                  <a:lnTo>
                    <a:pt x="2532331" y="0"/>
                  </a:lnTo>
                  <a:cubicBezTo>
                    <a:pt x="2556806" y="0"/>
                    <a:pt x="2576646" y="19841"/>
                    <a:pt x="2576646" y="44315"/>
                  </a:cubicBezTo>
                  <a:lnTo>
                    <a:pt x="2576646" y="1496370"/>
                  </a:lnTo>
                  <a:cubicBezTo>
                    <a:pt x="2576646" y="1508123"/>
                    <a:pt x="2571977" y="1519395"/>
                    <a:pt x="2563667" y="1527705"/>
                  </a:cubicBezTo>
                  <a:cubicBezTo>
                    <a:pt x="2555356" y="1536016"/>
                    <a:pt x="2544084" y="1540685"/>
                    <a:pt x="2532331" y="1540685"/>
                  </a:cubicBezTo>
                  <a:lnTo>
                    <a:pt x="44315" y="1540685"/>
                  </a:lnTo>
                  <a:cubicBezTo>
                    <a:pt x="32562" y="1540685"/>
                    <a:pt x="21290" y="1536016"/>
                    <a:pt x="12980" y="1527705"/>
                  </a:cubicBezTo>
                  <a:cubicBezTo>
                    <a:pt x="4669" y="1519395"/>
                    <a:pt x="0" y="1508123"/>
                    <a:pt x="0" y="1496370"/>
                  </a:cubicBezTo>
                  <a:lnTo>
                    <a:pt x="0" y="44315"/>
                  </a:lnTo>
                  <a:cubicBezTo>
                    <a:pt x="0" y="32562"/>
                    <a:pt x="4669" y="21290"/>
                    <a:pt x="12980" y="12980"/>
                  </a:cubicBezTo>
                  <a:cubicBezTo>
                    <a:pt x="21290" y="4669"/>
                    <a:pt x="32562" y="0"/>
                    <a:pt x="44315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B1F45"/>
                </a:gs>
                <a:gs pos="66000">
                  <a:srgbClr val="00A8CC"/>
                </a:gs>
                <a:gs pos="100000">
                  <a:srgbClr val="6C63FF"/>
                </a:gs>
              </a:gsLst>
              <a:path path="circle">
                <a:fillToRect r="100000" b="100000"/>
              </a:path>
              <a:tileRect l="-100000" t="-1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2576646" cy="16073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sp>
        <p:nvSpPr>
          <p:cNvPr id="5" name="Freeform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grpSp>
        <p:nvGrpSpPr>
          <p:cNvPr id="6" name="Group 6" descr="searchikon"/>
          <p:cNvGrpSpPr/>
          <p:nvPr/>
        </p:nvGrpSpPr>
        <p:grpSpPr>
          <a:xfrm>
            <a:off x="1028700" y="2249329"/>
            <a:ext cx="6270972" cy="5911234"/>
            <a:chOff x="0" y="0"/>
            <a:chExt cx="944436" cy="89025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944436" cy="890258"/>
            </a:xfrm>
            <a:custGeom>
              <a:avLst/>
              <a:gdLst/>
              <a:ahLst/>
              <a:cxnLst/>
              <a:rect l="l" t="t" r="r" b="b"/>
              <a:pathLst>
                <a:path w="944436" h="890258">
                  <a:moveTo>
                    <a:pt x="69136" y="0"/>
                  </a:moveTo>
                  <a:lnTo>
                    <a:pt x="875301" y="0"/>
                  </a:lnTo>
                  <a:cubicBezTo>
                    <a:pt x="893636" y="0"/>
                    <a:pt x="911221" y="7284"/>
                    <a:pt x="924187" y="20249"/>
                  </a:cubicBezTo>
                  <a:cubicBezTo>
                    <a:pt x="937152" y="33215"/>
                    <a:pt x="944436" y="50800"/>
                    <a:pt x="944436" y="69136"/>
                  </a:cubicBezTo>
                  <a:lnTo>
                    <a:pt x="944436" y="821122"/>
                  </a:lnTo>
                  <a:cubicBezTo>
                    <a:pt x="944436" y="839458"/>
                    <a:pt x="937152" y="857043"/>
                    <a:pt x="924187" y="870009"/>
                  </a:cubicBezTo>
                  <a:cubicBezTo>
                    <a:pt x="911221" y="882974"/>
                    <a:pt x="893636" y="890258"/>
                    <a:pt x="875301" y="890258"/>
                  </a:cubicBezTo>
                  <a:lnTo>
                    <a:pt x="69136" y="890258"/>
                  </a:lnTo>
                  <a:cubicBezTo>
                    <a:pt x="30953" y="890258"/>
                    <a:pt x="0" y="859305"/>
                    <a:pt x="0" y="821122"/>
                  </a:cubicBezTo>
                  <a:lnTo>
                    <a:pt x="0" y="69136"/>
                  </a:lnTo>
                  <a:cubicBezTo>
                    <a:pt x="0" y="50800"/>
                    <a:pt x="7284" y="33215"/>
                    <a:pt x="20249" y="20249"/>
                  </a:cubicBezTo>
                  <a:cubicBezTo>
                    <a:pt x="33215" y="7284"/>
                    <a:pt x="50800" y="0"/>
                    <a:pt x="69136" y="0"/>
                  </a:cubicBezTo>
                  <a:close/>
                </a:path>
              </a:pathLst>
            </a:custGeom>
            <a:blipFill>
              <a:blip r:embed="rId4"/>
              <a:stretch>
                <a:fillRect l="-33789" r="-33789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8460731" y="4343168"/>
            <a:ext cx="8269119" cy="2632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GitHub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Időbeosztás (az elején)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WPF 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Szerepkörök megbeszélése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Alkalmazás futtatása különböző platformokon</a:t>
            </a:r>
          </a:p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Kompatibilitási problémák javítása</a:t>
            </a:r>
          </a:p>
        </p:txBody>
      </p:sp>
      <p:sp>
        <p:nvSpPr>
          <p:cNvPr id="9" name="TextBox 9"/>
          <p:cNvSpPr txBox="1">
            <a:spLocks noGrp="1"/>
          </p:cNvSpPr>
          <p:nvPr>
            <p:ph type="title" idx="4294967295"/>
          </p:nvPr>
        </p:nvSpPr>
        <p:spPr>
          <a:xfrm>
            <a:off x="8460731" y="3008904"/>
            <a:ext cx="8656428" cy="91598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445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319" b="1" i="0" u="none" strike="noStrike" kern="1200" cap="none" spc="-284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CSAPATNEHÉZSÉGEK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841660"/>
            <a:ext cx="2080644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Csapatmunka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590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Csapat nehézségek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Végszó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Köszönjük!</a:t>
            </a: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B57C3D47-D85A-BA97-1578-8B4471715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3">
            <a:extLst>
              <a:ext uri="{FF2B5EF4-FFF2-40B4-BE49-F238E27FC236}">
                <a16:creationId xmlns:a16="http://schemas.microsoft.com/office/drawing/2014/main" id="{0329EFBB-6CD5-EC6E-9287-D96C40DD8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1894724"/>
            <a:ext cx="4361210" cy="1994505"/>
            <a:chOff x="0" y="0"/>
            <a:chExt cx="1490161" cy="6814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90161" cy="681493"/>
            </a:xfrm>
            <a:custGeom>
              <a:avLst/>
              <a:gdLst/>
              <a:ahLst/>
              <a:cxnLst/>
              <a:rect l="l" t="t" r="r" b="b"/>
              <a:pathLst>
                <a:path w="1490161" h="681493">
                  <a:moveTo>
                    <a:pt x="99410" y="0"/>
                  </a:moveTo>
                  <a:lnTo>
                    <a:pt x="1390751" y="0"/>
                  </a:lnTo>
                  <a:cubicBezTo>
                    <a:pt x="1417116" y="0"/>
                    <a:pt x="1442401" y="10474"/>
                    <a:pt x="1461044" y="29116"/>
                  </a:cubicBezTo>
                  <a:cubicBezTo>
                    <a:pt x="1479687" y="47759"/>
                    <a:pt x="1490161" y="73045"/>
                    <a:pt x="1490161" y="99410"/>
                  </a:cubicBezTo>
                  <a:lnTo>
                    <a:pt x="1490161" y="582083"/>
                  </a:lnTo>
                  <a:cubicBezTo>
                    <a:pt x="1490161" y="608448"/>
                    <a:pt x="1479687" y="633733"/>
                    <a:pt x="1461044" y="652376"/>
                  </a:cubicBezTo>
                  <a:cubicBezTo>
                    <a:pt x="1442401" y="671019"/>
                    <a:pt x="1417116" y="681493"/>
                    <a:pt x="1390751" y="681493"/>
                  </a:cubicBezTo>
                  <a:lnTo>
                    <a:pt x="99410" y="681493"/>
                  </a:lnTo>
                  <a:cubicBezTo>
                    <a:pt x="73045" y="681493"/>
                    <a:pt x="47759" y="671019"/>
                    <a:pt x="29116" y="652376"/>
                  </a:cubicBezTo>
                  <a:cubicBezTo>
                    <a:pt x="10474" y="633733"/>
                    <a:pt x="0" y="608448"/>
                    <a:pt x="0" y="582083"/>
                  </a:cubicBezTo>
                  <a:lnTo>
                    <a:pt x="0" y="99410"/>
                  </a:lnTo>
                  <a:cubicBezTo>
                    <a:pt x="0" y="73045"/>
                    <a:pt x="10474" y="47759"/>
                    <a:pt x="29116" y="29116"/>
                  </a:cubicBezTo>
                  <a:cubicBezTo>
                    <a:pt x="47759" y="10474"/>
                    <a:pt x="73045" y="0"/>
                    <a:pt x="9941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000000">
                    <a:alpha val="78000"/>
                  </a:srgbClr>
                </a:gs>
                <a:gs pos="100000">
                  <a:srgbClr val="DDDDDD">
                    <a:alpha val="14820"/>
                  </a:srgbClr>
                </a:gs>
              </a:gsLst>
              <a:lin ang="2700000"/>
            </a:gra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66675"/>
              <a:ext cx="1490161" cy="7481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5" name="Group 5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803986" y="5143500"/>
            <a:ext cx="8597596" cy="4407758"/>
            <a:chOff x="0" y="0"/>
            <a:chExt cx="2264387" cy="1160891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264387" cy="1160891"/>
            </a:xfrm>
            <a:custGeom>
              <a:avLst/>
              <a:gdLst/>
              <a:ahLst/>
              <a:cxnLst/>
              <a:rect l="l" t="t" r="r" b="b"/>
              <a:pathLst>
                <a:path w="2264387" h="1160891">
                  <a:moveTo>
                    <a:pt x="50427" y="0"/>
                  </a:moveTo>
                  <a:lnTo>
                    <a:pt x="2213961" y="0"/>
                  </a:lnTo>
                  <a:cubicBezTo>
                    <a:pt x="2241811" y="0"/>
                    <a:pt x="2264387" y="22577"/>
                    <a:pt x="2264387" y="50427"/>
                  </a:cubicBezTo>
                  <a:lnTo>
                    <a:pt x="2264387" y="1110464"/>
                  </a:lnTo>
                  <a:cubicBezTo>
                    <a:pt x="2264387" y="1138314"/>
                    <a:pt x="2241811" y="1160891"/>
                    <a:pt x="2213961" y="1160891"/>
                  </a:cubicBezTo>
                  <a:lnTo>
                    <a:pt x="50427" y="1160891"/>
                  </a:lnTo>
                  <a:cubicBezTo>
                    <a:pt x="22577" y="1160891"/>
                    <a:pt x="0" y="1138314"/>
                    <a:pt x="0" y="1110464"/>
                  </a:cubicBezTo>
                  <a:lnTo>
                    <a:pt x="0" y="50427"/>
                  </a:lnTo>
                  <a:cubicBezTo>
                    <a:pt x="0" y="22577"/>
                    <a:pt x="22577" y="0"/>
                    <a:pt x="50427" y="0"/>
                  </a:cubicBezTo>
                  <a:close/>
                </a:path>
              </a:pathLst>
            </a:custGeom>
            <a:ln w="28575" cap="rnd">
              <a:solidFill>
                <a:srgbClr val="FFFFFF"/>
              </a:solidFill>
              <a:prstDash val="solid"/>
              <a:round/>
            </a:ln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66675"/>
              <a:ext cx="2264387" cy="122756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151"/>
                </a:lnSpc>
              </a:pPr>
              <a:endParaRPr lang="hu-HU" noProof="0" dirty="0"/>
            </a:p>
          </p:txBody>
        </p:sp>
      </p:grpSp>
      <p:grpSp>
        <p:nvGrpSpPr>
          <p:cNvPr id="8" name="Group 8" descr="cybernest logo"/>
          <p:cNvGrpSpPr/>
          <p:nvPr/>
        </p:nvGrpSpPr>
        <p:grpSpPr>
          <a:xfrm>
            <a:off x="9715525" y="1894724"/>
            <a:ext cx="8100748" cy="7772909"/>
            <a:chOff x="0" y="0"/>
            <a:chExt cx="1213116" cy="1164021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213116" cy="1164021"/>
            </a:xfrm>
            <a:custGeom>
              <a:avLst/>
              <a:gdLst/>
              <a:ahLst/>
              <a:cxnLst/>
              <a:rect l="l" t="t" r="r" b="b"/>
              <a:pathLst>
                <a:path w="1213116" h="1164021">
                  <a:moveTo>
                    <a:pt x="0" y="0"/>
                  </a:moveTo>
                  <a:lnTo>
                    <a:pt x="1213116" y="0"/>
                  </a:lnTo>
                  <a:lnTo>
                    <a:pt x="1213116" y="1164021"/>
                  </a:lnTo>
                  <a:lnTo>
                    <a:pt x="0" y="1164021"/>
                  </a:lnTo>
                  <a:close/>
                </a:path>
              </a:pathLst>
            </a:custGeom>
            <a:blipFill>
              <a:blip r:embed="rId3"/>
              <a:stretch>
                <a:fillRect t="-24" b="-24"/>
              </a:stretch>
            </a:blipFill>
          </p:spPr>
          <p:txBody>
            <a:bodyPr/>
            <a:lstStyle/>
            <a:p>
              <a:endParaRPr lang="hu-HU" noProof="0" dirty="0"/>
            </a:p>
          </p:txBody>
        </p:sp>
      </p:grpSp>
      <p:sp>
        <p:nvSpPr>
          <p:cNvPr id="10" name="Freeform 10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TextBox 11"/>
          <p:cNvSpPr txBox="1"/>
          <p:nvPr/>
        </p:nvSpPr>
        <p:spPr>
          <a:xfrm>
            <a:off x="1253962" y="5778929"/>
            <a:ext cx="7697643" cy="30702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39749" lvl="1" indent="-269875" algn="l">
              <a:lnSpc>
                <a:spcPts val="3499"/>
              </a:lnSpc>
              <a:buFont typeface="Arial"/>
              <a:buChar char="•"/>
            </a:pP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Összegzésként elmondható, hogy a projekt során sikeresen együttműködtünk, és a kezdeti tervezéstől a megvalósításig minden fontos lépést </a:t>
            </a:r>
            <a:r>
              <a:rPr lang="hu-HU" sz="2499" noProof="0" dirty="0" err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végigvittünk</a:t>
            </a:r>
            <a:r>
              <a:rPr lang="hu-HU" sz="2499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. A felmerülő problémákat közösen megoldottuk, így egy működő és jól használható alkalmazást hoztunk létre.</a:t>
            </a:r>
          </a:p>
        </p:txBody>
      </p:sp>
      <p:sp>
        <p:nvSpPr>
          <p:cNvPr id="12" name="TextBox 12"/>
          <p:cNvSpPr txBox="1">
            <a:spLocks noGrp="1"/>
          </p:cNvSpPr>
          <p:nvPr>
            <p:ph type="title" idx="4294967295"/>
          </p:nvPr>
        </p:nvSpPr>
        <p:spPr>
          <a:xfrm>
            <a:off x="1367778" y="2454798"/>
            <a:ext cx="3233625" cy="912456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ts val="6377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6252" b="1" i="0" u="none" strike="noStrike" kern="1200" cap="none" spc="-281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Végszó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144000" y="841660"/>
            <a:ext cx="2080644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Csapatmunka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1527590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 nehézségek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Végszó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Köszönjük!</a:t>
            </a:r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9A7492C7-F9A1-D864-465C-E820E8B03D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 3">
            <a:extLst>
              <a:ext uri="{FF2B5EF4-FFF2-40B4-BE49-F238E27FC236}">
                <a16:creationId xmlns:a16="http://schemas.microsoft.com/office/drawing/2014/main" id="{878755B7-75B4-9656-6041-5F0D1ED293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09601" y="8690119"/>
            <a:ext cx="2684576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5D58555C-8FA2-5C5A-1A36-372C0AE23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48861" y="8688081"/>
            <a:ext cx="3019140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15D208A3-887D-F5B3-E8B0-DD8C1E721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3376060" y="8688081"/>
            <a:ext cx="4226140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E9A42CCD-9E09-B0E2-5FFB-567EDB90BED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763000" y="575559"/>
            <a:ext cx="9053273" cy="1060162"/>
          </a:xfrm>
          <a:prstGeom prst="roundRect">
            <a:avLst>
              <a:gd name="adj" fmla="val 50000"/>
            </a:avLst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grpSp>
        <p:nvGrpSpPr>
          <p:cNvPr id="2" name="Group 2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96111" y="349538"/>
            <a:ext cx="17695777" cy="9587924"/>
            <a:chOff x="0" y="0"/>
            <a:chExt cx="4660616" cy="252521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660616" cy="2525215"/>
            </a:xfrm>
            <a:custGeom>
              <a:avLst/>
              <a:gdLst/>
              <a:ahLst/>
              <a:cxnLst/>
              <a:rect l="l" t="t" r="r" b="b"/>
              <a:pathLst>
                <a:path w="4660616" h="2525215">
                  <a:moveTo>
                    <a:pt x="24500" y="0"/>
                  </a:moveTo>
                  <a:lnTo>
                    <a:pt x="4636116" y="0"/>
                  </a:lnTo>
                  <a:cubicBezTo>
                    <a:pt x="4649647" y="0"/>
                    <a:pt x="4660616" y="10969"/>
                    <a:pt x="4660616" y="24500"/>
                  </a:cubicBezTo>
                  <a:lnTo>
                    <a:pt x="4660616" y="2500715"/>
                  </a:lnTo>
                  <a:cubicBezTo>
                    <a:pt x="4660616" y="2507212"/>
                    <a:pt x="4658035" y="2513444"/>
                    <a:pt x="4653440" y="2518039"/>
                  </a:cubicBezTo>
                  <a:cubicBezTo>
                    <a:pt x="4648846" y="2522633"/>
                    <a:pt x="4642614" y="2525215"/>
                    <a:pt x="4636116" y="2525215"/>
                  </a:cubicBezTo>
                  <a:lnTo>
                    <a:pt x="24500" y="2525215"/>
                  </a:lnTo>
                  <a:cubicBezTo>
                    <a:pt x="10969" y="2525215"/>
                    <a:pt x="0" y="2514246"/>
                    <a:pt x="0" y="2500715"/>
                  </a:cubicBezTo>
                  <a:lnTo>
                    <a:pt x="0" y="24500"/>
                  </a:lnTo>
                  <a:cubicBezTo>
                    <a:pt x="0" y="10969"/>
                    <a:pt x="10969" y="0"/>
                    <a:pt x="24500" y="0"/>
                  </a:cubicBezTo>
                  <a:close/>
                </a:path>
              </a:pathLst>
            </a:custGeom>
            <a:solidFill>
              <a:srgbClr val="00A8CC">
                <a:alpha val="20000"/>
              </a:srgbClr>
            </a:solidFill>
          </p:spPr>
          <p:txBody>
            <a:bodyPr/>
            <a:lstStyle/>
            <a:p>
              <a:endParaRPr lang="hu-HU" noProof="0" dirty="0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660616" cy="25633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 lang="hu-HU" noProof="0" dirty="0"/>
            </a:p>
          </p:txBody>
        </p:sp>
      </p:grpSp>
      <p:sp>
        <p:nvSpPr>
          <p:cNvPr id="5" name="TextBox 5"/>
          <p:cNvSpPr txBox="1">
            <a:spLocks noGrp="1"/>
          </p:cNvSpPr>
          <p:nvPr>
            <p:ph type="title" idx="4294967295"/>
          </p:nvPr>
        </p:nvSpPr>
        <p:spPr>
          <a:xfrm>
            <a:off x="3043801" y="2465917"/>
            <a:ext cx="12179177" cy="4945591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19302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13787" b="1" i="0" u="none" strike="noStrike" kern="1200" cap="none" spc="-62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elegraf Bold"/>
                <a:ea typeface="Telegraf Bold"/>
                <a:cs typeface="Telegraf Bold"/>
                <a:sym typeface="Telegraf Bold"/>
              </a:rPr>
              <a:t>Köszönjük a figyelmet!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05489" y="8994425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Király Gellért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511960" y="9002119"/>
            <a:ext cx="4747340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Kiss Richárd Bendegúz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01712" y="9002119"/>
            <a:ext cx="2684575" cy="451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61"/>
              </a:lnSpc>
            </a:pPr>
            <a:r>
              <a:rPr lang="hu-HU" sz="2472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Macza Ádám</a:t>
            </a:r>
          </a:p>
        </p:txBody>
      </p:sp>
      <p:sp>
        <p:nvSpPr>
          <p:cNvPr id="9" name="Freeform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  <p:sp>
        <p:nvSpPr>
          <p:cNvPr id="10" name="TextBox 10"/>
          <p:cNvSpPr txBox="1"/>
          <p:nvPr/>
        </p:nvSpPr>
        <p:spPr>
          <a:xfrm>
            <a:off x="9144000" y="841660"/>
            <a:ext cx="2080644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Csapatmunka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527590" y="662462"/>
            <a:ext cx="1907082" cy="8095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Csapat nehézségek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3737619" y="862487"/>
            <a:ext cx="1916881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3151"/>
              </a:lnSpc>
              <a:spcBef>
                <a:spcPct val="0"/>
              </a:spcBef>
            </a:pPr>
            <a:r>
              <a:rPr lang="hu-HU" sz="2251" noProof="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Végszó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5034325" y="862487"/>
            <a:ext cx="2224975" cy="40954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r">
              <a:lnSpc>
                <a:spcPts val="3151"/>
              </a:lnSpc>
              <a:spcBef>
                <a:spcPct val="0"/>
              </a:spcBef>
            </a:pPr>
            <a:r>
              <a:rPr lang="hu-HU" sz="2251" b="1" noProof="0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Köszönjük!</a:t>
            </a:r>
          </a:p>
        </p:txBody>
      </p:sp>
      <p:sp>
        <p:nvSpPr>
          <p:cNvPr id="15" name="Freeform 3">
            <a:extLst>
              <a:ext uri="{FF2B5EF4-FFF2-40B4-BE49-F238E27FC236}">
                <a16:creationId xmlns:a16="http://schemas.microsoft.com/office/drawing/2014/main" id="{4000F968-14C9-112D-210F-CCA49C1C7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0000">
                <a:alpha val="100000"/>
              </a:srgbClr>
            </a:gs>
            <a:gs pos="100000">
              <a:srgbClr val="09033D">
                <a:alpha val="100000"/>
              </a:srgbClr>
            </a:gs>
          </a:gsLst>
          <a:path path="circle">
            <a:fillToRect r="100000" b="100000"/>
          </a:path>
          <a:tileRect l="-100000" t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914823" y="4673024"/>
            <a:ext cx="4532858" cy="1985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u="sng" noProof="0" dirty="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  <a:hlinkClick r:id="rId2" tooltip="https://app.eraser.io"/>
              </a:rPr>
              <a:t>https://www.freepik.com/icon/security-lock_8631492</a:t>
            </a:r>
          </a:p>
        </p:txBody>
      </p:sp>
      <p:sp>
        <p:nvSpPr>
          <p:cNvPr id="3" name="TextBox 3"/>
          <p:cNvSpPr txBox="1">
            <a:spLocks noGrp="1"/>
          </p:cNvSpPr>
          <p:nvPr>
            <p:ph type="title" idx="4294967295"/>
          </p:nvPr>
        </p:nvSpPr>
        <p:spPr>
          <a:xfrm>
            <a:off x="1914823" y="2066715"/>
            <a:ext cx="7128718" cy="9366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ts val="77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hu-HU" sz="55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Bold"/>
                <a:ea typeface="Open Sans Bold"/>
                <a:cs typeface="Open Sans Bold"/>
                <a:sym typeface="Open Sans Bold"/>
              </a:rPr>
              <a:t>Felhasznált források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914823" y="3526213"/>
            <a:ext cx="5743883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https://stock.adobe.com/search?k=%22server+room%22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914823" y="3914834"/>
            <a:ext cx="3915083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https://app.eraser.io/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914823" y="4303454"/>
            <a:ext cx="7580858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https://www.zionandzion.com/how-to-fix-your-code-when-you-cant-figure-out-the-problem/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914823" y="5080694"/>
            <a:ext cx="6666458" cy="2032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https://stockcake.com/i/coding-team-collaborates_1510541_1170562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914823" y="5469314"/>
            <a:ext cx="6971258" cy="6392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679"/>
              </a:lnSpc>
            </a:pPr>
            <a:r>
              <a:rPr lang="hu-HU" sz="12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Canva</a:t>
            </a: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2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template</a:t>
            </a: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Black Modern </a:t>
            </a:r>
            <a:r>
              <a:rPr lang="hu-HU" sz="12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Gradient</a:t>
            </a: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2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Programmer</a:t>
            </a:r>
            <a:r>
              <a:rPr lang="hu-HU" sz="1200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hu-HU" sz="1200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rPr>
              <a:t>Presentation</a:t>
            </a:r>
            <a:endParaRPr lang="hu-HU" sz="1200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1679"/>
              </a:lnSpc>
            </a:pPr>
            <a:r>
              <a:rPr lang="hu-HU" sz="1200" u="sng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More </a:t>
            </a:r>
            <a:r>
              <a:rPr lang="hu-HU" sz="1200" u="sng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from</a:t>
            </a:r>
            <a:r>
              <a:rPr lang="hu-HU" sz="1200" u="sng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: </a:t>
            </a:r>
            <a:r>
              <a:rPr lang="hu-HU" sz="1200" u="sng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Ae</a:t>
            </a:r>
            <a:r>
              <a:rPr lang="hu-HU" sz="1200" u="sng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 </a:t>
            </a:r>
            <a:r>
              <a:rPr lang="hu-HU" sz="1200" u="sng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Senturo</a:t>
            </a:r>
            <a:r>
              <a:rPr lang="hu-HU" sz="1200" u="sng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 </a:t>
            </a:r>
            <a:r>
              <a:rPr lang="hu-HU" sz="1200" u="sng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by</a:t>
            </a:r>
            <a:r>
              <a:rPr lang="hu-HU" sz="1200" u="sng" noProof="0" dirty="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 </a:t>
            </a:r>
            <a:r>
              <a:rPr lang="hu-HU" sz="1200" u="sng" noProof="0" dirty="0" err="1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  <a:hlinkClick r:id="rId3" tooltip="https://www.canva.com/design/DAHGoU6KMYs/AeFeHgGo-zDH38JVkk5g1A/edit?referrer=https%3A%2F%2Fwww.canva.com%2F"/>
              </a:rPr>
              <a:t>Amir</a:t>
            </a:r>
            <a:endParaRPr lang="hu-HU" sz="1200" u="sng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  <a:hlinkClick r:id="rId3" tooltip="https://www.canva.com/design/DAHGoU6KMYs/AeFeHgGo-zDH38JVkk5g1A/edit?referrer=https%3A%2F%2Fwww.canva.com%2F"/>
            </a:endParaRPr>
          </a:p>
          <a:p>
            <a:pPr>
              <a:lnSpc>
                <a:spcPts val="1679"/>
              </a:lnSpc>
            </a:pPr>
            <a:endParaRPr lang="hu-HU" sz="1200" u="sng" noProof="0" dirty="0">
              <a:solidFill>
                <a:srgbClr val="FFFFFF"/>
              </a:solidFill>
              <a:latin typeface="Open Sans"/>
              <a:ea typeface="Open Sans"/>
              <a:cs typeface="Open Sans"/>
              <a:sym typeface="Open Sans"/>
              <a:hlinkClick r:id="rId3" tooltip="https://www.canva.com/design/DAHGoU6KMYs/AeFeHgGo-zDH38JVkk5g1A/edit?referrer=https%3A%2F%2Fwww.canva.com%2F"/>
            </a:endParaRPr>
          </a:p>
        </p:txBody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8B3E8355-FC39-F3DC-4F20-12D6E7377A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28446" y="777583"/>
            <a:ext cx="1111777" cy="1060162"/>
          </a:xfrm>
          <a:prstGeom prst="ellipse">
            <a:avLst/>
          </a:prstGeom>
          <a:solidFill>
            <a:srgbClr val="00A8CC">
              <a:alpha val="20000"/>
            </a:srgbClr>
          </a:solidFill>
          <a:effectLst>
            <a:softEdge rad="0"/>
          </a:effectLst>
        </p:spPr>
        <p:txBody>
          <a:bodyPr/>
          <a:lstStyle/>
          <a:p>
            <a:endParaRPr lang="hu-HU" noProof="0" dirty="0"/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FA63A26A-2FB5-8250-F238-61314154F8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005489" y="908335"/>
            <a:ext cx="757693" cy="727386"/>
          </a:xfrm>
          <a:custGeom>
            <a:avLst/>
            <a:gdLst/>
            <a:ahLst/>
            <a:cxnLst/>
            <a:rect l="l" t="t" r="r" b="b"/>
            <a:pathLst>
              <a:path w="757693" h="727386">
                <a:moveTo>
                  <a:pt x="0" y="0"/>
                </a:moveTo>
                <a:lnTo>
                  <a:pt x="757694" y="0"/>
                </a:lnTo>
                <a:lnTo>
                  <a:pt x="757694" y="727386"/>
                </a:lnTo>
                <a:lnTo>
                  <a:pt x="0" y="7273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hu-HU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</TotalTime>
  <Words>1878</Words>
  <Application>Microsoft Office PowerPoint</Application>
  <PresentationFormat>Egyéni</PresentationFormat>
  <Paragraphs>284</Paragraphs>
  <Slides>24</Slides>
  <Notes>20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9</vt:i4>
      </vt:variant>
      <vt:variant>
        <vt:lpstr>Téma</vt:lpstr>
      </vt:variant>
      <vt:variant>
        <vt:i4>1</vt:i4>
      </vt:variant>
      <vt:variant>
        <vt:lpstr>Diacímek</vt:lpstr>
      </vt:variant>
      <vt:variant>
        <vt:i4>24</vt:i4>
      </vt:variant>
    </vt:vector>
  </HeadingPairs>
  <TitlesOfParts>
    <vt:vector size="34" baseType="lpstr">
      <vt:lpstr>Poppins</vt:lpstr>
      <vt:lpstr>Arimo</vt:lpstr>
      <vt:lpstr>Calibri</vt:lpstr>
      <vt:lpstr>Poppins Bold</vt:lpstr>
      <vt:lpstr>Telegraf Bold</vt:lpstr>
      <vt:lpstr>Open Sans</vt:lpstr>
      <vt:lpstr>Open Sans Bold</vt:lpstr>
      <vt:lpstr>Open Sauce</vt:lpstr>
      <vt:lpstr>Arial</vt:lpstr>
      <vt:lpstr>Office Theme</vt:lpstr>
      <vt:lpstr>CyberNest</vt:lpstr>
      <vt:lpstr>Mi is a CyberNest?</vt:lpstr>
      <vt:lpstr>Probléma, amire a projekt megoldást nyújt</vt:lpstr>
      <vt:lpstr>PROJEKT CÉLJA</vt:lpstr>
      <vt:lpstr>Felhasználói szerepkörök</vt:lpstr>
      <vt:lpstr>Szerepkörök</vt:lpstr>
      <vt:lpstr>Rendszer architektúra</vt:lpstr>
      <vt:lpstr>Adatfolyam működés</vt:lpstr>
      <vt:lpstr>Frontend technológiák</vt:lpstr>
      <vt:lpstr>Frontend funkciók</vt:lpstr>
      <vt:lpstr>Backend technológiák</vt:lpstr>
      <vt:lpstr>REST API felépítés</vt:lpstr>
      <vt:lpstr>Adatbázis felépítés</vt:lpstr>
      <vt:lpstr>Jogosultságkezelés</vt:lpstr>
      <vt:lpstr>Foglalási folyamat</vt:lpstr>
      <vt:lpstr>Foglalási folyamat</vt:lpstr>
      <vt:lpstr>Foglalási folyamat</vt:lpstr>
      <vt:lpstr>Fejlesztői struktúra</vt:lpstr>
      <vt:lpstr>Tesztelés és hibakezelés</vt:lpstr>
      <vt:lpstr>PowerPoint-bemutató</vt:lpstr>
      <vt:lpstr>CSAPATNEHÉZSÉGEK</vt:lpstr>
      <vt:lpstr>Végszó</vt:lpstr>
      <vt:lpstr>Köszönjük a figyelmet!</vt:lpstr>
      <vt:lpstr>Felhasznált források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CyberNest</dc:title>
  <cp:lastModifiedBy>Ádám Macza</cp:lastModifiedBy>
  <cp:revision>9</cp:revision>
  <dcterms:created xsi:type="dcterms:W3CDTF">2006-08-16T00:00:00Z</dcterms:created>
  <dcterms:modified xsi:type="dcterms:W3CDTF">2026-04-12T14:57:46Z</dcterms:modified>
  <dc:identifier>DAHGoU6KMYs</dc:identifier>
</cp:coreProperties>
</file>