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8288000" cy="10287000"/>
  <p:notesSz cx="6858000" cy="9144000"/>
  <p:embeddedFontLst>
    <p:embeddedFont>
      <p:font typeface="Arimo" panose="020B0604020202020204" charset="0"/>
      <p:regular r:id="rId27"/>
    </p:embeddedFont>
    <p:embeddedFont>
      <p:font typeface="Open Sans" panose="020B0606030504020204" pitchFamily="34" charset="0"/>
      <p:regular r:id="rId28"/>
      <p:bold r:id="rId29"/>
      <p:italic r:id="rId30"/>
      <p:boldItalic r:id="rId31"/>
    </p:embeddedFont>
    <p:embeddedFont>
      <p:font typeface="Open Sans Bold" panose="020B0806030504020204" charset="0"/>
      <p:regular r:id="rId32"/>
    </p:embeddedFont>
    <p:embeddedFont>
      <p:font typeface="Open Sauce" panose="020B0604020202020204" charset="-18"/>
      <p:regular r:id="rId33"/>
    </p:embeddedFont>
    <p:embeddedFont>
      <p:font typeface="Poppins" panose="00000500000000000000" pitchFamily="2" charset="-18"/>
      <p:regular r:id="rId34"/>
      <p:bold r:id="rId35"/>
      <p:italic r:id="rId36"/>
      <p:boldItalic r:id="rId37"/>
    </p:embeddedFont>
    <p:embeddedFont>
      <p:font typeface="Poppins Bold" panose="00000800000000000000" charset="-18"/>
      <p:regular r:id="rId38"/>
    </p:embeddedFont>
    <p:embeddedFont>
      <p:font typeface="Telegraf Bold" panose="020B0604020202020204" charset="-18"/>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8CC"/>
    <a:srgbClr val="6C63FF"/>
    <a:srgbClr val="1B1F45"/>
    <a:srgbClr val="3E3F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9" autoAdjust="0"/>
    <p:restoredTop sz="81833" autoAdjust="0"/>
  </p:normalViewPr>
  <p:slideViewPr>
    <p:cSldViewPr>
      <p:cViewPr varScale="1">
        <p:scale>
          <a:sx n="91" d="100"/>
          <a:sy n="91" d="100"/>
        </p:scale>
        <p:origin x="810" y="90"/>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CyberNest is an on-site IT mentoring program designed to help students acquire IT and networking skills in a hands-on manner using real infrastructure. The program is not based solely on theoretical learning; rather, it facilitates development through the use of actual systems. Participants start at their own level and can gradually progress to an advanced level.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project is based on the observation that traditional school education often fails to provide sufficient hands-on experience. Learning is frequently theory-centered and does not always relate to real-world systems. As a result, students find it harder to understand how technologies work in practice. In addition, there is often a lack of a structured development path and personal mentoring, which would aid in learning.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main goal of the project is for students not only to acquire theoretical knowledge but also to be able to apply it in a practical setting. Personal mentoring provides support for this, which aids the learning process. The emphasis is on understanding and using real-world systems, not merely on the superficial operation of tools.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system distinguishes between three main user roles. Guest users can only view public content but do not have access to restricted features. Registered users can log in, create reservations, and manage their own data and reservations. The admin role has the highest level of permissions; they manage the equipment, schedules, and users.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CyberNest follows a modern, three-tier web architecture. The frontend, which handles the user interface, was implemented using React and Vite. The backend runs on Node.js and Express, where business logic is processed and API endpoints are </a:t>
            </a:r>
            <a:r>
              <a:rPr lang="en-US" dirty="0" err="1"/>
              <a:t>managed.Data</a:t>
            </a:r>
            <a:r>
              <a:rPr lang="en-US" dirty="0"/>
              <a:t> storage is provided by a MySQL database, which enables structured and reliable data management. Authentication in the system is handled using JWT tokens, ensuring access to protected </a:t>
            </a:r>
            <a:r>
              <a:rPr lang="en-US" dirty="0" err="1"/>
              <a:t>endpoints.Additionally</a:t>
            </a:r>
            <a:r>
              <a:rPr lang="en-US" dirty="0"/>
              <a:t>, an OAuth-based login option is available, enabling authentication through an external service provider, thereby enhancing the system’s security and convenience.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Our system follows a classic client-server architecture. The user interface, or frontend, sends requests to the backend. The backend processes these requests and, if necessary, performs JWT-based </a:t>
            </a:r>
            <a:r>
              <a:rPr lang="en-US" dirty="0" err="1"/>
              <a:t>authentication.The</a:t>
            </a:r>
            <a:r>
              <a:rPr lang="en-US" dirty="0"/>
              <a:t> backend then executes database operations in MySQL and returns the result in JSON format to the frontend, which displays it to the user.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frontend is built on React, which enables component-based development. We used React Router to handle navigation between pages. State management is responsible for managing the application’s various states, such as user data or login status. Protected routes ensure that only logged-in users can access certain pages.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frontend’s main features include login and registration, which ensure user authentication. The dashboard is a control panel where users can manage their personal information and </a:t>
            </a:r>
            <a:r>
              <a:rPr lang="en-US" dirty="0" err="1"/>
              <a:t>reservations.The</a:t>
            </a:r>
            <a:r>
              <a:rPr lang="en-US" dirty="0"/>
              <a:t> booking process consists of several steps, where the user selects the device, the time, and then finalizes the booking. The device list displays the available devices, while the responsive interface ensures that the application works well on various devices, such as mobile phones and desktop computers.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We built the frontend using React, which enables component-based development. We implemented navigation between different pages using React Router. State management handles the application’s state, while protected routes ensure that only logged-in users can access certain </a:t>
            </a:r>
            <a:r>
              <a:rPr lang="en-US" dirty="0" err="1"/>
              <a:t>pages.The</a:t>
            </a:r>
            <a:r>
              <a:rPr lang="en-US" dirty="0"/>
              <a:t> dashboard is a user control panel where logged-in users can view their personal data, reservations, and the features available to them.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We built the frontend using React, which enables component-based development. We implemented navigation between different pages using React Router. State management handles the application’s state, while protected routes ensure that only logged-in users can access certain </a:t>
            </a:r>
            <a:r>
              <a:rPr lang="en-US" dirty="0" err="1"/>
              <a:t>pages.The</a:t>
            </a:r>
            <a:r>
              <a:rPr lang="en-US" dirty="0"/>
              <a:t> dashboard is a user control panel where logged-in users can view their personal data, reservations, and the features available to them.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Our database is based on a relational structure consisting of several interconnected tables. User data is managed by the `users` table, while the `equipment` and `time-slots` tables contain bookable resources and time </a:t>
            </a:r>
            <a:r>
              <a:rPr lang="en-US" dirty="0" err="1"/>
              <a:t>slots.The</a:t>
            </a:r>
            <a:r>
              <a:rPr lang="en-US" dirty="0"/>
              <a:t> reservation table links users to equipment and time slots. In addition, separate tables manage evaluations, such as </a:t>
            </a:r>
            <a:r>
              <a:rPr lang="en-US" dirty="0" err="1"/>
              <a:t>general_evaluation</a:t>
            </a:r>
            <a:r>
              <a:rPr lang="en-US" dirty="0"/>
              <a:t> and </a:t>
            </a:r>
            <a:r>
              <a:rPr lang="en-US" dirty="0" err="1"/>
              <a:t>mentor_evaluation.The</a:t>
            </a:r>
            <a:r>
              <a:rPr lang="en-US" dirty="0"/>
              <a:t> log table tracks the system’s operation, while the operator data supports administration.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system’s access control is based on JWT token authentication. After logging in, the user receives a token, which they send to the backend with every protected </a:t>
            </a:r>
            <a:r>
              <a:rPr lang="en-US" dirty="0" err="1"/>
              <a:t>request.The</a:t>
            </a:r>
            <a:r>
              <a:rPr lang="en-US" dirty="0"/>
              <a:t> system handles user and admin roles separately, so certain endpoints are accessible only with admin privileges. The middleware layer is responsible for verifying the token and permissions for every request before the request is forwarded to the backend logic.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booking process consists of several consecutive steps. First, the user selects the appropriate service, and then chooses a suitable time slot from the available </a:t>
            </a:r>
            <a:r>
              <a:rPr lang="en-US" dirty="0" err="1"/>
              <a:t>options.In</a:t>
            </a:r>
            <a:r>
              <a:rPr lang="en-US" dirty="0"/>
              <a:t> the next step, the user enters the necessary information, such as the booking details. Finally, the system finalizes the booking and stores it in the database, so it can be viewed and managed later.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booking process consists of several consecutive steps. First, the user selects the appropriate service, and then chooses a suitable time slot from the available </a:t>
            </a:r>
            <a:r>
              <a:rPr lang="en-US" dirty="0" err="1"/>
              <a:t>options.In</a:t>
            </a:r>
            <a:r>
              <a:rPr lang="en-US" dirty="0"/>
              <a:t> the next step, the user enters the necessary information, such as the booking details. Finally, the system finalizes the booking and stores it in the database, so it can be viewed and managed later.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booking process consists of several consecutive steps. First, the user selects the appropriate service, and then chooses a suitable time slot from the available </a:t>
            </a:r>
            <a:r>
              <a:rPr lang="en-US" dirty="0" err="1"/>
              <a:t>options.In</a:t>
            </a:r>
            <a:r>
              <a:rPr lang="en-US" dirty="0"/>
              <a:t> the next step, the user enters the necessary information, such as the booking details. Finally, the system finalizes the booking and stores it in the database, so it can be viewed and managed later.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project has a modular structure. The frontend and backend are located in separate directories, and the backend is divided into controller, route, and model layers, which enhances maintainability and scalability.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project was developed as a team effort, with separate roles for front-end, back-end, and desktop development. We used GitHub for version control, which facilitated collaboration and code management.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project has a modular structure. The frontend and backend are located in separate directories, and the backend is divided into controller, route, and model layers, which enhances maintainability and scalability.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At the start of the project, we set up a GitHub repository where we collaborated and managed versions. We established a schedule to ensure that all tasks were completed on time. During development, we used WPF technology to build the application. We discussed the roles so that everyone knew exactly what their tasks were. We tested the application on multiple platforms and continuously fixed any compatibility issues that arose to ensure the most stable operation possible.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539749" lvl="1" indent="-269875">
              <a:lnSpc>
                <a:spcPts val="3499"/>
              </a:lnSpc>
              <a:buFont typeface="Arial"/>
              <a:buChar char="•"/>
            </a:pPr>
            <a:r>
              <a:rPr lang="en-US" sz="2499" noProof="0" dirty="0">
                <a:solidFill>
                  <a:srgbClr val="FFFFFF"/>
                </a:solidFill>
                <a:latin typeface="Poppins"/>
                <a:ea typeface="Poppins"/>
                <a:cs typeface="Poppins"/>
                <a:sym typeface="Poppins"/>
              </a:rPr>
              <a:t>In summary, we worked together successfully throughout the project and completed every important step, from initial planning through to implementation. We solved any problems that arose together, resulting in a functional and user-friendly application.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www.canva.com/design/DAHGoU6KMYs/AeFeHgGo-zDH38JVkk5g1A/edit?referrer=https%3A%2F%2Fwww.canva.com%2F" TargetMode="External"/><Relationship Id="rId2" Type="http://schemas.openxmlformats.org/officeDocument/2006/relationships/hyperlink" Target="https://app.eraser.io" TargetMode="External"/><Relationship Id="rId1" Type="http://schemas.openxmlformats.org/officeDocument/2006/relationships/slideLayout" Target="../slideLayouts/slideLayout7.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6" name="Freeform 3">
            <a:extLst>
              <a:ext uri="{FF2B5EF4-FFF2-40B4-BE49-F238E27FC236}">
                <a16:creationId xmlns:a16="http://schemas.microsoft.com/office/drawing/2014/main" id="{C04F21A1-F6BE-98B4-9758-ADB074940A2F}"/>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sp>
        <p:nvSpPr>
          <p:cNvPr id="19" name="Freeform 3">
            <a:extLst>
              <a:ext uri="{FF2B5EF4-FFF2-40B4-BE49-F238E27FC236}">
                <a16:creationId xmlns:a16="http://schemas.microsoft.com/office/drawing/2014/main" id="{B7F827DD-548C-CA80-0523-7C2DE224AC43}"/>
              </a:ext>
              <a:ext uri="{C183D7F6-B498-43B3-948B-1728B52AA6E4}">
                <adec:decorative xmlns:adec="http://schemas.microsoft.com/office/drawing/2017/decorative" val="1"/>
              </a:ext>
            </a:extLst>
          </p:cNvPr>
          <p:cNvSpPr/>
          <p:nvPr/>
        </p:nvSpPr>
        <p:spPr>
          <a:xfrm>
            <a:off x="7648861" y="8688081"/>
            <a:ext cx="3019140"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sp>
        <p:nvSpPr>
          <p:cNvPr id="20" name="Freeform 3">
            <a:extLst>
              <a:ext uri="{FF2B5EF4-FFF2-40B4-BE49-F238E27FC236}">
                <a16:creationId xmlns:a16="http://schemas.microsoft.com/office/drawing/2014/main" id="{46F462F2-2F65-6799-BC9B-C362AA513AB7}"/>
              </a:ext>
              <a:ext uri="{C183D7F6-B498-43B3-948B-1728B52AA6E4}">
                <adec:decorative xmlns:adec="http://schemas.microsoft.com/office/drawing/2017/decorative" val="1"/>
              </a:ext>
            </a:extLst>
          </p:cNvPr>
          <p:cNvSpPr/>
          <p:nvPr/>
        </p:nvSpPr>
        <p:spPr>
          <a:xfrm>
            <a:off x="13376060" y="8688081"/>
            <a:ext cx="4226140"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sp>
        <p:nvSpPr>
          <p:cNvPr id="18" name="Freeform 3">
            <a:extLst>
              <a:ext uri="{FF2B5EF4-FFF2-40B4-BE49-F238E27FC236}">
                <a16:creationId xmlns:a16="http://schemas.microsoft.com/office/drawing/2014/main" id="{0E0CCC12-4690-7A31-2D47-62D24675D9A1}"/>
              </a:ext>
              <a:ext uri="{C183D7F6-B498-43B3-948B-1728B52AA6E4}">
                <adec:decorative xmlns:adec="http://schemas.microsoft.com/office/drawing/2017/decorative" val="1"/>
              </a:ext>
            </a:extLst>
          </p:cNvPr>
          <p:cNvSpPr/>
          <p:nvPr/>
        </p:nvSpPr>
        <p:spPr>
          <a:xfrm>
            <a:off x="609601" y="8690119"/>
            <a:ext cx="2684576"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grpSp>
        <p:nvGrpSpPr>
          <p:cNvPr id="2" name="Group 2">
            <a:extLst>
              <a:ext uri="{C183D7F6-B498-43B3-948B-1728B52AA6E4}">
                <adec:decorative xmlns:adec="http://schemas.microsoft.com/office/drawing/2017/decorative" val="1"/>
              </a:ext>
            </a:extLst>
          </p:cNvPr>
          <p:cNvGrpSpPr/>
          <p:nvPr/>
        </p:nvGrpSpPr>
        <p:grpSpPr>
          <a:xfrm>
            <a:off x="296111" y="204877"/>
            <a:ext cx="17695777" cy="9732585"/>
            <a:chOff x="0" y="-38100"/>
            <a:chExt cx="4660616" cy="2563315"/>
          </a:xfrm>
        </p:grpSpPr>
        <p:sp>
          <p:nvSpPr>
            <p:cNvPr id="3" name="Freeform 3"/>
            <p:cNvSpPr/>
            <p:nvPr/>
          </p:nvSpPr>
          <p:spPr>
            <a:xfrm>
              <a:off x="0" y="0"/>
              <a:ext cx="4660616" cy="2525215"/>
            </a:xfrm>
            <a:custGeom>
              <a:avLst/>
              <a:gdLst/>
              <a:ahLst/>
              <a:cxnLst/>
              <a:rect l="l" t="t" r="r" b="b"/>
              <a:pathLst>
                <a:path w="4660616" h="2525215">
                  <a:moveTo>
                    <a:pt x="24500" y="0"/>
                  </a:moveTo>
                  <a:lnTo>
                    <a:pt x="4636116" y="0"/>
                  </a:lnTo>
                  <a:cubicBezTo>
                    <a:pt x="4649647" y="0"/>
                    <a:pt x="4660616" y="10969"/>
                    <a:pt x="4660616" y="24500"/>
                  </a:cubicBezTo>
                  <a:lnTo>
                    <a:pt x="4660616" y="2500715"/>
                  </a:lnTo>
                  <a:cubicBezTo>
                    <a:pt x="4660616" y="2507212"/>
                    <a:pt x="4658035" y="2513444"/>
                    <a:pt x="4653440" y="2518039"/>
                  </a:cubicBezTo>
                  <a:cubicBezTo>
                    <a:pt x="4648846" y="2522633"/>
                    <a:pt x="4642614" y="2525215"/>
                    <a:pt x="4636116" y="2525215"/>
                  </a:cubicBezTo>
                  <a:lnTo>
                    <a:pt x="24500" y="2525215"/>
                  </a:lnTo>
                  <a:cubicBezTo>
                    <a:pt x="10969" y="2525215"/>
                    <a:pt x="0" y="2514246"/>
                    <a:pt x="0" y="2500715"/>
                  </a:cubicBezTo>
                  <a:lnTo>
                    <a:pt x="0" y="24500"/>
                  </a:lnTo>
                  <a:cubicBezTo>
                    <a:pt x="0" y="10969"/>
                    <a:pt x="10969" y="0"/>
                    <a:pt x="24500" y="0"/>
                  </a:cubicBezTo>
                  <a:close/>
                </a:path>
              </a:pathLst>
            </a:custGeom>
            <a:solidFill>
              <a:srgbClr val="00A8CC">
                <a:alpha val="20000"/>
              </a:srgbClr>
            </a:solidFill>
          </p:spPr>
          <p:txBody>
            <a:bodyPr/>
            <a:lstStyle/>
            <a:p>
              <a:endParaRPr lang="en-US" noProof="0" dirty="0"/>
            </a:p>
          </p:txBody>
        </p:sp>
        <p:sp>
          <p:nvSpPr>
            <p:cNvPr id="4" name="TextBox 4"/>
            <p:cNvSpPr txBox="1"/>
            <p:nvPr/>
          </p:nvSpPr>
          <p:spPr>
            <a:xfrm>
              <a:off x="0" y="-38100"/>
              <a:ext cx="4660616" cy="2563315"/>
            </a:xfrm>
            <a:prstGeom prst="rect">
              <a:avLst/>
            </a:prstGeom>
          </p:spPr>
          <p:txBody>
            <a:bodyPr lIns="50800" tIns="50800" rIns="50800" bIns="50800" rtlCol="0" anchor="ctr"/>
            <a:lstStyle/>
            <a:p>
              <a:pPr algn="ctr">
                <a:lnSpc>
                  <a:spcPts val="2659"/>
                </a:lnSpc>
                <a:spcBef>
                  <a:spcPct val="0"/>
                </a:spcBef>
              </a:pPr>
              <a:endParaRPr lang="en-US" noProof="0" dirty="0"/>
            </a:p>
          </p:txBody>
        </p:sp>
      </p:grpSp>
      <p:sp>
        <p:nvSpPr>
          <p:cNvPr id="5" name="Freeform 5">
            <a:extLs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2"/>
            <a:stretch>
              <a:fillRect/>
            </a:stretch>
          </a:blipFill>
        </p:spPr>
        <p:txBody>
          <a:bodyPr/>
          <a:lstStyle/>
          <a:p>
            <a:endParaRPr lang="en-US" noProof="0" dirty="0"/>
          </a:p>
        </p:txBody>
      </p:sp>
      <p:sp>
        <p:nvSpPr>
          <p:cNvPr id="17" name="Freeform 3">
            <a:extLst>
              <a:ext uri="{FF2B5EF4-FFF2-40B4-BE49-F238E27FC236}">
                <a16:creationId xmlns:a16="http://schemas.microsoft.com/office/drawing/2014/main" id="{C0DDEB28-873B-F6D2-9BDD-72ED5E24AC71}"/>
              </a:ext>
              <a:ext uri="{C183D7F6-B498-43B3-948B-1728B52AA6E4}">
                <adec:decorative xmlns:adec="http://schemas.microsoft.com/office/drawing/2017/decorative" val="1"/>
              </a:ext>
            </a:extLst>
          </p:cNvPr>
          <p:cNvSpPr/>
          <p:nvPr/>
        </p:nvSpPr>
        <p:spPr>
          <a:xfrm>
            <a:off x="609600" y="741940"/>
            <a:ext cx="385026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sp>
        <p:nvSpPr>
          <p:cNvPr id="8" name="TextBox 8"/>
          <p:cNvSpPr txBox="1"/>
          <p:nvPr/>
        </p:nvSpPr>
        <p:spPr>
          <a:xfrm>
            <a:off x="2036410" y="834349"/>
            <a:ext cx="2685498" cy="875345"/>
          </a:xfrm>
          <a:prstGeom prst="rect">
            <a:avLst/>
          </a:prstGeom>
        </p:spPr>
        <p:txBody>
          <a:bodyPr lIns="0" tIns="0" rIns="0" bIns="0" rtlCol="0" anchor="t">
            <a:spAutoFit/>
          </a:bodyPr>
          <a:lstStyle/>
          <a:p>
            <a:pPr>
              <a:lnSpc>
                <a:spcPts val="3391"/>
              </a:lnSpc>
              <a:spcBef>
                <a:spcPct val="0"/>
              </a:spcBef>
            </a:pPr>
            <a:r>
              <a:rPr lang="en-US" sz="2422" b="1" spc="-109" noProof="0" dirty="0">
                <a:solidFill>
                  <a:srgbClr val="FFFFFF"/>
                </a:solidFill>
                <a:latin typeface="Telegraf Bold"/>
                <a:ea typeface="Telegraf Bold"/>
                <a:cs typeface="Telegraf Bold"/>
                <a:sym typeface="Telegraf Bold"/>
              </a:rPr>
              <a:t>Exam Sample Presentation</a:t>
            </a:r>
          </a:p>
        </p:txBody>
      </p:sp>
      <p:sp>
        <p:nvSpPr>
          <p:cNvPr id="12" name="TextBox 12"/>
          <p:cNvSpPr txBox="1"/>
          <p:nvPr/>
        </p:nvSpPr>
        <p:spPr>
          <a:xfrm>
            <a:off x="9214008" y="879241"/>
            <a:ext cx="1841707" cy="388633"/>
          </a:xfrm>
          <a:prstGeom prst="rect">
            <a:avLst/>
          </a:prstGeom>
        </p:spPr>
        <p:txBody>
          <a:bodyPr wrap="square" lIns="0" tIns="0" rIns="0" bIns="0" rtlCol="0" anchor="t">
            <a:spAutoFit/>
          </a:bodyPr>
          <a:lstStyle/>
          <a:p>
            <a:pPr lvl="0" algn="r">
              <a:lnSpc>
                <a:spcPts val="3151"/>
              </a:lnSpc>
              <a:spcBef>
                <a:spcPct val="0"/>
              </a:spcBef>
            </a:pPr>
            <a:r>
              <a:rPr lang="en-US" sz="2251" b="1" noProof="0" dirty="0">
                <a:solidFill>
                  <a:srgbClr val="FFFFFF"/>
                </a:solidFill>
                <a:latin typeface="Poppins Bold"/>
                <a:ea typeface="Poppins Bold"/>
                <a:cs typeface="Poppins Bold"/>
                <a:sym typeface="Poppins Bold"/>
              </a:rPr>
              <a:t>Introduction</a:t>
            </a:r>
          </a:p>
        </p:txBody>
      </p:sp>
      <p:sp>
        <p:nvSpPr>
          <p:cNvPr id="13" name="TextBox 13"/>
          <p:cNvSpPr txBox="1"/>
          <p:nvPr/>
        </p:nvSpPr>
        <p:spPr>
          <a:xfrm>
            <a:off x="11409986" y="879241"/>
            <a:ext cx="1907082" cy="388633"/>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What is this?</a:t>
            </a:r>
          </a:p>
        </p:txBody>
      </p:sp>
      <p:sp>
        <p:nvSpPr>
          <p:cNvPr id="14" name="TextBox 14"/>
          <p:cNvSpPr txBox="1"/>
          <p:nvPr/>
        </p:nvSpPr>
        <p:spPr>
          <a:xfrm>
            <a:off x="13529957" y="879241"/>
            <a:ext cx="2035781" cy="388633"/>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Main problem</a:t>
            </a:r>
          </a:p>
        </p:txBody>
      </p:sp>
      <p:sp>
        <p:nvSpPr>
          <p:cNvPr id="15" name="TextBox 15"/>
          <p:cNvSpPr txBox="1"/>
          <p:nvPr/>
        </p:nvSpPr>
        <p:spPr>
          <a:xfrm>
            <a:off x="15258363" y="879241"/>
            <a:ext cx="2224975" cy="388633"/>
          </a:xfrm>
          <a:prstGeom prst="rect">
            <a:avLst/>
          </a:prstGeom>
        </p:spPr>
        <p:txBody>
          <a:bodyPr lIns="0" tIns="0" rIns="0" bIns="0" rtlCol="0" anchor="t">
            <a:spAutoFit/>
          </a:bodyPr>
          <a:lstStyle/>
          <a:p>
            <a:pPr lvl="0" algn="r">
              <a:lnSpc>
                <a:spcPts val="3151"/>
              </a:lnSpc>
              <a:spcBef>
                <a:spcPct val="0"/>
              </a:spcBef>
            </a:pPr>
            <a:r>
              <a:rPr lang="en-US" sz="2251" noProof="0" dirty="0">
                <a:solidFill>
                  <a:srgbClr val="FFFFFF"/>
                </a:solidFill>
                <a:latin typeface="Poppins"/>
                <a:ea typeface="Poppins"/>
                <a:cs typeface="Poppins"/>
                <a:sym typeface="Poppins"/>
              </a:rPr>
              <a:t>Objectives</a:t>
            </a:r>
          </a:p>
        </p:txBody>
      </p:sp>
      <p:sp>
        <p:nvSpPr>
          <p:cNvPr id="6" name="Freeform 6">
            <a:extLst>
              <a:ext uri="{C183D7F6-B498-43B3-948B-1728B52AA6E4}">
                <adec:decorative xmlns:adec="http://schemas.microsoft.com/office/drawing/2017/decorative" val="1"/>
              </a:ext>
            </a:extLst>
          </p:cNvPr>
          <p:cNvSpPr/>
          <p:nvPr/>
        </p:nvSpPr>
        <p:spPr>
          <a:xfrm>
            <a:off x="2908337" y="3835075"/>
            <a:ext cx="3100181" cy="2739785"/>
          </a:xfrm>
          <a:custGeom>
            <a:avLst/>
            <a:gdLst/>
            <a:ahLst/>
            <a:cxnLst/>
            <a:rect l="l" t="t" r="r" b="b"/>
            <a:pathLst>
              <a:path w="3100181" h="2739785">
                <a:moveTo>
                  <a:pt x="0" y="0"/>
                </a:moveTo>
                <a:lnTo>
                  <a:pt x="3100181" y="0"/>
                </a:lnTo>
                <a:lnTo>
                  <a:pt x="3100181" y="2739786"/>
                </a:lnTo>
                <a:lnTo>
                  <a:pt x="0" y="2739786"/>
                </a:lnTo>
                <a:lnTo>
                  <a:pt x="0" y="0"/>
                </a:lnTo>
                <a:close/>
              </a:path>
            </a:pathLst>
          </a:custGeom>
          <a:blipFill>
            <a:blip r:embed="rId3"/>
            <a:stretch>
              <a:fillRect/>
            </a:stretch>
          </a:blipFill>
        </p:spPr>
        <p:txBody>
          <a:bodyPr/>
          <a:lstStyle/>
          <a:p>
            <a:endParaRPr lang="en-US" noProof="0" dirty="0"/>
          </a:p>
        </p:txBody>
      </p:sp>
      <p:sp>
        <p:nvSpPr>
          <p:cNvPr id="7" name="TextBox 7"/>
          <p:cNvSpPr txBox="1">
            <a:spLocks noGrp="1"/>
          </p:cNvSpPr>
          <p:nvPr>
            <p:ph type="title" idx="4294967295"/>
          </p:nvPr>
        </p:nvSpPr>
        <p:spPr>
          <a:xfrm>
            <a:off x="4578412" y="3748941"/>
            <a:ext cx="12179177" cy="250247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ts val="19302"/>
              </a:lnSpc>
              <a:spcBef>
                <a:spcPct val="0"/>
              </a:spcBef>
              <a:spcAft>
                <a:spcPts val="0"/>
              </a:spcAft>
              <a:buClrTx/>
              <a:buSzTx/>
              <a:buFontTx/>
              <a:buNone/>
              <a:tabLst/>
              <a:defRPr/>
            </a:pPr>
            <a:r>
              <a:rPr kumimoji="0" lang="en-US" sz="13787" b="1" i="0" u="none" strike="noStrike" kern="1200" cap="none" spc="-620" normalizeH="0" baseline="0" noProof="0" dirty="0">
                <a:ln>
                  <a:noFill/>
                </a:ln>
                <a:solidFill>
                  <a:srgbClr val="FFFFFF"/>
                </a:solidFill>
                <a:effectLst/>
                <a:uLnTx/>
                <a:uFillTx/>
                <a:latin typeface="Telegraf Bold"/>
                <a:ea typeface="Telegraf Bold"/>
                <a:cs typeface="Telegraf Bold"/>
                <a:sym typeface="Telegraf Bold"/>
              </a:rPr>
              <a:t>CyberNest</a:t>
            </a:r>
          </a:p>
        </p:txBody>
      </p:sp>
      <p:sp>
        <p:nvSpPr>
          <p:cNvPr id="9" name="TextBox 9"/>
          <p:cNvSpPr txBox="1"/>
          <p:nvPr/>
        </p:nvSpPr>
        <p:spPr>
          <a:xfrm>
            <a:off x="1005489" y="8994425"/>
            <a:ext cx="4747340" cy="451551"/>
          </a:xfrm>
          <a:prstGeom prst="rect">
            <a:avLst/>
          </a:prstGeom>
        </p:spPr>
        <p:txBody>
          <a:bodyPr lIns="0" tIns="0" rIns="0" bIns="0" rtlCol="0" anchor="t">
            <a:spAutoFit/>
          </a:bodyPr>
          <a:lstStyle/>
          <a:p>
            <a:pPr algn="l">
              <a:lnSpc>
                <a:spcPts val="3461"/>
              </a:lnSpc>
            </a:pPr>
            <a:r>
              <a:rPr lang="en-US" sz="2472" noProof="0" dirty="0">
                <a:solidFill>
                  <a:srgbClr val="FFFFFF"/>
                </a:solidFill>
                <a:latin typeface="Poppins"/>
                <a:ea typeface="Poppins"/>
                <a:cs typeface="Poppins"/>
                <a:sym typeface="Poppins"/>
              </a:rPr>
              <a:t>Király Gellért</a:t>
            </a:r>
          </a:p>
        </p:txBody>
      </p:sp>
      <p:sp>
        <p:nvSpPr>
          <p:cNvPr id="11" name="TextBox 11"/>
          <p:cNvSpPr txBox="1"/>
          <p:nvPr/>
        </p:nvSpPr>
        <p:spPr>
          <a:xfrm>
            <a:off x="7801712" y="9002119"/>
            <a:ext cx="2684575" cy="451551"/>
          </a:xfrm>
          <a:prstGeom prst="rect">
            <a:avLst/>
          </a:prstGeom>
        </p:spPr>
        <p:txBody>
          <a:bodyPr lIns="0" tIns="0" rIns="0" bIns="0" rtlCol="0" anchor="t">
            <a:spAutoFit/>
          </a:bodyPr>
          <a:lstStyle/>
          <a:p>
            <a:pPr algn="ctr">
              <a:lnSpc>
                <a:spcPts val="3461"/>
              </a:lnSpc>
            </a:pPr>
            <a:r>
              <a:rPr lang="en-US" sz="2472" noProof="0" dirty="0">
                <a:solidFill>
                  <a:srgbClr val="FFFFFF"/>
                </a:solidFill>
                <a:latin typeface="Poppins"/>
                <a:ea typeface="Poppins"/>
                <a:cs typeface="Poppins"/>
                <a:sym typeface="Poppins"/>
              </a:rPr>
              <a:t>Macza Ádám</a:t>
            </a:r>
          </a:p>
        </p:txBody>
      </p:sp>
      <p:sp>
        <p:nvSpPr>
          <p:cNvPr id="10" name="TextBox 10"/>
          <p:cNvSpPr txBox="1"/>
          <p:nvPr/>
        </p:nvSpPr>
        <p:spPr>
          <a:xfrm>
            <a:off x="12511960" y="9002119"/>
            <a:ext cx="4747340" cy="451551"/>
          </a:xfrm>
          <a:prstGeom prst="rect">
            <a:avLst/>
          </a:prstGeom>
        </p:spPr>
        <p:txBody>
          <a:bodyPr lIns="0" tIns="0" rIns="0" bIns="0" rtlCol="0" anchor="t">
            <a:spAutoFit/>
          </a:bodyPr>
          <a:lstStyle/>
          <a:p>
            <a:pPr algn="r">
              <a:lnSpc>
                <a:spcPts val="3461"/>
              </a:lnSpc>
            </a:pPr>
            <a:r>
              <a:rPr lang="en-US" sz="2472" noProof="0" dirty="0">
                <a:solidFill>
                  <a:srgbClr val="FFFFFF"/>
                </a:solidFill>
                <a:latin typeface="Poppins"/>
                <a:ea typeface="Poppins"/>
                <a:cs typeface="Poppins"/>
                <a:sym typeface="Poppins"/>
              </a:rPr>
              <a:t>Kiss Richárd Bendegúz</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 calcmode="lin" valueType="num">
                                      <p:cBhvr>
                                        <p:cTn id="9" dur="500" fill="hold"/>
                                        <p:tgtEl>
                                          <p:spTgt spid="6"/>
                                        </p:tgtEl>
                                        <p:attrNameLst>
                                          <p:attrName>style.rotation</p:attrName>
                                        </p:attrNameLst>
                                      </p:cBhvr>
                                      <p:tavLst>
                                        <p:tav tm="0">
                                          <p:val>
                                            <p:fltVal val="360"/>
                                          </p:val>
                                        </p:tav>
                                        <p:tav tm="100000">
                                          <p:val>
                                            <p:fltVal val="0"/>
                                          </p:val>
                                        </p:tav>
                                      </p:tavLst>
                                    </p:anim>
                                    <p:animEffect transition="in" filter="fade">
                                      <p:cBhvr>
                                        <p:cTn id="10" dur="500"/>
                                        <p:tgtEl>
                                          <p:spTgt spid="6"/>
                                        </p:tgtEl>
                                      </p:cBhvr>
                                    </p:animEffect>
                                  </p:childTnLst>
                                </p:cTn>
                              </p:par>
                              <p:par>
                                <p:cTn id="11" presetID="49" presetClass="entr" presetSubtype="0" decel="10000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fltVal val="0"/>
                                          </p:val>
                                        </p:tav>
                                        <p:tav tm="100000">
                                          <p:val>
                                            <p:strVal val="#ppt_h"/>
                                          </p:val>
                                        </p:tav>
                                      </p:tavLst>
                                    </p:anim>
                                    <p:anim calcmode="lin" valueType="num">
                                      <p:cBhvr>
                                        <p:cTn id="15" dur="500" fill="hold"/>
                                        <p:tgtEl>
                                          <p:spTgt spid="7"/>
                                        </p:tgtEl>
                                        <p:attrNameLst>
                                          <p:attrName>style.rotation</p:attrName>
                                        </p:attrNameLst>
                                      </p:cBhvr>
                                      <p:tavLst>
                                        <p:tav tm="0">
                                          <p:val>
                                            <p:fltVal val="360"/>
                                          </p:val>
                                        </p:tav>
                                        <p:tav tm="100000">
                                          <p:val>
                                            <p:fltVal val="0"/>
                                          </p:val>
                                        </p:tav>
                                      </p:tavLst>
                                    </p:anim>
                                    <p:animEffect transition="in" filter="fade">
                                      <p:cBhvr>
                                        <p:cTn id="16" dur="500"/>
                                        <p:tgtEl>
                                          <p:spTgt spid="7"/>
                                        </p:tgtEl>
                                      </p:cBhvr>
                                    </p:animEffect>
                                  </p:childTnLst>
                                </p:cTn>
                              </p:par>
                              <p:par>
                                <p:cTn id="17" presetID="10" presetClass="entr" presetSubtype="0" fill="hold" grpId="0" nodeType="withEffect">
                                  <p:stCondLst>
                                    <p:cond delay="4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600"/>
                                        <p:tgtEl>
                                          <p:spTgt spid="12"/>
                                        </p:tgtEl>
                                      </p:cBhvr>
                                    </p:animEffect>
                                  </p:childTnLst>
                                </p:cTn>
                              </p:par>
                              <p:par>
                                <p:cTn id="20" presetID="10" presetClass="entr" presetSubtype="0" fill="hold" grpId="0" nodeType="withEffect">
                                  <p:stCondLst>
                                    <p:cond delay="70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90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110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47" presetClass="entr" presetSubtype="0" fill="hold" grpId="0" nodeType="withEffect">
                                  <p:stCondLst>
                                    <p:cond delay="140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600"/>
                                        <p:tgtEl>
                                          <p:spTgt spid="5"/>
                                        </p:tgtEl>
                                      </p:cBhvr>
                                    </p:animEffect>
                                    <p:anim calcmode="lin" valueType="num">
                                      <p:cBhvr>
                                        <p:cTn id="32" dur="600" fill="hold"/>
                                        <p:tgtEl>
                                          <p:spTgt spid="5"/>
                                        </p:tgtEl>
                                        <p:attrNameLst>
                                          <p:attrName>ppt_x</p:attrName>
                                        </p:attrNameLst>
                                      </p:cBhvr>
                                      <p:tavLst>
                                        <p:tav tm="0">
                                          <p:val>
                                            <p:strVal val="#ppt_x"/>
                                          </p:val>
                                        </p:tav>
                                        <p:tav tm="100000">
                                          <p:val>
                                            <p:strVal val="#ppt_x"/>
                                          </p:val>
                                        </p:tav>
                                      </p:tavLst>
                                    </p:anim>
                                    <p:anim calcmode="lin" valueType="num">
                                      <p:cBhvr>
                                        <p:cTn id="33" dur="600" fill="hold"/>
                                        <p:tgtEl>
                                          <p:spTgt spid="5"/>
                                        </p:tgtEl>
                                        <p:attrNameLst>
                                          <p:attrName>ppt_y</p:attrName>
                                        </p:attrNameLst>
                                      </p:cBhvr>
                                      <p:tavLst>
                                        <p:tav tm="0">
                                          <p:val>
                                            <p:strVal val="#ppt_y-.1"/>
                                          </p:val>
                                        </p:tav>
                                        <p:tav tm="100000">
                                          <p:val>
                                            <p:strVal val="#ppt_y"/>
                                          </p:val>
                                        </p:tav>
                                      </p:tavLst>
                                    </p:anim>
                                  </p:childTnLst>
                                </p:cTn>
                              </p:par>
                              <p:par>
                                <p:cTn id="34" presetID="47" presetClass="entr" presetSubtype="0" fill="hold" grpId="0" nodeType="withEffect">
                                  <p:stCondLst>
                                    <p:cond delay="140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700"/>
                                        <p:tgtEl>
                                          <p:spTgt spid="8"/>
                                        </p:tgtEl>
                                      </p:cBhvr>
                                    </p:animEffect>
                                    <p:anim calcmode="lin" valueType="num">
                                      <p:cBhvr>
                                        <p:cTn id="37" dur="700" fill="hold"/>
                                        <p:tgtEl>
                                          <p:spTgt spid="8"/>
                                        </p:tgtEl>
                                        <p:attrNameLst>
                                          <p:attrName>ppt_x</p:attrName>
                                        </p:attrNameLst>
                                      </p:cBhvr>
                                      <p:tavLst>
                                        <p:tav tm="0">
                                          <p:val>
                                            <p:strVal val="#ppt_x"/>
                                          </p:val>
                                        </p:tav>
                                        <p:tav tm="100000">
                                          <p:val>
                                            <p:strVal val="#ppt_x"/>
                                          </p:val>
                                        </p:tav>
                                      </p:tavLst>
                                    </p:anim>
                                    <p:anim calcmode="lin" valueType="num">
                                      <p:cBhvr>
                                        <p:cTn id="38" dur="700" fill="hold"/>
                                        <p:tgtEl>
                                          <p:spTgt spid="8"/>
                                        </p:tgtEl>
                                        <p:attrNameLst>
                                          <p:attrName>ppt_y</p:attrName>
                                        </p:attrNameLst>
                                      </p:cBhvr>
                                      <p:tavLst>
                                        <p:tav tm="0">
                                          <p:val>
                                            <p:strVal val="#ppt_y-.1"/>
                                          </p:val>
                                        </p:tav>
                                        <p:tav tm="100000">
                                          <p:val>
                                            <p:strVal val="#ppt_y"/>
                                          </p:val>
                                        </p:tav>
                                      </p:tavLst>
                                    </p:anim>
                                  </p:childTnLst>
                                </p:cTn>
                              </p:par>
                              <p:par>
                                <p:cTn id="39" presetID="2" presetClass="entr" presetSubtype="4" fill="hold" grpId="0" nodeType="withEffect">
                                  <p:stCondLst>
                                    <p:cond delay="170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500" fill="hold"/>
                                        <p:tgtEl>
                                          <p:spTgt spid="9"/>
                                        </p:tgtEl>
                                        <p:attrNameLst>
                                          <p:attrName>ppt_x</p:attrName>
                                        </p:attrNameLst>
                                      </p:cBhvr>
                                      <p:tavLst>
                                        <p:tav tm="0">
                                          <p:val>
                                            <p:strVal val="#ppt_x"/>
                                          </p:val>
                                        </p:tav>
                                        <p:tav tm="100000">
                                          <p:val>
                                            <p:strVal val="#ppt_x"/>
                                          </p:val>
                                        </p:tav>
                                      </p:tavLst>
                                    </p:anim>
                                    <p:anim calcmode="lin" valueType="num">
                                      <p:cBhvr additive="base">
                                        <p:cTn id="42" dur="500" fill="hold"/>
                                        <p:tgtEl>
                                          <p:spTgt spid="9"/>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2000"/>
                                  </p:stCondLst>
                                  <p:childTnLst>
                                    <p:set>
                                      <p:cBhvr>
                                        <p:cTn id="44" dur="1" fill="hold">
                                          <p:stCondLst>
                                            <p:cond delay="0"/>
                                          </p:stCondLst>
                                        </p:cTn>
                                        <p:tgtEl>
                                          <p:spTgt spid="11"/>
                                        </p:tgtEl>
                                        <p:attrNameLst>
                                          <p:attrName>style.visibility</p:attrName>
                                        </p:attrNameLst>
                                      </p:cBhvr>
                                      <p:to>
                                        <p:strVal val="visible"/>
                                      </p:to>
                                    </p:set>
                                    <p:anim calcmode="lin" valueType="num">
                                      <p:cBhvr additive="base">
                                        <p:cTn id="45" dur="500" fill="hold"/>
                                        <p:tgtEl>
                                          <p:spTgt spid="11"/>
                                        </p:tgtEl>
                                        <p:attrNameLst>
                                          <p:attrName>ppt_x</p:attrName>
                                        </p:attrNameLst>
                                      </p:cBhvr>
                                      <p:tavLst>
                                        <p:tav tm="0">
                                          <p:val>
                                            <p:strVal val="#ppt_x"/>
                                          </p:val>
                                        </p:tav>
                                        <p:tav tm="100000">
                                          <p:val>
                                            <p:strVal val="#ppt_x"/>
                                          </p:val>
                                        </p:tav>
                                      </p:tavLst>
                                    </p:anim>
                                    <p:anim calcmode="lin" valueType="num">
                                      <p:cBhvr additive="base">
                                        <p:cTn id="46" dur="500" fill="hold"/>
                                        <p:tgtEl>
                                          <p:spTgt spid="11"/>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2200"/>
                                  </p:stCondLst>
                                  <p:childTnLst>
                                    <p:set>
                                      <p:cBhvr>
                                        <p:cTn id="48" dur="1" fill="hold">
                                          <p:stCondLst>
                                            <p:cond delay="0"/>
                                          </p:stCondLst>
                                        </p:cTn>
                                        <p:tgtEl>
                                          <p:spTgt spid="10"/>
                                        </p:tgtEl>
                                        <p:attrNameLst>
                                          <p:attrName>style.visibility</p:attrName>
                                        </p:attrNameLst>
                                      </p:cBhvr>
                                      <p:to>
                                        <p:strVal val="visible"/>
                                      </p:to>
                                    </p:set>
                                    <p:anim calcmode="lin" valueType="num">
                                      <p:cBhvr additive="base">
                                        <p:cTn id="49" dur="500" fill="hold"/>
                                        <p:tgtEl>
                                          <p:spTgt spid="10"/>
                                        </p:tgtEl>
                                        <p:attrNameLst>
                                          <p:attrName>ppt_x</p:attrName>
                                        </p:attrNameLst>
                                      </p:cBhvr>
                                      <p:tavLst>
                                        <p:tav tm="0">
                                          <p:val>
                                            <p:strVal val="#ppt_x"/>
                                          </p:val>
                                        </p:tav>
                                        <p:tav tm="100000">
                                          <p:val>
                                            <p:strVal val="#ppt_x"/>
                                          </p:val>
                                        </p:tav>
                                      </p:tavLst>
                                    </p:anim>
                                    <p:anim calcmode="lin" valueType="num">
                                      <p:cBhvr additive="base">
                                        <p:cTn id="5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P spid="12" grpId="0"/>
      <p:bldP spid="13" grpId="0"/>
      <p:bldP spid="14" grpId="0"/>
      <p:bldP spid="15" grpId="0"/>
      <p:bldP spid="6" grpId="0" animBg="1"/>
      <p:bldP spid="7" grpId="0"/>
      <p:bldP spid="9" grpId="0"/>
      <p:bldP spid="11"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8" name="Freeform 3">
            <a:extLst>
              <a:ext uri="{FF2B5EF4-FFF2-40B4-BE49-F238E27FC236}">
                <a16:creationId xmlns:a16="http://schemas.microsoft.com/office/drawing/2014/main" id="{5D68C640-6B3F-6C85-4C9E-009D58F95278}"/>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grpSp>
        <p:nvGrpSpPr>
          <p:cNvPr id="2" name="Group 2">
            <a:extLst>
              <a:ext uri="{C183D7F6-B498-43B3-948B-1728B52AA6E4}">
                <adec:decorative xmlns:adec="http://schemas.microsoft.com/office/drawing/2017/decorative" val="1"/>
              </a:ext>
            </a:extLst>
          </p:cNvPr>
          <p:cNvGrpSpPr/>
          <p:nvPr/>
        </p:nvGrpSpPr>
        <p:grpSpPr>
          <a:xfrm>
            <a:off x="803986" y="2057400"/>
            <a:ext cx="8641761" cy="7499107"/>
            <a:chOff x="0" y="0"/>
            <a:chExt cx="2276019" cy="1975074"/>
          </a:xfrm>
        </p:grpSpPr>
        <p:sp>
          <p:nvSpPr>
            <p:cNvPr id="3" name="Freeform 3"/>
            <p:cNvSpPr/>
            <p:nvPr/>
          </p:nvSpPr>
          <p:spPr>
            <a:xfrm>
              <a:off x="0" y="0"/>
              <a:ext cx="2276019" cy="1975074"/>
            </a:xfrm>
            <a:custGeom>
              <a:avLst/>
              <a:gdLst/>
              <a:ahLst/>
              <a:cxnLst/>
              <a:rect l="l" t="t" r="r" b="b"/>
              <a:pathLst>
                <a:path w="2276019" h="1975074">
                  <a:moveTo>
                    <a:pt x="50169" y="0"/>
                  </a:moveTo>
                  <a:lnTo>
                    <a:pt x="2225851" y="0"/>
                  </a:lnTo>
                  <a:cubicBezTo>
                    <a:pt x="2239156" y="0"/>
                    <a:pt x="2251917" y="5286"/>
                    <a:pt x="2261325" y="14694"/>
                  </a:cubicBezTo>
                  <a:cubicBezTo>
                    <a:pt x="2270734" y="24103"/>
                    <a:pt x="2276019" y="36863"/>
                    <a:pt x="2276019" y="50169"/>
                  </a:cubicBezTo>
                  <a:lnTo>
                    <a:pt x="2276019" y="1924905"/>
                  </a:lnTo>
                  <a:cubicBezTo>
                    <a:pt x="2276019" y="1952612"/>
                    <a:pt x="2253558" y="1975074"/>
                    <a:pt x="2225851" y="1975074"/>
                  </a:cubicBezTo>
                  <a:lnTo>
                    <a:pt x="50169" y="1975074"/>
                  </a:lnTo>
                  <a:cubicBezTo>
                    <a:pt x="36863" y="1975074"/>
                    <a:pt x="24103" y="1969788"/>
                    <a:pt x="14694" y="1960380"/>
                  </a:cubicBezTo>
                  <a:cubicBezTo>
                    <a:pt x="5286" y="1950971"/>
                    <a:pt x="0" y="1938210"/>
                    <a:pt x="0" y="1924905"/>
                  </a:cubicBezTo>
                  <a:lnTo>
                    <a:pt x="0" y="50169"/>
                  </a:lnTo>
                  <a:cubicBezTo>
                    <a:pt x="0" y="36863"/>
                    <a:pt x="5286" y="24103"/>
                    <a:pt x="14694" y="14694"/>
                  </a:cubicBezTo>
                  <a:cubicBezTo>
                    <a:pt x="24103" y="5286"/>
                    <a:pt x="36863" y="0"/>
                    <a:pt x="50169" y="0"/>
                  </a:cubicBezTo>
                  <a:close/>
                </a:path>
              </a:pathLst>
            </a:custGeom>
            <a:gradFill rotWithShape="1">
              <a:gsLst>
                <a:gs pos="0">
                  <a:srgbClr val="000000">
                    <a:alpha val="78000"/>
                  </a:srgbClr>
                </a:gs>
                <a:gs pos="100000">
                  <a:srgbClr val="DDDDDD">
                    <a:alpha val="14820"/>
                  </a:srgbClr>
                </a:gs>
              </a:gsLst>
              <a:lin ang="2700000"/>
            </a:gradFill>
          </p:spPr>
          <p:txBody>
            <a:bodyPr/>
            <a:lstStyle/>
            <a:p>
              <a:endParaRPr lang="en-US" noProof="0" dirty="0"/>
            </a:p>
          </p:txBody>
        </p:sp>
        <p:sp>
          <p:nvSpPr>
            <p:cNvPr id="4" name="TextBox 4"/>
            <p:cNvSpPr txBox="1"/>
            <p:nvPr/>
          </p:nvSpPr>
          <p:spPr>
            <a:xfrm>
              <a:off x="0" y="-66675"/>
              <a:ext cx="2276019" cy="2041749"/>
            </a:xfrm>
            <a:prstGeom prst="rect">
              <a:avLst/>
            </a:prstGeom>
          </p:spPr>
          <p:txBody>
            <a:bodyPr lIns="50800" tIns="50800" rIns="50800" bIns="50800" rtlCol="0" anchor="ctr"/>
            <a:lstStyle/>
            <a:p>
              <a:pPr algn="ctr">
                <a:lnSpc>
                  <a:spcPts val="3151"/>
                </a:lnSpc>
              </a:pPr>
              <a:endParaRPr lang="en-US" noProof="0" dirty="0"/>
            </a:p>
          </p:txBody>
        </p:sp>
      </p:grpSp>
      <p:grpSp>
        <p:nvGrpSpPr>
          <p:cNvPr id="5" name="Group 5">
            <a:extLst>
              <a:ext uri="{C183D7F6-B498-43B3-948B-1728B52AA6E4}">
                <adec:decorative xmlns:adec="http://schemas.microsoft.com/office/drawing/2017/decorative" val="1"/>
              </a:ext>
            </a:extLst>
          </p:cNvPr>
          <p:cNvGrpSpPr/>
          <p:nvPr/>
        </p:nvGrpSpPr>
        <p:grpSpPr>
          <a:xfrm>
            <a:off x="9975275" y="6825024"/>
            <a:ext cx="7524688" cy="2731483"/>
            <a:chOff x="0" y="0"/>
            <a:chExt cx="1981811" cy="719403"/>
          </a:xfrm>
        </p:grpSpPr>
        <p:sp>
          <p:nvSpPr>
            <p:cNvPr id="6" name="Freeform 6"/>
            <p:cNvSpPr/>
            <p:nvPr/>
          </p:nvSpPr>
          <p:spPr>
            <a:xfrm>
              <a:off x="0" y="0"/>
              <a:ext cx="1981811" cy="719403"/>
            </a:xfrm>
            <a:custGeom>
              <a:avLst/>
              <a:gdLst/>
              <a:ahLst/>
              <a:cxnLst/>
              <a:rect l="l" t="t" r="r" b="b"/>
              <a:pathLst>
                <a:path w="1981811" h="719403">
                  <a:moveTo>
                    <a:pt x="57617" y="0"/>
                  </a:moveTo>
                  <a:lnTo>
                    <a:pt x="1924194" y="0"/>
                  </a:lnTo>
                  <a:cubicBezTo>
                    <a:pt x="1939475" y="0"/>
                    <a:pt x="1954130" y="6070"/>
                    <a:pt x="1964935" y="16876"/>
                  </a:cubicBezTo>
                  <a:cubicBezTo>
                    <a:pt x="1975740" y="27681"/>
                    <a:pt x="1981811" y="42336"/>
                    <a:pt x="1981811" y="57617"/>
                  </a:cubicBezTo>
                  <a:lnTo>
                    <a:pt x="1981811" y="661786"/>
                  </a:lnTo>
                  <a:cubicBezTo>
                    <a:pt x="1981811" y="677067"/>
                    <a:pt x="1975740" y="691722"/>
                    <a:pt x="1964935" y="702528"/>
                  </a:cubicBezTo>
                  <a:cubicBezTo>
                    <a:pt x="1954130" y="713333"/>
                    <a:pt x="1939475" y="719403"/>
                    <a:pt x="1924194" y="719403"/>
                  </a:cubicBezTo>
                  <a:lnTo>
                    <a:pt x="57617" y="719403"/>
                  </a:lnTo>
                  <a:cubicBezTo>
                    <a:pt x="42336" y="719403"/>
                    <a:pt x="27681" y="713333"/>
                    <a:pt x="16876" y="702528"/>
                  </a:cubicBezTo>
                  <a:cubicBezTo>
                    <a:pt x="6070" y="691722"/>
                    <a:pt x="0" y="677067"/>
                    <a:pt x="0" y="661786"/>
                  </a:cubicBezTo>
                  <a:lnTo>
                    <a:pt x="0" y="57617"/>
                  </a:lnTo>
                  <a:cubicBezTo>
                    <a:pt x="0" y="42336"/>
                    <a:pt x="6070" y="27681"/>
                    <a:pt x="16876" y="16876"/>
                  </a:cubicBezTo>
                  <a:cubicBezTo>
                    <a:pt x="27681" y="6070"/>
                    <a:pt x="42336" y="0"/>
                    <a:pt x="57617" y="0"/>
                  </a:cubicBezTo>
                  <a:close/>
                </a:path>
              </a:pathLst>
            </a:custGeom>
            <a:gradFill rotWithShape="1">
              <a:gsLst>
                <a:gs pos="0">
                  <a:srgbClr val="1B1F45"/>
                </a:gs>
                <a:gs pos="62000">
                  <a:srgbClr val="00A8CC"/>
                </a:gs>
                <a:gs pos="100000">
                  <a:srgbClr val="6C63FF"/>
                </a:gs>
              </a:gsLst>
              <a:path path="circle">
                <a:fillToRect r="100000" b="100000"/>
              </a:path>
              <a:tileRect l="-100000" t="-100000"/>
            </a:gradFill>
          </p:spPr>
          <p:txBody>
            <a:bodyPr/>
            <a:lstStyle/>
            <a:p>
              <a:endParaRPr lang="en-US" noProof="0" dirty="0"/>
            </a:p>
          </p:txBody>
        </p:sp>
        <p:sp>
          <p:nvSpPr>
            <p:cNvPr id="7" name="TextBox 7"/>
            <p:cNvSpPr txBox="1"/>
            <p:nvPr/>
          </p:nvSpPr>
          <p:spPr>
            <a:xfrm>
              <a:off x="0" y="-66675"/>
              <a:ext cx="1981811" cy="786078"/>
            </a:xfrm>
            <a:prstGeom prst="rect">
              <a:avLst/>
            </a:prstGeom>
          </p:spPr>
          <p:txBody>
            <a:bodyPr lIns="50800" tIns="50800" rIns="50800" bIns="50800" rtlCol="0" anchor="ctr"/>
            <a:lstStyle/>
            <a:p>
              <a:pPr algn="ctr">
                <a:lnSpc>
                  <a:spcPts val="3151"/>
                </a:lnSpc>
              </a:pPr>
              <a:endParaRPr lang="en-US" noProof="0" dirty="0"/>
            </a:p>
          </p:txBody>
        </p:sp>
      </p:grpSp>
      <p:grpSp>
        <p:nvGrpSpPr>
          <p:cNvPr id="8" name="Group 8" descr="Szerverterem"/>
          <p:cNvGrpSpPr/>
          <p:nvPr/>
        </p:nvGrpSpPr>
        <p:grpSpPr>
          <a:xfrm>
            <a:off x="9975275" y="2057400"/>
            <a:ext cx="7524688" cy="4166571"/>
            <a:chOff x="0" y="0"/>
            <a:chExt cx="1165771" cy="645511"/>
          </a:xfrm>
        </p:grpSpPr>
        <p:sp>
          <p:nvSpPr>
            <p:cNvPr id="9" name="Freeform 9"/>
            <p:cNvSpPr/>
            <p:nvPr/>
          </p:nvSpPr>
          <p:spPr>
            <a:xfrm>
              <a:off x="0" y="0"/>
              <a:ext cx="1165771" cy="645511"/>
            </a:xfrm>
            <a:custGeom>
              <a:avLst/>
              <a:gdLst/>
              <a:ahLst/>
              <a:cxnLst/>
              <a:rect l="l" t="t" r="r" b="b"/>
              <a:pathLst>
                <a:path w="1165771" h="645511">
                  <a:moveTo>
                    <a:pt x="57617" y="0"/>
                  </a:moveTo>
                  <a:lnTo>
                    <a:pt x="1108154" y="0"/>
                  </a:lnTo>
                  <a:cubicBezTo>
                    <a:pt x="1123435" y="0"/>
                    <a:pt x="1138090" y="6070"/>
                    <a:pt x="1148896" y="16876"/>
                  </a:cubicBezTo>
                  <a:cubicBezTo>
                    <a:pt x="1159701" y="27681"/>
                    <a:pt x="1165771" y="42336"/>
                    <a:pt x="1165771" y="57617"/>
                  </a:cubicBezTo>
                  <a:lnTo>
                    <a:pt x="1165771" y="587894"/>
                  </a:lnTo>
                  <a:cubicBezTo>
                    <a:pt x="1165771" y="603175"/>
                    <a:pt x="1159701" y="617830"/>
                    <a:pt x="1148896" y="628635"/>
                  </a:cubicBezTo>
                  <a:cubicBezTo>
                    <a:pt x="1138090" y="639441"/>
                    <a:pt x="1123435" y="645511"/>
                    <a:pt x="1108154" y="645511"/>
                  </a:cubicBezTo>
                  <a:lnTo>
                    <a:pt x="57617" y="645511"/>
                  </a:lnTo>
                  <a:cubicBezTo>
                    <a:pt x="42336" y="645511"/>
                    <a:pt x="27681" y="639441"/>
                    <a:pt x="16876" y="628635"/>
                  </a:cubicBezTo>
                  <a:cubicBezTo>
                    <a:pt x="6070" y="617830"/>
                    <a:pt x="0" y="603175"/>
                    <a:pt x="0" y="587894"/>
                  </a:cubicBezTo>
                  <a:lnTo>
                    <a:pt x="0" y="57617"/>
                  </a:lnTo>
                  <a:cubicBezTo>
                    <a:pt x="0" y="42336"/>
                    <a:pt x="6070" y="27681"/>
                    <a:pt x="16876" y="16876"/>
                  </a:cubicBezTo>
                  <a:cubicBezTo>
                    <a:pt x="27681" y="6070"/>
                    <a:pt x="42336" y="0"/>
                    <a:pt x="57617" y="0"/>
                  </a:cubicBezTo>
                  <a:close/>
                </a:path>
              </a:pathLst>
            </a:custGeom>
            <a:blipFill>
              <a:blip r:embed="rId3"/>
              <a:stretch>
                <a:fillRect t="-792" b="-792"/>
              </a:stretch>
            </a:blipFill>
          </p:spPr>
          <p:txBody>
            <a:bodyPr/>
            <a:lstStyle/>
            <a:p>
              <a:endParaRPr lang="en-US" noProof="0" dirty="0"/>
            </a:p>
          </p:txBody>
        </p:sp>
      </p:grpSp>
      <p:sp>
        <p:nvSpPr>
          <p:cNvPr id="10" name="Freeform 10">
            <a:extLs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4"/>
            <a:stretch>
              <a:fillRect/>
            </a:stretch>
          </a:blipFill>
        </p:spPr>
        <p:txBody>
          <a:bodyPr/>
          <a:lstStyle/>
          <a:p>
            <a:endParaRPr lang="en-US" noProof="0" dirty="0"/>
          </a:p>
        </p:txBody>
      </p:sp>
      <p:sp>
        <p:nvSpPr>
          <p:cNvPr id="11" name="TextBox 11"/>
          <p:cNvSpPr txBox="1"/>
          <p:nvPr/>
        </p:nvSpPr>
        <p:spPr>
          <a:xfrm>
            <a:off x="1726346" y="5817827"/>
            <a:ext cx="6797040" cy="3119380"/>
          </a:xfrm>
          <a:prstGeom prst="rect">
            <a:avLst/>
          </a:prstGeom>
        </p:spPr>
        <p:txBody>
          <a:bodyPr lIns="0" tIns="0" rIns="0" bIns="0" rtlCol="0" anchor="t">
            <a:spAutoFit/>
          </a:bodyPr>
          <a:lstStyle/>
          <a:p>
            <a:pPr marL="612774" lvl="1" indent="-342900">
              <a:lnSpc>
                <a:spcPts val="3499"/>
              </a:lnSpc>
              <a:buFont typeface="Arial" panose="020B0604020202020204" pitchFamily="34" charset="0"/>
              <a:buChar char="•"/>
            </a:pPr>
            <a:r>
              <a:rPr lang="en-US" sz="2499" noProof="0" dirty="0">
                <a:solidFill>
                  <a:srgbClr val="FFFFFF"/>
                </a:solidFill>
                <a:latin typeface="Poppins"/>
                <a:ea typeface="Poppins"/>
                <a:cs typeface="Poppins"/>
                <a:sym typeface="Poppins"/>
              </a:rPr>
              <a:t>On-site IT Mentoring Program</a:t>
            </a:r>
          </a:p>
          <a:p>
            <a:pPr marL="612774" lvl="1" indent="-342900">
              <a:lnSpc>
                <a:spcPts val="3499"/>
              </a:lnSpc>
              <a:buFont typeface="Arial" panose="020B0604020202020204" pitchFamily="34" charset="0"/>
              <a:buChar char="•"/>
            </a:pPr>
            <a:r>
              <a:rPr lang="en-US" sz="2499" noProof="0" dirty="0">
                <a:solidFill>
                  <a:srgbClr val="FFFFFF"/>
                </a:solidFill>
                <a:latin typeface="Poppins"/>
                <a:ea typeface="Poppins"/>
                <a:cs typeface="Poppins"/>
                <a:sym typeface="Poppins"/>
              </a:rPr>
              <a:t>Hands-on learning using real infrastructure</a:t>
            </a:r>
          </a:p>
          <a:p>
            <a:pPr marL="612774" lvl="1" indent="-342900">
              <a:lnSpc>
                <a:spcPts val="3499"/>
              </a:lnSpc>
              <a:buFont typeface="Arial" panose="020B0604020202020204" pitchFamily="34" charset="0"/>
              <a:buChar char="•"/>
            </a:pPr>
            <a:r>
              <a:rPr lang="en-US" sz="2499" noProof="0" dirty="0">
                <a:solidFill>
                  <a:srgbClr val="FFFFFF"/>
                </a:solidFill>
                <a:latin typeface="Poppins"/>
                <a:ea typeface="Poppins"/>
                <a:cs typeface="Poppins"/>
                <a:sym typeface="Poppins"/>
              </a:rPr>
              <a:t>Personalized support, not self-paced online learning</a:t>
            </a:r>
          </a:p>
          <a:p>
            <a:pPr marL="612774" lvl="1" indent="-342900">
              <a:lnSpc>
                <a:spcPts val="3499"/>
              </a:lnSpc>
              <a:buFont typeface="Arial" panose="020B0604020202020204" pitchFamily="34" charset="0"/>
              <a:buChar char="•"/>
            </a:pPr>
            <a:r>
              <a:rPr lang="en-US" sz="2499" noProof="0" dirty="0">
                <a:solidFill>
                  <a:srgbClr val="FFFFFF"/>
                </a:solidFill>
                <a:latin typeface="Poppins"/>
                <a:ea typeface="Poppins"/>
                <a:cs typeface="Poppins"/>
                <a:sym typeface="Poppins"/>
              </a:rPr>
              <a:t>Opportunities for growth from beginner to advanced levels</a:t>
            </a:r>
          </a:p>
        </p:txBody>
      </p:sp>
      <p:sp>
        <p:nvSpPr>
          <p:cNvPr id="12" name="TextBox 12"/>
          <p:cNvSpPr txBox="1"/>
          <p:nvPr/>
        </p:nvSpPr>
        <p:spPr>
          <a:xfrm>
            <a:off x="10622317" y="7300552"/>
            <a:ext cx="6230604" cy="1666418"/>
          </a:xfrm>
          <a:prstGeom prst="rect">
            <a:avLst/>
          </a:prstGeom>
        </p:spPr>
        <p:txBody>
          <a:bodyPr lIns="0" tIns="0" rIns="0" bIns="0" rtlCol="0" anchor="t">
            <a:spAutoFit/>
          </a:bodyPr>
          <a:lstStyle/>
          <a:p>
            <a:pPr algn="ctr">
              <a:lnSpc>
                <a:spcPts val="6866"/>
              </a:lnSpc>
            </a:pPr>
            <a:r>
              <a:rPr lang="en-US" sz="4000" spc="-215" noProof="0" dirty="0">
                <a:solidFill>
                  <a:srgbClr val="FFFFFF"/>
                </a:solidFill>
                <a:latin typeface="Open Sauce"/>
                <a:ea typeface="Open Sauce"/>
                <a:cs typeface="Open Sauce"/>
                <a:sym typeface="Open Sauce"/>
              </a:rPr>
              <a:t>– A place where you can do more than just study! --</a:t>
            </a:r>
          </a:p>
        </p:txBody>
      </p:sp>
      <p:sp>
        <p:nvSpPr>
          <p:cNvPr id="13" name="TextBox 13"/>
          <p:cNvSpPr txBox="1">
            <a:spLocks noGrp="1"/>
          </p:cNvSpPr>
          <p:nvPr>
            <p:ph type="title" idx="4294967295"/>
          </p:nvPr>
        </p:nvSpPr>
        <p:spPr>
          <a:xfrm>
            <a:off x="1726346" y="2974397"/>
            <a:ext cx="7719401" cy="2085892"/>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gn="l">
              <a:lnSpc>
                <a:spcPts val="8077"/>
              </a:lnSpc>
              <a:spcBef>
                <a:spcPts val="0"/>
              </a:spcBef>
              <a:defRPr/>
            </a:pPr>
            <a:r>
              <a:rPr lang="en-US" sz="7919" b="1" spc="-356" noProof="0" dirty="0">
                <a:solidFill>
                  <a:srgbClr val="FFFFFF"/>
                </a:solidFill>
                <a:latin typeface="Telegraf Bold"/>
                <a:ea typeface="Telegraf Bold"/>
                <a:cs typeface="Telegraf Bold"/>
                <a:sym typeface="Telegraf Bold"/>
              </a:rPr>
              <a:t>What is CyberNest?</a:t>
            </a:r>
            <a:endParaRPr kumimoji="0" lang="en-US" sz="7919" b="1" i="0" u="none" strike="noStrike" kern="1200" cap="none" spc="-356" normalizeH="0" baseline="0" noProof="0" dirty="0">
              <a:ln>
                <a:noFill/>
              </a:ln>
              <a:solidFill>
                <a:srgbClr val="FFFFFF"/>
              </a:solidFill>
              <a:effectLst/>
              <a:uLnTx/>
              <a:uFillTx/>
              <a:latin typeface="Telegraf Bold"/>
              <a:ea typeface="Telegraf Bold"/>
              <a:cs typeface="Telegraf Bold"/>
              <a:sym typeface="Telegraf Bold"/>
            </a:endParaRPr>
          </a:p>
        </p:txBody>
      </p:sp>
      <p:sp>
        <p:nvSpPr>
          <p:cNvPr id="20" name="Freeform 3">
            <a:extLst>
              <a:ext uri="{FF2B5EF4-FFF2-40B4-BE49-F238E27FC236}">
                <a16:creationId xmlns:a16="http://schemas.microsoft.com/office/drawing/2014/main" id="{A22CFF50-51BC-6404-87AE-B73391FC3755}"/>
              </a:ext>
              <a:ext uri="{C183D7F6-B498-43B3-948B-1728B52AA6E4}">
                <adec:decorative xmlns:adec="http://schemas.microsoft.com/office/drawing/2017/decorative" val="1"/>
              </a:ext>
            </a:extLst>
          </p:cNvPr>
          <p:cNvSpPr/>
          <p:nvPr/>
        </p:nvSpPr>
        <p:spPr>
          <a:xfrm>
            <a:off x="828446" y="777583"/>
            <a:ext cx="1111777" cy="1060162"/>
          </a:xfrm>
          <a:prstGeom prst="ellipse">
            <a:avLst/>
          </a:prstGeom>
          <a:solidFill>
            <a:srgbClr val="00A8CC">
              <a:alpha val="20000"/>
            </a:srgbClr>
          </a:solidFill>
          <a:effectLst>
            <a:softEdge rad="0"/>
          </a:effectLst>
        </p:spPr>
        <p:txBody>
          <a:bodyPr/>
          <a:lstStyle/>
          <a:p>
            <a:endParaRPr lang="en-US" noProof="0" dirty="0"/>
          </a:p>
        </p:txBody>
      </p:sp>
      <p:sp>
        <p:nvSpPr>
          <p:cNvPr id="22" name="TextBox 12">
            <a:extLst>
              <a:ext uri="{FF2B5EF4-FFF2-40B4-BE49-F238E27FC236}">
                <a16:creationId xmlns:a16="http://schemas.microsoft.com/office/drawing/2014/main" id="{A2B63A93-E106-73E1-1E40-C9DD5E9E29CA}"/>
              </a:ext>
            </a:extLst>
          </p:cNvPr>
          <p:cNvSpPr txBox="1"/>
          <p:nvPr/>
        </p:nvSpPr>
        <p:spPr>
          <a:xfrm>
            <a:off x="9214008" y="879241"/>
            <a:ext cx="1841707" cy="388633"/>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Introduction</a:t>
            </a:r>
          </a:p>
        </p:txBody>
      </p:sp>
      <p:sp>
        <p:nvSpPr>
          <p:cNvPr id="23" name="TextBox 13">
            <a:extLst>
              <a:ext uri="{FF2B5EF4-FFF2-40B4-BE49-F238E27FC236}">
                <a16:creationId xmlns:a16="http://schemas.microsoft.com/office/drawing/2014/main" id="{998F9EBF-126C-408B-7178-8ECA7D1AECDD}"/>
              </a:ext>
            </a:extLst>
          </p:cNvPr>
          <p:cNvSpPr txBox="1"/>
          <p:nvPr/>
        </p:nvSpPr>
        <p:spPr>
          <a:xfrm>
            <a:off x="11409986" y="879241"/>
            <a:ext cx="1907082" cy="388633"/>
          </a:xfrm>
          <a:prstGeom prst="rect">
            <a:avLst/>
          </a:prstGeom>
        </p:spPr>
        <p:txBody>
          <a:bodyPr lIns="0" tIns="0" rIns="0" bIns="0" rtlCol="0" anchor="t">
            <a:spAutoFit/>
          </a:bodyPr>
          <a:lstStyle/>
          <a:p>
            <a:pPr lvl="0" algn="ctr">
              <a:lnSpc>
                <a:spcPts val="3151"/>
              </a:lnSpc>
              <a:spcBef>
                <a:spcPct val="0"/>
              </a:spcBef>
            </a:pPr>
            <a:r>
              <a:rPr lang="en-US" sz="2251" b="1" noProof="0" dirty="0">
                <a:solidFill>
                  <a:srgbClr val="FFFFFF"/>
                </a:solidFill>
                <a:latin typeface="Poppins"/>
                <a:ea typeface="Poppins"/>
                <a:cs typeface="Poppins"/>
                <a:sym typeface="Poppins"/>
              </a:rPr>
              <a:t>What is this?</a:t>
            </a:r>
          </a:p>
        </p:txBody>
      </p:sp>
      <p:sp>
        <p:nvSpPr>
          <p:cNvPr id="24" name="TextBox 14">
            <a:extLst>
              <a:ext uri="{FF2B5EF4-FFF2-40B4-BE49-F238E27FC236}">
                <a16:creationId xmlns:a16="http://schemas.microsoft.com/office/drawing/2014/main" id="{0DDDCB61-87AD-04B0-0D91-FAFAF684C338}"/>
              </a:ext>
            </a:extLst>
          </p:cNvPr>
          <p:cNvSpPr txBox="1"/>
          <p:nvPr/>
        </p:nvSpPr>
        <p:spPr>
          <a:xfrm>
            <a:off x="13529957" y="879241"/>
            <a:ext cx="2035781" cy="388633"/>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Main problem</a:t>
            </a:r>
          </a:p>
        </p:txBody>
      </p:sp>
      <p:sp>
        <p:nvSpPr>
          <p:cNvPr id="25" name="TextBox 15">
            <a:extLst>
              <a:ext uri="{FF2B5EF4-FFF2-40B4-BE49-F238E27FC236}">
                <a16:creationId xmlns:a16="http://schemas.microsoft.com/office/drawing/2014/main" id="{32736A81-42A8-F9EC-3CB9-0BB13BB84EF2}"/>
              </a:ext>
            </a:extLst>
          </p:cNvPr>
          <p:cNvSpPr txBox="1"/>
          <p:nvPr/>
        </p:nvSpPr>
        <p:spPr>
          <a:xfrm>
            <a:off x="15258363" y="879241"/>
            <a:ext cx="2224975" cy="388633"/>
          </a:xfrm>
          <a:prstGeom prst="rect">
            <a:avLst/>
          </a:prstGeom>
        </p:spPr>
        <p:txBody>
          <a:bodyPr lIns="0" tIns="0" rIns="0" bIns="0" rtlCol="0" anchor="t">
            <a:spAutoFit/>
          </a:bodyPr>
          <a:lstStyle/>
          <a:p>
            <a:pPr lvl="0" algn="r">
              <a:lnSpc>
                <a:spcPts val="3151"/>
              </a:lnSpc>
              <a:spcBef>
                <a:spcPct val="0"/>
              </a:spcBef>
            </a:pPr>
            <a:r>
              <a:rPr lang="en-US" sz="2251" noProof="0" dirty="0">
                <a:solidFill>
                  <a:srgbClr val="FFFFFF"/>
                </a:solidFill>
                <a:latin typeface="Poppins"/>
                <a:ea typeface="Poppins"/>
                <a:cs typeface="Poppins"/>
                <a:sym typeface="Poppins"/>
              </a:rPr>
              <a:t>Objectives</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40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600"/>
                                        <p:tgtEl>
                                          <p:spTgt spid="22"/>
                                        </p:tgtEl>
                                      </p:cBhvr>
                                    </p:animEffect>
                                  </p:childTnLst>
                                </p:cTn>
                              </p:par>
                              <p:par>
                                <p:cTn id="17" presetID="10" presetClass="entr" presetSubtype="0" fill="hold" grpId="0" nodeType="withEffect">
                                  <p:stCondLst>
                                    <p:cond delay="7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par>
                                <p:cTn id="20" presetID="10" presetClass="entr" presetSubtype="0" fill="hold" grpId="0" nodeType="withEffect">
                                  <p:stCondLst>
                                    <p:cond delay="90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10" presetClass="entr" presetSubtype="0" fill="hold" grpId="0" nodeType="withEffect">
                                  <p:stCondLst>
                                    <p:cond delay="110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22" grpId="0"/>
      <p:bldP spid="23" grpId="0"/>
      <p:bldP spid="24" grpId="0"/>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4" name="Freeform 3">
            <a:extLst>
              <a:ext uri="{FF2B5EF4-FFF2-40B4-BE49-F238E27FC236}">
                <a16:creationId xmlns:a16="http://schemas.microsoft.com/office/drawing/2014/main" id="{ACAF0784-17E5-4805-A73D-C6634AFC690A}"/>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grpSp>
        <p:nvGrpSpPr>
          <p:cNvPr id="2" name="Group 2">
            <a:extLst>
              <a:ext uri="{C183D7F6-B498-43B3-948B-1728B52AA6E4}">
                <adec:decorative xmlns:adec="http://schemas.microsoft.com/office/drawing/2017/decorative" val="1"/>
              </a:ext>
            </a:extLst>
          </p:cNvPr>
          <p:cNvGrpSpPr/>
          <p:nvPr/>
        </p:nvGrpSpPr>
        <p:grpSpPr>
          <a:xfrm>
            <a:off x="6700921" y="1986280"/>
            <a:ext cx="10876417" cy="7467954"/>
            <a:chOff x="0" y="0"/>
            <a:chExt cx="2864571" cy="1966869"/>
          </a:xfrm>
        </p:grpSpPr>
        <p:sp>
          <p:nvSpPr>
            <p:cNvPr id="3" name="Freeform 3"/>
            <p:cNvSpPr/>
            <p:nvPr/>
          </p:nvSpPr>
          <p:spPr>
            <a:xfrm>
              <a:off x="0" y="0"/>
              <a:ext cx="2864571" cy="1966869"/>
            </a:xfrm>
            <a:custGeom>
              <a:avLst/>
              <a:gdLst/>
              <a:ahLst/>
              <a:cxnLst/>
              <a:rect l="l" t="t" r="r" b="b"/>
              <a:pathLst>
                <a:path w="2864571" h="1966869">
                  <a:moveTo>
                    <a:pt x="39861" y="0"/>
                  </a:moveTo>
                  <a:lnTo>
                    <a:pt x="2824709" y="0"/>
                  </a:lnTo>
                  <a:cubicBezTo>
                    <a:pt x="2835281" y="0"/>
                    <a:pt x="2845420" y="4200"/>
                    <a:pt x="2852896" y="11675"/>
                  </a:cubicBezTo>
                  <a:cubicBezTo>
                    <a:pt x="2860371" y="19151"/>
                    <a:pt x="2864571" y="29289"/>
                    <a:pt x="2864571" y="39861"/>
                  </a:cubicBezTo>
                  <a:lnTo>
                    <a:pt x="2864571" y="1927007"/>
                  </a:lnTo>
                  <a:cubicBezTo>
                    <a:pt x="2864571" y="1949022"/>
                    <a:pt x="2846724" y="1966869"/>
                    <a:pt x="2824709" y="1966869"/>
                  </a:cubicBezTo>
                  <a:lnTo>
                    <a:pt x="39861" y="1966869"/>
                  </a:lnTo>
                  <a:cubicBezTo>
                    <a:pt x="17846" y="1966869"/>
                    <a:pt x="0" y="1949022"/>
                    <a:pt x="0" y="1927007"/>
                  </a:cubicBezTo>
                  <a:lnTo>
                    <a:pt x="0" y="39861"/>
                  </a:lnTo>
                  <a:cubicBezTo>
                    <a:pt x="0" y="17846"/>
                    <a:pt x="17846" y="0"/>
                    <a:pt x="39861" y="0"/>
                  </a:cubicBezTo>
                  <a:close/>
                </a:path>
              </a:pathLst>
            </a:custGeom>
            <a:gradFill rotWithShape="1">
              <a:gsLst>
                <a:gs pos="0">
                  <a:srgbClr val="000000">
                    <a:alpha val="78000"/>
                  </a:srgbClr>
                </a:gs>
                <a:gs pos="100000">
                  <a:srgbClr val="DDDDDD">
                    <a:alpha val="14820"/>
                  </a:srgbClr>
                </a:gs>
              </a:gsLst>
              <a:lin ang="2700000"/>
            </a:gradFill>
          </p:spPr>
          <p:txBody>
            <a:bodyPr/>
            <a:lstStyle/>
            <a:p>
              <a:endParaRPr lang="en-US" noProof="0" dirty="0"/>
            </a:p>
          </p:txBody>
        </p:sp>
        <p:sp>
          <p:nvSpPr>
            <p:cNvPr id="4" name="TextBox 4"/>
            <p:cNvSpPr txBox="1"/>
            <p:nvPr/>
          </p:nvSpPr>
          <p:spPr>
            <a:xfrm>
              <a:off x="0" y="-66675"/>
              <a:ext cx="2864571" cy="2033544"/>
            </a:xfrm>
            <a:prstGeom prst="rect">
              <a:avLst/>
            </a:prstGeom>
          </p:spPr>
          <p:txBody>
            <a:bodyPr lIns="50800" tIns="50800" rIns="50800" bIns="50800" rtlCol="0" anchor="ctr"/>
            <a:lstStyle/>
            <a:p>
              <a:pPr algn="ctr">
                <a:lnSpc>
                  <a:spcPts val="3151"/>
                </a:lnSpc>
              </a:pPr>
              <a:endParaRPr lang="en-US" noProof="0" dirty="0"/>
            </a:p>
          </p:txBody>
        </p:sp>
      </p:grpSp>
      <p:sp>
        <p:nvSpPr>
          <p:cNvPr id="5" name="Freeform 5">
            <a:extLs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3"/>
            <a:stretch>
              <a:fillRect/>
            </a:stretch>
          </a:blipFill>
        </p:spPr>
        <p:txBody>
          <a:bodyPr/>
          <a:lstStyle/>
          <a:p>
            <a:endParaRPr lang="en-US" noProof="0" dirty="0"/>
          </a:p>
        </p:txBody>
      </p:sp>
      <p:sp>
        <p:nvSpPr>
          <p:cNvPr id="6" name="TextBox 6"/>
          <p:cNvSpPr txBox="1"/>
          <p:nvPr/>
        </p:nvSpPr>
        <p:spPr>
          <a:xfrm>
            <a:off x="7271096" y="5413135"/>
            <a:ext cx="9736067" cy="2976264"/>
          </a:xfrm>
          <a:prstGeom prst="rect">
            <a:avLst/>
          </a:prstGeom>
        </p:spPr>
        <p:txBody>
          <a:bodyPr lIns="0" tIns="0" rIns="0" bIns="0" rtlCol="0" anchor="t">
            <a:spAutoFit/>
          </a:bodyPr>
          <a:lstStyle/>
          <a:p>
            <a:pPr marL="604518" lvl="1" indent="-302259">
              <a:lnSpc>
                <a:spcPts val="3919"/>
              </a:lnSpc>
              <a:buFont typeface="Arial"/>
              <a:buChar char="•"/>
            </a:pPr>
            <a:r>
              <a:rPr lang="en-US" sz="2799" noProof="0" dirty="0">
                <a:solidFill>
                  <a:srgbClr val="FFFFFF"/>
                </a:solidFill>
                <a:latin typeface="Poppins"/>
                <a:ea typeface="Poppins"/>
                <a:cs typeface="Poppins"/>
                <a:sym typeface="Poppins"/>
              </a:rPr>
              <a:t>School education often provides few opportunities for hands-on practice</a:t>
            </a:r>
          </a:p>
          <a:p>
            <a:pPr marL="604518" lvl="1" indent="-302259">
              <a:lnSpc>
                <a:spcPts val="3919"/>
              </a:lnSpc>
              <a:buFont typeface="Arial"/>
              <a:buChar char="•"/>
            </a:pPr>
            <a:r>
              <a:rPr lang="en-US" sz="2799" noProof="0" dirty="0">
                <a:solidFill>
                  <a:srgbClr val="FFFFFF"/>
                </a:solidFill>
                <a:latin typeface="Poppins"/>
                <a:ea typeface="Poppins"/>
                <a:cs typeface="Poppins"/>
                <a:sym typeface="Poppins"/>
              </a:rPr>
              <a:t>Learning is often theory-focused, lacking a real-world context</a:t>
            </a:r>
          </a:p>
          <a:p>
            <a:pPr marL="604518" lvl="1" indent="-302259">
              <a:lnSpc>
                <a:spcPts val="3919"/>
              </a:lnSpc>
              <a:buFont typeface="Arial"/>
              <a:buChar char="•"/>
            </a:pPr>
            <a:r>
              <a:rPr lang="en-US" sz="2799" noProof="0" dirty="0">
                <a:solidFill>
                  <a:srgbClr val="FFFFFF"/>
                </a:solidFill>
                <a:latin typeface="Poppins"/>
                <a:ea typeface="Poppins"/>
                <a:cs typeface="Poppins"/>
                <a:sym typeface="Poppins"/>
              </a:rPr>
              <a:t>There is a lack of practice using real infrastructure</a:t>
            </a:r>
          </a:p>
          <a:p>
            <a:pPr marL="604518" lvl="1" indent="-302259">
              <a:lnSpc>
                <a:spcPts val="3919"/>
              </a:lnSpc>
              <a:buFont typeface="Arial"/>
              <a:buChar char="•"/>
            </a:pPr>
            <a:r>
              <a:rPr lang="en-US" sz="2799" noProof="0" dirty="0">
                <a:solidFill>
                  <a:srgbClr val="FFFFFF"/>
                </a:solidFill>
                <a:latin typeface="Poppins"/>
                <a:ea typeface="Poppins"/>
                <a:cs typeface="Poppins"/>
                <a:sym typeface="Poppins"/>
              </a:rPr>
              <a:t>Development is not always structured or mentored</a:t>
            </a:r>
          </a:p>
        </p:txBody>
      </p:sp>
      <p:sp>
        <p:nvSpPr>
          <p:cNvPr id="7" name="TextBox 7"/>
          <p:cNvSpPr txBox="1">
            <a:spLocks noGrp="1"/>
          </p:cNvSpPr>
          <p:nvPr>
            <p:ph type="title" idx="4294967295"/>
          </p:nvPr>
        </p:nvSpPr>
        <p:spPr>
          <a:xfrm>
            <a:off x="7481253" y="2684552"/>
            <a:ext cx="9315752" cy="172707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gn="l">
              <a:lnSpc>
                <a:spcPts val="6731"/>
              </a:lnSpc>
              <a:spcBef>
                <a:spcPts val="0"/>
              </a:spcBef>
              <a:defRPr/>
            </a:pPr>
            <a:r>
              <a:rPr lang="en-US" sz="6599" b="1" spc="-296" noProof="0" dirty="0">
                <a:solidFill>
                  <a:srgbClr val="FFFFFF"/>
                </a:solidFill>
                <a:latin typeface="Telegraf Bold"/>
                <a:ea typeface="Telegraf Bold"/>
                <a:cs typeface="Telegraf Bold"/>
                <a:sym typeface="Telegraf Bold"/>
              </a:rPr>
              <a:t>A problem that the project addresses</a:t>
            </a:r>
            <a:endParaRPr kumimoji="0" lang="en-US" sz="6599" b="1" i="0" u="none" strike="noStrike" kern="1200" cap="none" spc="-296" normalizeH="0" baseline="0" noProof="0" dirty="0">
              <a:ln>
                <a:noFill/>
              </a:ln>
              <a:solidFill>
                <a:srgbClr val="FFFFFF"/>
              </a:solidFill>
              <a:effectLst/>
              <a:uLnTx/>
              <a:uFillTx/>
              <a:latin typeface="Telegraf Bold"/>
              <a:ea typeface="Telegraf Bold"/>
              <a:cs typeface="Telegraf Bold"/>
              <a:sym typeface="Telegraf Bold"/>
            </a:endParaRPr>
          </a:p>
        </p:txBody>
      </p:sp>
      <p:grpSp>
        <p:nvGrpSpPr>
          <p:cNvPr id="8" name="Group 8" descr="Board "/>
          <p:cNvGrpSpPr/>
          <p:nvPr/>
        </p:nvGrpSpPr>
        <p:grpSpPr>
          <a:xfrm>
            <a:off x="1028700" y="1986280"/>
            <a:ext cx="5264882" cy="7467954"/>
            <a:chOff x="0" y="0"/>
            <a:chExt cx="792915" cy="1124707"/>
          </a:xfrm>
        </p:grpSpPr>
        <p:sp>
          <p:nvSpPr>
            <p:cNvPr id="9" name="Freeform 9"/>
            <p:cNvSpPr/>
            <p:nvPr/>
          </p:nvSpPr>
          <p:spPr>
            <a:xfrm>
              <a:off x="0" y="0"/>
              <a:ext cx="792915" cy="1124707"/>
            </a:xfrm>
            <a:custGeom>
              <a:avLst/>
              <a:gdLst/>
              <a:ahLst/>
              <a:cxnLst/>
              <a:rect l="l" t="t" r="r" b="b"/>
              <a:pathLst>
                <a:path w="792915" h="1124707">
                  <a:moveTo>
                    <a:pt x="82347" y="0"/>
                  </a:moveTo>
                  <a:lnTo>
                    <a:pt x="710568" y="0"/>
                  </a:lnTo>
                  <a:cubicBezTo>
                    <a:pt x="732407" y="0"/>
                    <a:pt x="753353" y="8676"/>
                    <a:pt x="768796" y="24119"/>
                  </a:cubicBezTo>
                  <a:cubicBezTo>
                    <a:pt x="784239" y="39562"/>
                    <a:pt x="792915" y="60507"/>
                    <a:pt x="792915" y="82347"/>
                  </a:cubicBezTo>
                  <a:lnTo>
                    <a:pt x="792915" y="1042360"/>
                  </a:lnTo>
                  <a:cubicBezTo>
                    <a:pt x="792915" y="1064200"/>
                    <a:pt x="784239" y="1085145"/>
                    <a:pt x="768796" y="1100588"/>
                  </a:cubicBezTo>
                  <a:cubicBezTo>
                    <a:pt x="753353" y="1116031"/>
                    <a:pt x="732407" y="1124707"/>
                    <a:pt x="710568" y="1124707"/>
                  </a:cubicBezTo>
                  <a:lnTo>
                    <a:pt x="82347" y="1124707"/>
                  </a:lnTo>
                  <a:cubicBezTo>
                    <a:pt x="60507" y="1124707"/>
                    <a:pt x="39562" y="1116031"/>
                    <a:pt x="24119" y="1100588"/>
                  </a:cubicBezTo>
                  <a:cubicBezTo>
                    <a:pt x="8676" y="1085145"/>
                    <a:pt x="0" y="1064200"/>
                    <a:pt x="0" y="1042360"/>
                  </a:cubicBezTo>
                  <a:lnTo>
                    <a:pt x="0" y="82347"/>
                  </a:lnTo>
                  <a:cubicBezTo>
                    <a:pt x="0" y="60507"/>
                    <a:pt x="8676" y="39562"/>
                    <a:pt x="24119" y="24119"/>
                  </a:cubicBezTo>
                  <a:cubicBezTo>
                    <a:pt x="39562" y="8676"/>
                    <a:pt x="60507" y="0"/>
                    <a:pt x="82347" y="0"/>
                  </a:cubicBezTo>
                  <a:close/>
                </a:path>
              </a:pathLst>
            </a:custGeom>
            <a:blipFill>
              <a:blip r:embed="rId4"/>
              <a:stretch>
                <a:fillRect l="-56650" r="-56650"/>
              </a:stretch>
            </a:blipFill>
          </p:spPr>
          <p:txBody>
            <a:bodyPr/>
            <a:lstStyle/>
            <a:p>
              <a:endParaRPr lang="en-US" noProof="0" dirty="0"/>
            </a:p>
          </p:txBody>
        </p:sp>
      </p:grpSp>
      <p:sp>
        <p:nvSpPr>
          <p:cNvPr id="15" name="Freeform 3">
            <a:extLst>
              <a:ext uri="{FF2B5EF4-FFF2-40B4-BE49-F238E27FC236}">
                <a16:creationId xmlns:a16="http://schemas.microsoft.com/office/drawing/2014/main" id="{12304325-9456-E247-DCD0-A97A5163E348}"/>
              </a:ext>
              <a:ext uri="{C183D7F6-B498-43B3-948B-1728B52AA6E4}">
                <adec:decorative xmlns:adec="http://schemas.microsoft.com/office/drawing/2017/decorative" val="1"/>
              </a:ext>
            </a:extLst>
          </p:cNvPr>
          <p:cNvSpPr/>
          <p:nvPr/>
        </p:nvSpPr>
        <p:spPr>
          <a:xfrm>
            <a:off x="828446" y="777583"/>
            <a:ext cx="1111777" cy="1060162"/>
          </a:xfrm>
          <a:prstGeom prst="ellipse">
            <a:avLst/>
          </a:prstGeom>
          <a:solidFill>
            <a:srgbClr val="00A8CC">
              <a:alpha val="20000"/>
            </a:srgbClr>
          </a:solidFill>
          <a:effectLst>
            <a:softEdge rad="0"/>
          </a:effectLst>
        </p:spPr>
        <p:txBody>
          <a:bodyPr/>
          <a:lstStyle/>
          <a:p>
            <a:endParaRPr lang="en-US" noProof="0" dirty="0"/>
          </a:p>
        </p:txBody>
      </p:sp>
      <p:sp>
        <p:nvSpPr>
          <p:cNvPr id="16" name="TextBox 12">
            <a:extLst>
              <a:ext uri="{FF2B5EF4-FFF2-40B4-BE49-F238E27FC236}">
                <a16:creationId xmlns:a16="http://schemas.microsoft.com/office/drawing/2014/main" id="{C23FB2DC-05CE-E93F-46A1-F9A6017308BD}"/>
              </a:ext>
            </a:extLst>
          </p:cNvPr>
          <p:cNvSpPr txBox="1"/>
          <p:nvPr/>
        </p:nvSpPr>
        <p:spPr>
          <a:xfrm>
            <a:off x="9214008" y="879241"/>
            <a:ext cx="1841707" cy="388633"/>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Introduction</a:t>
            </a:r>
          </a:p>
        </p:txBody>
      </p:sp>
      <p:sp>
        <p:nvSpPr>
          <p:cNvPr id="17" name="TextBox 13">
            <a:extLst>
              <a:ext uri="{FF2B5EF4-FFF2-40B4-BE49-F238E27FC236}">
                <a16:creationId xmlns:a16="http://schemas.microsoft.com/office/drawing/2014/main" id="{3BEFC895-6180-85CF-8B08-0F51398E1655}"/>
              </a:ext>
            </a:extLst>
          </p:cNvPr>
          <p:cNvSpPr txBox="1"/>
          <p:nvPr/>
        </p:nvSpPr>
        <p:spPr>
          <a:xfrm>
            <a:off x="11409986" y="879241"/>
            <a:ext cx="1907082" cy="388633"/>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What is this?</a:t>
            </a:r>
          </a:p>
        </p:txBody>
      </p:sp>
      <p:sp>
        <p:nvSpPr>
          <p:cNvPr id="18" name="TextBox 14">
            <a:extLst>
              <a:ext uri="{FF2B5EF4-FFF2-40B4-BE49-F238E27FC236}">
                <a16:creationId xmlns:a16="http://schemas.microsoft.com/office/drawing/2014/main" id="{458D8E50-936B-7DB3-9471-62B51D490917}"/>
              </a:ext>
            </a:extLst>
          </p:cNvPr>
          <p:cNvSpPr txBox="1"/>
          <p:nvPr/>
        </p:nvSpPr>
        <p:spPr>
          <a:xfrm>
            <a:off x="13529957" y="879241"/>
            <a:ext cx="2091043" cy="388633"/>
          </a:xfrm>
          <a:prstGeom prst="rect">
            <a:avLst/>
          </a:prstGeom>
        </p:spPr>
        <p:txBody>
          <a:bodyPr wrap="square" lIns="0" tIns="0" rIns="0" bIns="0" rtlCol="0" anchor="t">
            <a:spAutoFit/>
          </a:bodyPr>
          <a:lstStyle/>
          <a:p>
            <a:pPr lvl="0" algn="ctr">
              <a:lnSpc>
                <a:spcPts val="3151"/>
              </a:lnSpc>
              <a:spcBef>
                <a:spcPct val="0"/>
              </a:spcBef>
            </a:pPr>
            <a:r>
              <a:rPr lang="en-US" sz="2251" b="1" noProof="0" dirty="0">
                <a:solidFill>
                  <a:srgbClr val="FFFFFF"/>
                </a:solidFill>
                <a:latin typeface="Poppins"/>
                <a:ea typeface="Poppins"/>
                <a:cs typeface="Poppins"/>
                <a:sym typeface="Poppins"/>
              </a:rPr>
              <a:t>Main problem</a:t>
            </a:r>
          </a:p>
        </p:txBody>
      </p:sp>
      <p:sp>
        <p:nvSpPr>
          <p:cNvPr id="19" name="TextBox 15">
            <a:extLst>
              <a:ext uri="{FF2B5EF4-FFF2-40B4-BE49-F238E27FC236}">
                <a16:creationId xmlns:a16="http://schemas.microsoft.com/office/drawing/2014/main" id="{AF9E8331-AFD0-1425-4199-A1FFD565F986}"/>
              </a:ext>
            </a:extLst>
          </p:cNvPr>
          <p:cNvSpPr txBox="1"/>
          <p:nvPr/>
        </p:nvSpPr>
        <p:spPr>
          <a:xfrm>
            <a:off x="15258363" y="879241"/>
            <a:ext cx="2224975" cy="388633"/>
          </a:xfrm>
          <a:prstGeom prst="rect">
            <a:avLst/>
          </a:prstGeom>
        </p:spPr>
        <p:txBody>
          <a:bodyPr lIns="0" tIns="0" rIns="0" bIns="0" rtlCol="0" anchor="t">
            <a:spAutoFit/>
          </a:bodyPr>
          <a:lstStyle/>
          <a:p>
            <a:pPr lvl="0" algn="r">
              <a:lnSpc>
                <a:spcPts val="3151"/>
              </a:lnSpc>
              <a:spcBef>
                <a:spcPct val="0"/>
              </a:spcBef>
            </a:pPr>
            <a:r>
              <a:rPr lang="en-US" sz="2251" noProof="0" dirty="0">
                <a:solidFill>
                  <a:srgbClr val="FFFFFF"/>
                </a:solidFill>
                <a:latin typeface="Poppins"/>
                <a:ea typeface="Poppins"/>
                <a:cs typeface="Poppins"/>
                <a:sym typeface="Poppins"/>
              </a:rPr>
              <a:t>Objectives</a:t>
            </a: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40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600"/>
                                        <p:tgtEl>
                                          <p:spTgt spid="16"/>
                                        </p:tgtEl>
                                      </p:cBhvr>
                                    </p:animEffect>
                                  </p:childTnLst>
                                </p:cTn>
                              </p:par>
                              <p:par>
                                <p:cTn id="14" presetID="10" presetClass="entr" presetSubtype="0" fill="hold" grpId="0" nodeType="withEffect">
                                  <p:stCondLst>
                                    <p:cond delay="70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90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110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6" grpId="0"/>
      <p:bldP spid="17" grpId="0"/>
      <p:bldP spid="18" grpId="0"/>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8" name="Freeform 3">
            <a:extLst>
              <a:ext uri="{FF2B5EF4-FFF2-40B4-BE49-F238E27FC236}">
                <a16:creationId xmlns:a16="http://schemas.microsoft.com/office/drawing/2014/main" id="{073A4AC9-4012-DE5A-8A1F-8AA74A91BEF8}"/>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grpSp>
        <p:nvGrpSpPr>
          <p:cNvPr id="2" name="Group 2">
            <a:extLst>
              <a:ext uri="{C183D7F6-B498-43B3-948B-1728B52AA6E4}">
                <adec:decorative xmlns:adec="http://schemas.microsoft.com/office/drawing/2017/decorative" val="1"/>
              </a:ext>
            </a:extLst>
          </p:cNvPr>
          <p:cNvGrpSpPr/>
          <p:nvPr/>
        </p:nvGrpSpPr>
        <p:grpSpPr>
          <a:xfrm>
            <a:off x="7703689" y="1851792"/>
            <a:ext cx="9783203" cy="5849788"/>
            <a:chOff x="0" y="0"/>
            <a:chExt cx="2576646" cy="1540685"/>
          </a:xfrm>
        </p:grpSpPr>
        <p:sp>
          <p:nvSpPr>
            <p:cNvPr id="3" name="Freeform 3"/>
            <p:cNvSpPr/>
            <p:nvPr/>
          </p:nvSpPr>
          <p:spPr>
            <a:xfrm>
              <a:off x="0" y="0"/>
              <a:ext cx="2576646" cy="1540685"/>
            </a:xfrm>
            <a:custGeom>
              <a:avLst/>
              <a:gdLst/>
              <a:ahLst/>
              <a:cxnLst/>
              <a:rect l="l" t="t" r="r" b="b"/>
              <a:pathLst>
                <a:path w="2576646" h="1540685">
                  <a:moveTo>
                    <a:pt x="44315" y="0"/>
                  </a:moveTo>
                  <a:lnTo>
                    <a:pt x="2532331" y="0"/>
                  </a:lnTo>
                  <a:cubicBezTo>
                    <a:pt x="2556806" y="0"/>
                    <a:pt x="2576646" y="19841"/>
                    <a:pt x="2576646" y="44315"/>
                  </a:cubicBezTo>
                  <a:lnTo>
                    <a:pt x="2576646" y="1496370"/>
                  </a:lnTo>
                  <a:cubicBezTo>
                    <a:pt x="2576646" y="1508123"/>
                    <a:pt x="2571977" y="1519395"/>
                    <a:pt x="2563667" y="1527705"/>
                  </a:cubicBezTo>
                  <a:cubicBezTo>
                    <a:pt x="2555356" y="1536016"/>
                    <a:pt x="2544084" y="1540685"/>
                    <a:pt x="2532331" y="1540685"/>
                  </a:cubicBezTo>
                  <a:lnTo>
                    <a:pt x="44315" y="1540685"/>
                  </a:lnTo>
                  <a:cubicBezTo>
                    <a:pt x="32562" y="1540685"/>
                    <a:pt x="21290" y="1536016"/>
                    <a:pt x="12980" y="1527705"/>
                  </a:cubicBezTo>
                  <a:cubicBezTo>
                    <a:pt x="4669" y="1519395"/>
                    <a:pt x="0" y="1508123"/>
                    <a:pt x="0" y="1496370"/>
                  </a:cubicBezTo>
                  <a:lnTo>
                    <a:pt x="0" y="44315"/>
                  </a:lnTo>
                  <a:cubicBezTo>
                    <a:pt x="0" y="32562"/>
                    <a:pt x="4669" y="21290"/>
                    <a:pt x="12980" y="12980"/>
                  </a:cubicBezTo>
                  <a:cubicBezTo>
                    <a:pt x="21290" y="4669"/>
                    <a:pt x="32562" y="0"/>
                    <a:pt x="44315" y="0"/>
                  </a:cubicBezTo>
                  <a:close/>
                </a:path>
              </a:pathLst>
            </a:custGeom>
            <a:gradFill rotWithShape="1">
              <a:gsLst>
                <a:gs pos="0">
                  <a:srgbClr val="1B1F45"/>
                </a:gs>
                <a:gs pos="64000">
                  <a:srgbClr val="00A8CC"/>
                </a:gs>
                <a:gs pos="100000">
                  <a:srgbClr val="6C63FF"/>
                </a:gs>
              </a:gsLst>
              <a:path path="circle">
                <a:fillToRect r="100000" b="100000"/>
              </a:path>
              <a:tileRect l="-100000" t="-100000"/>
            </a:gradFill>
          </p:spPr>
          <p:txBody>
            <a:bodyPr/>
            <a:lstStyle/>
            <a:p>
              <a:endParaRPr lang="en-US" noProof="0" dirty="0"/>
            </a:p>
          </p:txBody>
        </p:sp>
        <p:sp>
          <p:nvSpPr>
            <p:cNvPr id="4" name="TextBox 4"/>
            <p:cNvSpPr txBox="1"/>
            <p:nvPr/>
          </p:nvSpPr>
          <p:spPr>
            <a:xfrm>
              <a:off x="0" y="-66675"/>
              <a:ext cx="2576646" cy="1607360"/>
            </a:xfrm>
            <a:prstGeom prst="rect">
              <a:avLst/>
            </a:prstGeom>
          </p:spPr>
          <p:txBody>
            <a:bodyPr lIns="50800" tIns="50800" rIns="50800" bIns="50800" rtlCol="0" anchor="ctr"/>
            <a:lstStyle/>
            <a:p>
              <a:pPr algn="ctr">
                <a:lnSpc>
                  <a:spcPts val="3151"/>
                </a:lnSpc>
              </a:pPr>
              <a:endParaRPr lang="en-US" noProof="0" dirty="0"/>
            </a:p>
          </p:txBody>
        </p:sp>
      </p:grpSp>
      <p:grpSp>
        <p:nvGrpSpPr>
          <p:cNvPr id="5" name="Group 5">
            <a:extLst>
              <a:ext uri="{C183D7F6-B498-43B3-948B-1728B52AA6E4}">
                <adec:decorative xmlns:adec="http://schemas.microsoft.com/office/drawing/2017/decorative" val="1"/>
              </a:ext>
            </a:extLst>
          </p:cNvPr>
          <p:cNvGrpSpPr/>
          <p:nvPr/>
        </p:nvGrpSpPr>
        <p:grpSpPr>
          <a:xfrm>
            <a:off x="803986" y="8234980"/>
            <a:ext cx="16682906" cy="1233630"/>
            <a:chOff x="0" y="0"/>
            <a:chExt cx="4393852" cy="324907"/>
          </a:xfrm>
        </p:grpSpPr>
        <p:sp>
          <p:nvSpPr>
            <p:cNvPr id="6" name="Freeform 6"/>
            <p:cNvSpPr/>
            <p:nvPr/>
          </p:nvSpPr>
          <p:spPr>
            <a:xfrm>
              <a:off x="0" y="0"/>
              <a:ext cx="4393852" cy="324907"/>
            </a:xfrm>
            <a:custGeom>
              <a:avLst/>
              <a:gdLst/>
              <a:ahLst/>
              <a:cxnLst/>
              <a:rect l="l" t="t" r="r" b="b"/>
              <a:pathLst>
                <a:path w="4393852" h="324907">
                  <a:moveTo>
                    <a:pt x="21811" y="0"/>
                  </a:moveTo>
                  <a:lnTo>
                    <a:pt x="4372041" y="0"/>
                  </a:lnTo>
                  <a:cubicBezTo>
                    <a:pt x="4384087" y="0"/>
                    <a:pt x="4393852" y="9765"/>
                    <a:pt x="4393852" y="21811"/>
                  </a:cubicBezTo>
                  <a:lnTo>
                    <a:pt x="4393852" y="303096"/>
                  </a:lnTo>
                  <a:cubicBezTo>
                    <a:pt x="4393852" y="315142"/>
                    <a:pt x="4384087" y="324907"/>
                    <a:pt x="4372041" y="324907"/>
                  </a:cubicBezTo>
                  <a:lnTo>
                    <a:pt x="21811" y="324907"/>
                  </a:lnTo>
                  <a:cubicBezTo>
                    <a:pt x="9765" y="324907"/>
                    <a:pt x="0" y="315142"/>
                    <a:pt x="0" y="303096"/>
                  </a:cubicBezTo>
                  <a:lnTo>
                    <a:pt x="0" y="21811"/>
                  </a:lnTo>
                  <a:cubicBezTo>
                    <a:pt x="0" y="9765"/>
                    <a:pt x="9765" y="0"/>
                    <a:pt x="21811" y="0"/>
                  </a:cubicBezTo>
                  <a:close/>
                </a:path>
              </a:pathLst>
            </a:custGeom>
            <a:ln w="28575" cap="rnd">
              <a:solidFill>
                <a:srgbClr val="FFFFFF"/>
              </a:solidFill>
              <a:prstDash val="solid"/>
              <a:round/>
            </a:ln>
          </p:spPr>
          <p:txBody>
            <a:bodyPr/>
            <a:lstStyle/>
            <a:p>
              <a:endParaRPr lang="en-US" noProof="0" dirty="0"/>
            </a:p>
          </p:txBody>
        </p:sp>
        <p:sp>
          <p:nvSpPr>
            <p:cNvPr id="7" name="TextBox 7"/>
            <p:cNvSpPr txBox="1"/>
            <p:nvPr/>
          </p:nvSpPr>
          <p:spPr>
            <a:xfrm>
              <a:off x="0" y="-66675"/>
              <a:ext cx="4393852" cy="391582"/>
            </a:xfrm>
            <a:prstGeom prst="rect">
              <a:avLst/>
            </a:prstGeom>
          </p:spPr>
          <p:txBody>
            <a:bodyPr lIns="50800" tIns="50800" rIns="50800" bIns="50800" rtlCol="0" anchor="ctr"/>
            <a:lstStyle/>
            <a:p>
              <a:pPr algn="ctr">
                <a:lnSpc>
                  <a:spcPts val="3151"/>
                </a:lnSpc>
              </a:pPr>
              <a:endParaRPr lang="en-US" noProof="0" dirty="0"/>
            </a:p>
          </p:txBody>
        </p:sp>
      </p:grpSp>
      <p:sp>
        <p:nvSpPr>
          <p:cNvPr id="8" name="TextBox 8"/>
          <p:cNvSpPr txBox="1"/>
          <p:nvPr/>
        </p:nvSpPr>
        <p:spPr>
          <a:xfrm>
            <a:off x="8460731" y="4232275"/>
            <a:ext cx="8269119" cy="1772858"/>
          </a:xfrm>
          <a:prstGeom prst="rect">
            <a:avLst/>
          </a:prstGeom>
        </p:spPr>
        <p:txBody>
          <a:bodyPr lIns="0" tIns="0" rIns="0" bIns="0" rtlCol="0" anchor="t">
            <a:spAutoFit/>
          </a:bodyPr>
          <a:lstStyle/>
          <a:p>
            <a:pPr marL="539749" lvl="1" indent="-269875">
              <a:lnSpc>
                <a:spcPts val="3499"/>
              </a:lnSpc>
              <a:buFont typeface="Arial"/>
              <a:buChar char="•"/>
            </a:pPr>
            <a:r>
              <a:rPr lang="en-US" sz="2499" noProof="0" dirty="0">
                <a:solidFill>
                  <a:srgbClr val="FFFFFF"/>
                </a:solidFill>
                <a:latin typeface="Poppins"/>
                <a:ea typeface="Poppins"/>
                <a:cs typeface="Poppins"/>
                <a:sym typeface="Poppins"/>
              </a:rPr>
              <a:t>Hands-on IT training in a real-world environment</a:t>
            </a:r>
          </a:p>
          <a:p>
            <a:pPr marL="539749" lvl="1" indent="-269875">
              <a:lnSpc>
                <a:spcPts val="3499"/>
              </a:lnSpc>
              <a:buFont typeface="Arial"/>
              <a:buChar char="•"/>
            </a:pPr>
            <a:r>
              <a:rPr lang="en-US" sz="2499" noProof="0" dirty="0">
                <a:solidFill>
                  <a:srgbClr val="FFFFFF"/>
                </a:solidFill>
                <a:latin typeface="Poppins"/>
                <a:ea typeface="Poppins"/>
                <a:cs typeface="Poppins"/>
                <a:sym typeface="Poppins"/>
              </a:rPr>
              <a:t>Personalized mentoring and ongoing support</a:t>
            </a:r>
          </a:p>
          <a:p>
            <a:pPr marL="539749" lvl="1" indent="-269875">
              <a:lnSpc>
                <a:spcPts val="3499"/>
              </a:lnSpc>
              <a:buFont typeface="Arial"/>
              <a:buChar char="•"/>
            </a:pPr>
            <a:r>
              <a:rPr lang="en-US" sz="2499" noProof="0" dirty="0">
                <a:solidFill>
                  <a:srgbClr val="FFFFFF"/>
                </a:solidFill>
                <a:latin typeface="Poppins"/>
                <a:ea typeface="Poppins"/>
                <a:cs typeface="Poppins"/>
                <a:sym typeface="Poppins"/>
              </a:rPr>
              <a:t>Understanding and using real-world systems</a:t>
            </a:r>
          </a:p>
        </p:txBody>
      </p:sp>
      <p:sp>
        <p:nvSpPr>
          <p:cNvPr id="9" name="TextBox 9"/>
          <p:cNvSpPr txBox="1">
            <a:spLocks noGrp="1"/>
          </p:cNvSpPr>
          <p:nvPr>
            <p:ph type="title" idx="4294967295"/>
          </p:nvPr>
        </p:nvSpPr>
        <p:spPr>
          <a:xfrm>
            <a:off x="8460731" y="2630417"/>
            <a:ext cx="8656428" cy="100251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gn="l">
              <a:lnSpc>
                <a:spcPts val="8077"/>
              </a:lnSpc>
              <a:spcBef>
                <a:spcPts val="0"/>
              </a:spcBef>
              <a:defRPr/>
            </a:pPr>
            <a:r>
              <a:rPr lang="en-US" sz="6600" b="1" spc="-356" noProof="0" dirty="0">
                <a:solidFill>
                  <a:srgbClr val="FFFFFF"/>
                </a:solidFill>
                <a:latin typeface="Telegraf Bold"/>
                <a:ea typeface="Telegraf Bold"/>
                <a:cs typeface="Telegraf Bold"/>
                <a:sym typeface="Telegraf Bold"/>
              </a:rPr>
              <a:t>PROJECT OBJECTIVE</a:t>
            </a:r>
            <a:endParaRPr kumimoji="0" lang="en-US" sz="6600" b="1" i="0" u="none" strike="noStrike" kern="1200" cap="none" spc="-356" normalizeH="0" baseline="0" noProof="0" dirty="0">
              <a:ln>
                <a:noFill/>
              </a:ln>
              <a:solidFill>
                <a:srgbClr val="FFFFFF"/>
              </a:solidFill>
              <a:effectLst/>
              <a:uLnTx/>
              <a:uFillTx/>
              <a:latin typeface="Telegraf Bold"/>
              <a:ea typeface="Telegraf Bold"/>
              <a:cs typeface="Telegraf Bold"/>
              <a:sym typeface="Telegraf Bold"/>
            </a:endParaRPr>
          </a:p>
        </p:txBody>
      </p:sp>
      <p:sp>
        <p:nvSpPr>
          <p:cNvPr id="10" name="TextBox 10"/>
          <p:cNvSpPr txBox="1"/>
          <p:nvPr/>
        </p:nvSpPr>
        <p:spPr>
          <a:xfrm>
            <a:off x="953913" y="8446299"/>
            <a:ext cx="16305387" cy="773994"/>
          </a:xfrm>
          <a:prstGeom prst="rect">
            <a:avLst/>
          </a:prstGeom>
        </p:spPr>
        <p:txBody>
          <a:bodyPr lIns="0" tIns="0" rIns="0" bIns="0" rtlCol="0" anchor="t">
            <a:spAutoFit/>
          </a:bodyPr>
          <a:lstStyle/>
          <a:p>
            <a:pPr algn="ctr">
              <a:lnSpc>
                <a:spcPts val="3035"/>
              </a:lnSpc>
            </a:pPr>
            <a:r>
              <a:rPr lang="en-US" sz="2976" b="1" spc="-133" noProof="0" dirty="0">
                <a:solidFill>
                  <a:srgbClr val="FFFFFF"/>
                </a:solidFill>
                <a:latin typeface="Telegraf Bold"/>
                <a:ea typeface="Telegraf Bold"/>
                <a:cs typeface="Telegraf Bold"/>
                <a:sym typeface="Telegraf Bold"/>
              </a:rPr>
              <a:t>“It’s not about knowing everything, but about daring to ask questions, make mistakes, and learn from real-world systems—because that’s where true knowledge begins.”</a:t>
            </a:r>
          </a:p>
        </p:txBody>
      </p:sp>
      <p:sp>
        <p:nvSpPr>
          <p:cNvPr id="11" name="Freeform 11">
            <a:extLs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3"/>
            <a:stretch>
              <a:fillRect/>
            </a:stretch>
          </a:blipFill>
        </p:spPr>
        <p:txBody>
          <a:bodyPr/>
          <a:lstStyle/>
          <a:p>
            <a:endParaRPr lang="en-US" noProof="0" dirty="0"/>
          </a:p>
        </p:txBody>
      </p:sp>
      <p:grpSp>
        <p:nvGrpSpPr>
          <p:cNvPr id="12" name="Group 12" descr="Drives"/>
          <p:cNvGrpSpPr/>
          <p:nvPr/>
        </p:nvGrpSpPr>
        <p:grpSpPr>
          <a:xfrm>
            <a:off x="1028700" y="1901239"/>
            <a:ext cx="6270972" cy="5911234"/>
            <a:chOff x="0" y="0"/>
            <a:chExt cx="944436" cy="890258"/>
          </a:xfrm>
        </p:grpSpPr>
        <p:sp>
          <p:nvSpPr>
            <p:cNvPr id="13" name="Freeform 13"/>
            <p:cNvSpPr/>
            <p:nvPr/>
          </p:nvSpPr>
          <p:spPr>
            <a:xfrm>
              <a:off x="0" y="0"/>
              <a:ext cx="944436" cy="890258"/>
            </a:xfrm>
            <a:custGeom>
              <a:avLst/>
              <a:gdLst/>
              <a:ahLst/>
              <a:cxnLst/>
              <a:rect l="l" t="t" r="r" b="b"/>
              <a:pathLst>
                <a:path w="944436" h="890258">
                  <a:moveTo>
                    <a:pt x="69136" y="0"/>
                  </a:moveTo>
                  <a:lnTo>
                    <a:pt x="875301" y="0"/>
                  </a:lnTo>
                  <a:cubicBezTo>
                    <a:pt x="893636" y="0"/>
                    <a:pt x="911221" y="7284"/>
                    <a:pt x="924187" y="20249"/>
                  </a:cubicBezTo>
                  <a:cubicBezTo>
                    <a:pt x="937152" y="33215"/>
                    <a:pt x="944436" y="50800"/>
                    <a:pt x="944436" y="69136"/>
                  </a:cubicBezTo>
                  <a:lnTo>
                    <a:pt x="944436" y="821122"/>
                  </a:lnTo>
                  <a:cubicBezTo>
                    <a:pt x="944436" y="839458"/>
                    <a:pt x="937152" y="857043"/>
                    <a:pt x="924187" y="870009"/>
                  </a:cubicBezTo>
                  <a:cubicBezTo>
                    <a:pt x="911221" y="882974"/>
                    <a:pt x="893636" y="890258"/>
                    <a:pt x="875301" y="890258"/>
                  </a:cubicBezTo>
                  <a:lnTo>
                    <a:pt x="69136" y="890258"/>
                  </a:lnTo>
                  <a:cubicBezTo>
                    <a:pt x="30953" y="890258"/>
                    <a:pt x="0" y="859305"/>
                    <a:pt x="0" y="821122"/>
                  </a:cubicBezTo>
                  <a:lnTo>
                    <a:pt x="0" y="69136"/>
                  </a:lnTo>
                  <a:cubicBezTo>
                    <a:pt x="0" y="50800"/>
                    <a:pt x="7284" y="33215"/>
                    <a:pt x="20249" y="20249"/>
                  </a:cubicBezTo>
                  <a:cubicBezTo>
                    <a:pt x="33215" y="7284"/>
                    <a:pt x="50800" y="0"/>
                    <a:pt x="69136" y="0"/>
                  </a:cubicBezTo>
                  <a:close/>
                </a:path>
              </a:pathLst>
            </a:custGeom>
            <a:blipFill>
              <a:blip r:embed="rId4"/>
              <a:stretch>
                <a:fillRect l="-25410" r="-25410"/>
              </a:stretch>
            </a:blipFill>
          </p:spPr>
          <p:txBody>
            <a:bodyPr/>
            <a:lstStyle/>
            <a:p>
              <a:endParaRPr lang="en-US" noProof="0" dirty="0"/>
            </a:p>
          </p:txBody>
        </p:sp>
      </p:grpSp>
      <p:sp>
        <p:nvSpPr>
          <p:cNvPr id="19" name="Freeform 3">
            <a:extLst>
              <a:ext uri="{FF2B5EF4-FFF2-40B4-BE49-F238E27FC236}">
                <a16:creationId xmlns:a16="http://schemas.microsoft.com/office/drawing/2014/main" id="{C0A519FE-CA99-5BAA-BB44-757C2A6F0C3B}"/>
              </a:ext>
              <a:ext uri="{C183D7F6-B498-43B3-948B-1728B52AA6E4}">
                <adec:decorative xmlns:adec="http://schemas.microsoft.com/office/drawing/2017/decorative" val="1"/>
              </a:ext>
            </a:extLst>
          </p:cNvPr>
          <p:cNvSpPr/>
          <p:nvPr/>
        </p:nvSpPr>
        <p:spPr>
          <a:xfrm>
            <a:off x="828446" y="777583"/>
            <a:ext cx="1111777" cy="1060162"/>
          </a:xfrm>
          <a:prstGeom prst="ellipse">
            <a:avLst/>
          </a:prstGeom>
          <a:solidFill>
            <a:srgbClr val="00A8CC">
              <a:alpha val="20000"/>
            </a:srgbClr>
          </a:solidFill>
          <a:effectLst>
            <a:softEdge rad="0"/>
          </a:effectLst>
        </p:spPr>
        <p:txBody>
          <a:bodyPr/>
          <a:lstStyle/>
          <a:p>
            <a:endParaRPr lang="en-US" noProof="0" dirty="0"/>
          </a:p>
        </p:txBody>
      </p:sp>
      <p:sp>
        <p:nvSpPr>
          <p:cNvPr id="20" name="TextBox 12">
            <a:extLst>
              <a:ext uri="{FF2B5EF4-FFF2-40B4-BE49-F238E27FC236}">
                <a16:creationId xmlns:a16="http://schemas.microsoft.com/office/drawing/2014/main" id="{85F68C7E-B3F5-D29D-A9BA-45F74787C338}"/>
              </a:ext>
            </a:extLst>
          </p:cNvPr>
          <p:cNvSpPr txBox="1"/>
          <p:nvPr/>
        </p:nvSpPr>
        <p:spPr>
          <a:xfrm>
            <a:off x="9214008" y="879241"/>
            <a:ext cx="1841707" cy="388633"/>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Introduction</a:t>
            </a:r>
          </a:p>
        </p:txBody>
      </p:sp>
      <p:sp>
        <p:nvSpPr>
          <p:cNvPr id="21" name="TextBox 13">
            <a:extLst>
              <a:ext uri="{FF2B5EF4-FFF2-40B4-BE49-F238E27FC236}">
                <a16:creationId xmlns:a16="http://schemas.microsoft.com/office/drawing/2014/main" id="{AC6D3C83-C292-EF8D-6451-1C97461D80E7}"/>
              </a:ext>
            </a:extLst>
          </p:cNvPr>
          <p:cNvSpPr txBox="1"/>
          <p:nvPr/>
        </p:nvSpPr>
        <p:spPr>
          <a:xfrm>
            <a:off x="11409986" y="879241"/>
            <a:ext cx="1907082" cy="388633"/>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What is this?</a:t>
            </a:r>
          </a:p>
        </p:txBody>
      </p:sp>
      <p:sp>
        <p:nvSpPr>
          <p:cNvPr id="22" name="TextBox 14">
            <a:extLst>
              <a:ext uri="{FF2B5EF4-FFF2-40B4-BE49-F238E27FC236}">
                <a16:creationId xmlns:a16="http://schemas.microsoft.com/office/drawing/2014/main" id="{3E72E4A8-6FAB-E8A2-E139-6AE3A61CA5CC}"/>
              </a:ext>
            </a:extLst>
          </p:cNvPr>
          <p:cNvSpPr txBox="1"/>
          <p:nvPr/>
        </p:nvSpPr>
        <p:spPr>
          <a:xfrm>
            <a:off x="13529957" y="879241"/>
            <a:ext cx="2091043" cy="388633"/>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Main problem</a:t>
            </a:r>
          </a:p>
        </p:txBody>
      </p:sp>
      <p:sp>
        <p:nvSpPr>
          <p:cNvPr id="23" name="TextBox 15">
            <a:extLst>
              <a:ext uri="{FF2B5EF4-FFF2-40B4-BE49-F238E27FC236}">
                <a16:creationId xmlns:a16="http://schemas.microsoft.com/office/drawing/2014/main" id="{DCBE7941-F43C-E4EB-1705-83837E9D683F}"/>
              </a:ext>
            </a:extLst>
          </p:cNvPr>
          <p:cNvSpPr txBox="1"/>
          <p:nvPr/>
        </p:nvSpPr>
        <p:spPr>
          <a:xfrm>
            <a:off x="15258363" y="879241"/>
            <a:ext cx="2224975" cy="388633"/>
          </a:xfrm>
          <a:prstGeom prst="rect">
            <a:avLst/>
          </a:prstGeom>
        </p:spPr>
        <p:txBody>
          <a:bodyPr lIns="0" tIns="0" rIns="0" bIns="0" rtlCol="0" anchor="t">
            <a:spAutoFit/>
          </a:bodyPr>
          <a:lstStyle/>
          <a:p>
            <a:pPr lvl="0" algn="r">
              <a:lnSpc>
                <a:spcPts val="3151"/>
              </a:lnSpc>
              <a:spcBef>
                <a:spcPct val="0"/>
              </a:spcBef>
            </a:pPr>
            <a:r>
              <a:rPr lang="en-US" sz="2251" b="1" noProof="0" dirty="0">
                <a:solidFill>
                  <a:srgbClr val="FFFFFF"/>
                </a:solidFill>
                <a:latin typeface="Poppins"/>
                <a:ea typeface="Poppins"/>
                <a:cs typeface="Poppins"/>
                <a:sym typeface="Poppins"/>
              </a:rPr>
              <a:t>Objectives</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40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600"/>
                                        <p:tgtEl>
                                          <p:spTgt spid="20"/>
                                        </p:tgtEl>
                                      </p:cBhvr>
                                    </p:animEffect>
                                  </p:childTnLst>
                                </p:cTn>
                              </p:par>
                              <p:par>
                                <p:cTn id="17" presetID="10" presetClass="entr" presetSubtype="0" fill="hold" grpId="0" nodeType="withEffect">
                                  <p:stCondLst>
                                    <p:cond delay="70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10" presetClass="entr" presetSubtype="0" fill="hold" grpId="0" nodeType="withEffect">
                                  <p:stCondLst>
                                    <p:cond delay="90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grpId="0" nodeType="withEffect">
                                  <p:stCondLst>
                                    <p:cond delay="110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20" grpId="0"/>
      <p:bldP spid="21" grpId="0"/>
      <p:bldP spid="22" grpId="0"/>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9" name="Freeform 3">
            <a:extLst>
              <a:ext uri="{FF2B5EF4-FFF2-40B4-BE49-F238E27FC236}">
                <a16:creationId xmlns:a16="http://schemas.microsoft.com/office/drawing/2014/main" id="{330A6557-8660-581E-3723-14D3214B8892}"/>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sp>
        <p:nvSpPr>
          <p:cNvPr id="20" name="Freeform 3">
            <a:extLst>
              <a:ext uri="{FF2B5EF4-FFF2-40B4-BE49-F238E27FC236}">
                <a16:creationId xmlns:a16="http://schemas.microsoft.com/office/drawing/2014/main" id="{B4171626-978D-064D-8AE8-0FA28FF7EF31}"/>
              </a:ext>
              <a:ext uri="{C183D7F6-B498-43B3-948B-1728B52AA6E4}">
                <adec:decorative xmlns:adec="http://schemas.microsoft.com/office/drawing/2017/decorative" val="1"/>
              </a:ext>
            </a:extLst>
          </p:cNvPr>
          <p:cNvSpPr/>
          <p:nvPr/>
        </p:nvSpPr>
        <p:spPr>
          <a:xfrm>
            <a:off x="828446" y="777583"/>
            <a:ext cx="1111777" cy="1060162"/>
          </a:xfrm>
          <a:prstGeom prst="ellipse">
            <a:avLst/>
          </a:prstGeom>
          <a:solidFill>
            <a:srgbClr val="00A8CC">
              <a:alpha val="20000"/>
            </a:srgbClr>
          </a:solidFill>
          <a:effectLst>
            <a:softEdge rad="0"/>
          </a:effectLst>
        </p:spPr>
        <p:txBody>
          <a:bodyPr/>
          <a:lstStyle/>
          <a:p>
            <a:endParaRPr lang="en-US" noProof="0" dirty="0"/>
          </a:p>
        </p:txBody>
      </p:sp>
      <p:grpSp>
        <p:nvGrpSpPr>
          <p:cNvPr id="2" name="Group 2">
            <a:extLst>
              <a:ext uri="{C183D7F6-B498-43B3-948B-1728B52AA6E4}">
                <adec:decorative xmlns:adec="http://schemas.microsoft.com/office/drawing/2017/decorative" val="1"/>
              </a:ext>
            </a:extLst>
          </p:cNvPr>
          <p:cNvGrpSpPr/>
          <p:nvPr/>
        </p:nvGrpSpPr>
        <p:grpSpPr>
          <a:xfrm>
            <a:off x="296111" y="349538"/>
            <a:ext cx="17695777" cy="9587924"/>
            <a:chOff x="0" y="0"/>
            <a:chExt cx="4660616" cy="2525215"/>
          </a:xfrm>
        </p:grpSpPr>
        <p:sp>
          <p:nvSpPr>
            <p:cNvPr id="3" name="Freeform 3"/>
            <p:cNvSpPr/>
            <p:nvPr/>
          </p:nvSpPr>
          <p:spPr>
            <a:xfrm>
              <a:off x="0" y="0"/>
              <a:ext cx="4660616" cy="2525215"/>
            </a:xfrm>
            <a:custGeom>
              <a:avLst/>
              <a:gdLst/>
              <a:ahLst/>
              <a:cxnLst/>
              <a:rect l="l" t="t" r="r" b="b"/>
              <a:pathLst>
                <a:path w="4660616" h="2525215">
                  <a:moveTo>
                    <a:pt x="24500" y="0"/>
                  </a:moveTo>
                  <a:lnTo>
                    <a:pt x="4636116" y="0"/>
                  </a:lnTo>
                  <a:cubicBezTo>
                    <a:pt x="4649647" y="0"/>
                    <a:pt x="4660616" y="10969"/>
                    <a:pt x="4660616" y="24500"/>
                  </a:cubicBezTo>
                  <a:lnTo>
                    <a:pt x="4660616" y="2500715"/>
                  </a:lnTo>
                  <a:cubicBezTo>
                    <a:pt x="4660616" y="2507212"/>
                    <a:pt x="4658035" y="2513444"/>
                    <a:pt x="4653440" y="2518039"/>
                  </a:cubicBezTo>
                  <a:cubicBezTo>
                    <a:pt x="4648846" y="2522633"/>
                    <a:pt x="4642614" y="2525215"/>
                    <a:pt x="4636116" y="2525215"/>
                  </a:cubicBezTo>
                  <a:lnTo>
                    <a:pt x="24500" y="2525215"/>
                  </a:lnTo>
                  <a:cubicBezTo>
                    <a:pt x="10969" y="2525215"/>
                    <a:pt x="0" y="2514246"/>
                    <a:pt x="0" y="2500715"/>
                  </a:cubicBezTo>
                  <a:lnTo>
                    <a:pt x="0" y="24500"/>
                  </a:lnTo>
                  <a:cubicBezTo>
                    <a:pt x="0" y="10969"/>
                    <a:pt x="10969" y="0"/>
                    <a:pt x="24500" y="0"/>
                  </a:cubicBezTo>
                  <a:close/>
                </a:path>
              </a:pathLst>
            </a:custGeom>
            <a:solidFill>
              <a:srgbClr val="00A8CC">
                <a:alpha val="20000"/>
              </a:srgbClr>
            </a:solidFill>
          </p:spPr>
          <p:txBody>
            <a:bodyPr/>
            <a:lstStyle/>
            <a:p>
              <a:endParaRPr lang="en-US" noProof="0" dirty="0"/>
            </a:p>
          </p:txBody>
        </p:sp>
        <p:sp>
          <p:nvSpPr>
            <p:cNvPr id="4" name="TextBox 4"/>
            <p:cNvSpPr txBox="1"/>
            <p:nvPr/>
          </p:nvSpPr>
          <p:spPr>
            <a:xfrm>
              <a:off x="0" y="-38100"/>
              <a:ext cx="4660616" cy="2563315"/>
            </a:xfrm>
            <a:prstGeom prst="rect">
              <a:avLst/>
            </a:prstGeom>
          </p:spPr>
          <p:txBody>
            <a:bodyPr lIns="50800" tIns="50800" rIns="50800" bIns="50800" rtlCol="0" anchor="ctr"/>
            <a:lstStyle/>
            <a:p>
              <a:pPr algn="ctr">
                <a:lnSpc>
                  <a:spcPts val="2659"/>
                </a:lnSpc>
                <a:spcBef>
                  <a:spcPct val="0"/>
                </a:spcBef>
              </a:pPr>
              <a:endParaRPr lang="en-US" noProof="0" dirty="0"/>
            </a:p>
          </p:txBody>
        </p:sp>
      </p:grpSp>
      <p:grpSp>
        <p:nvGrpSpPr>
          <p:cNvPr id="5" name="Group 5">
            <a:extLst>
              <a:ext uri="{C183D7F6-B498-43B3-948B-1728B52AA6E4}">
                <adec:decorative xmlns:adec="http://schemas.microsoft.com/office/drawing/2017/decorative" val="1"/>
              </a:ext>
            </a:extLst>
          </p:cNvPr>
          <p:cNvGrpSpPr/>
          <p:nvPr/>
        </p:nvGrpSpPr>
        <p:grpSpPr>
          <a:xfrm>
            <a:off x="803986" y="4795861"/>
            <a:ext cx="7770874" cy="4660838"/>
            <a:chOff x="0" y="0"/>
            <a:chExt cx="2046650" cy="1227546"/>
          </a:xfrm>
        </p:grpSpPr>
        <p:sp>
          <p:nvSpPr>
            <p:cNvPr id="6" name="Freeform 6"/>
            <p:cNvSpPr/>
            <p:nvPr/>
          </p:nvSpPr>
          <p:spPr>
            <a:xfrm>
              <a:off x="0" y="0"/>
              <a:ext cx="2046650" cy="1227546"/>
            </a:xfrm>
            <a:custGeom>
              <a:avLst/>
              <a:gdLst/>
              <a:ahLst/>
              <a:cxnLst/>
              <a:rect l="l" t="t" r="r" b="b"/>
              <a:pathLst>
                <a:path w="2046650" h="1227546">
                  <a:moveTo>
                    <a:pt x="55791" y="0"/>
                  </a:moveTo>
                  <a:lnTo>
                    <a:pt x="1990859" y="0"/>
                  </a:lnTo>
                  <a:cubicBezTo>
                    <a:pt x="2021671" y="0"/>
                    <a:pt x="2046650" y="24979"/>
                    <a:pt x="2046650" y="55791"/>
                  </a:cubicBezTo>
                  <a:lnTo>
                    <a:pt x="2046650" y="1171754"/>
                  </a:lnTo>
                  <a:cubicBezTo>
                    <a:pt x="2046650" y="1186551"/>
                    <a:pt x="2040772" y="1200742"/>
                    <a:pt x="2030309" y="1211205"/>
                  </a:cubicBezTo>
                  <a:cubicBezTo>
                    <a:pt x="2019846" y="1221668"/>
                    <a:pt x="2005655" y="1227546"/>
                    <a:pt x="1990859" y="1227546"/>
                  </a:cubicBezTo>
                  <a:lnTo>
                    <a:pt x="55791" y="1227546"/>
                  </a:lnTo>
                  <a:cubicBezTo>
                    <a:pt x="40995" y="1227546"/>
                    <a:pt x="26804" y="1221668"/>
                    <a:pt x="16341" y="1211205"/>
                  </a:cubicBezTo>
                  <a:cubicBezTo>
                    <a:pt x="5878" y="1200742"/>
                    <a:pt x="0" y="1186551"/>
                    <a:pt x="0" y="1171754"/>
                  </a:cubicBezTo>
                  <a:lnTo>
                    <a:pt x="0" y="55791"/>
                  </a:lnTo>
                  <a:cubicBezTo>
                    <a:pt x="0" y="40995"/>
                    <a:pt x="5878" y="26804"/>
                    <a:pt x="16341" y="16341"/>
                  </a:cubicBezTo>
                  <a:cubicBezTo>
                    <a:pt x="26804" y="5878"/>
                    <a:pt x="40995" y="0"/>
                    <a:pt x="55791" y="0"/>
                  </a:cubicBezTo>
                  <a:close/>
                </a:path>
              </a:pathLst>
            </a:custGeom>
            <a:solidFill>
              <a:srgbClr val="6C63FF">
                <a:alpha val="21961"/>
              </a:srgbClr>
            </a:solidFill>
          </p:spPr>
          <p:txBody>
            <a:bodyPr/>
            <a:lstStyle/>
            <a:p>
              <a:endParaRPr lang="en-US" noProof="0" dirty="0"/>
            </a:p>
          </p:txBody>
        </p:sp>
        <p:sp>
          <p:nvSpPr>
            <p:cNvPr id="7" name="TextBox 7"/>
            <p:cNvSpPr txBox="1"/>
            <p:nvPr/>
          </p:nvSpPr>
          <p:spPr>
            <a:xfrm>
              <a:off x="0" y="-38100"/>
              <a:ext cx="2046650" cy="1265646"/>
            </a:xfrm>
            <a:prstGeom prst="rect">
              <a:avLst/>
            </a:prstGeom>
          </p:spPr>
          <p:txBody>
            <a:bodyPr lIns="50800" tIns="50800" rIns="50800" bIns="50800" rtlCol="0" anchor="ctr"/>
            <a:lstStyle/>
            <a:p>
              <a:pPr algn="ctr">
                <a:lnSpc>
                  <a:spcPts val="2659"/>
                </a:lnSpc>
                <a:spcBef>
                  <a:spcPct val="0"/>
                </a:spcBef>
              </a:pPr>
              <a:endParaRPr lang="en-US" noProof="0" dirty="0"/>
            </a:p>
          </p:txBody>
        </p:sp>
      </p:grpSp>
      <p:grpSp>
        <p:nvGrpSpPr>
          <p:cNvPr id="8" name="Group 8">
            <a:extLst>
              <a:ext uri="{C183D7F6-B498-43B3-948B-1728B52AA6E4}">
                <adec:decorative xmlns:adec="http://schemas.microsoft.com/office/drawing/2017/decorative" val="1"/>
              </a:ext>
            </a:extLst>
          </p:cNvPr>
          <p:cNvGrpSpPr/>
          <p:nvPr/>
        </p:nvGrpSpPr>
        <p:grpSpPr>
          <a:xfrm>
            <a:off x="811360" y="1796578"/>
            <a:ext cx="16648096" cy="2555903"/>
            <a:chOff x="0" y="0"/>
            <a:chExt cx="4384684" cy="673160"/>
          </a:xfrm>
        </p:grpSpPr>
        <p:sp>
          <p:nvSpPr>
            <p:cNvPr id="9" name="Freeform 9"/>
            <p:cNvSpPr/>
            <p:nvPr/>
          </p:nvSpPr>
          <p:spPr>
            <a:xfrm>
              <a:off x="0" y="0"/>
              <a:ext cx="4384684" cy="673160"/>
            </a:xfrm>
            <a:custGeom>
              <a:avLst/>
              <a:gdLst/>
              <a:ahLst/>
              <a:cxnLst/>
              <a:rect l="l" t="t" r="r" b="b"/>
              <a:pathLst>
                <a:path w="4384684" h="673160">
                  <a:moveTo>
                    <a:pt x="26042" y="0"/>
                  </a:moveTo>
                  <a:lnTo>
                    <a:pt x="4358642" y="0"/>
                  </a:lnTo>
                  <a:cubicBezTo>
                    <a:pt x="4365548" y="0"/>
                    <a:pt x="4372172" y="2744"/>
                    <a:pt x="4377056" y="7627"/>
                  </a:cubicBezTo>
                  <a:cubicBezTo>
                    <a:pt x="4381940" y="12511"/>
                    <a:pt x="4384684" y="19135"/>
                    <a:pt x="4384684" y="26042"/>
                  </a:cubicBezTo>
                  <a:lnTo>
                    <a:pt x="4384684" y="647118"/>
                  </a:lnTo>
                  <a:cubicBezTo>
                    <a:pt x="4384684" y="654024"/>
                    <a:pt x="4381940" y="660648"/>
                    <a:pt x="4377056" y="665532"/>
                  </a:cubicBezTo>
                  <a:cubicBezTo>
                    <a:pt x="4372172" y="670416"/>
                    <a:pt x="4365548" y="673160"/>
                    <a:pt x="4358642" y="673160"/>
                  </a:cubicBezTo>
                  <a:lnTo>
                    <a:pt x="26042" y="673160"/>
                  </a:lnTo>
                  <a:cubicBezTo>
                    <a:pt x="19135" y="673160"/>
                    <a:pt x="12511" y="670416"/>
                    <a:pt x="7627" y="665532"/>
                  </a:cubicBezTo>
                  <a:cubicBezTo>
                    <a:pt x="2744" y="660648"/>
                    <a:pt x="0" y="654024"/>
                    <a:pt x="0" y="647118"/>
                  </a:cubicBezTo>
                  <a:lnTo>
                    <a:pt x="0" y="26042"/>
                  </a:lnTo>
                  <a:cubicBezTo>
                    <a:pt x="0" y="19135"/>
                    <a:pt x="2744" y="12511"/>
                    <a:pt x="7627" y="7627"/>
                  </a:cubicBezTo>
                  <a:cubicBezTo>
                    <a:pt x="12511" y="2744"/>
                    <a:pt x="19135" y="0"/>
                    <a:pt x="26042" y="0"/>
                  </a:cubicBezTo>
                  <a:close/>
                </a:path>
              </a:pathLst>
            </a:custGeom>
            <a:solidFill>
              <a:srgbClr val="6C63FF">
                <a:alpha val="21961"/>
              </a:srgbClr>
            </a:solidFill>
          </p:spPr>
          <p:txBody>
            <a:bodyPr/>
            <a:lstStyle/>
            <a:p>
              <a:endParaRPr lang="en-US" noProof="0" dirty="0"/>
            </a:p>
          </p:txBody>
        </p:sp>
        <p:sp>
          <p:nvSpPr>
            <p:cNvPr id="10" name="TextBox 10"/>
            <p:cNvSpPr txBox="1"/>
            <p:nvPr/>
          </p:nvSpPr>
          <p:spPr>
            <a:xfrm>
              <a:off x="0" y="-38100"/>
              <a:ext cx="4384684" cy="711260"/>
            </a:xfrm>
            <a:prstGeom prst="rect">
              <a:avLst/>
            </a:prstGeom>
          </p:spPr>
          <p:txBody>
            <a:bodyPr lIns="50800" tIns="50800" rIns="50800" bIns="50800" rtlCol="0" anchor="ctr"/>
            <a:lstStyle/>
            <a:p>
              <a:pPr algn="ctr">
                <a:lnSpc>
                  <a:spcPts val="2659"/>
                </a:lnSpc>
                <a:spcBef>
                  <a:spcPct val="0"/>
                </a:spcBef>
              </a:pPr>
              <a:endParaRPr lang="en-US" noProof="0" dirty="0"/>
            </a:p>
          </p:txBody>
        </p:sp>
      </p:grpSp>
      <p:sp>
        <p:nvSpPr>
          <p:cNvPr id="11" name="Freeform 11">
            <a:extLs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3"/>
            <a:stretch>
              <a:fillRect/>
            </a:stretch>
          </a:blipFill>
        </p:spPr>
        <p:txBody>
          <a:bodyPr/>
          <a:lstStyle/>
          <a:p>
            <a:endParaRPr lang="en-US" noProof="0" dirty="0"/>
          </a:p>
        </p:txBody>
      </p:sp>
      <p:sp>
        <p:nvSpPr>
          <p:cNvPr id="12" name="TextBox 12"/>
          <p:cNvSpPr txBox="1"/>
          <p:nvPr/>
        </p:nvSpPr>
        <p:spPr>
          <a:xfrm>
            <a:off x="1199241" y="4900605"/>
            <a:ext cx="6978890" cy="4440831"/>
          </a:xfrm>
          <a:prstGeom prst="rect">
            <a:avLst/>
          </a:prstGeom>
        </p:spPr>
        <p:txBody>
          <a:bodyPr lIns="0" tIns="0" rIns="0" bIns="0" rtlCol="0" anchor="t">
            <a:spAutoFit/>
          </a:bodyPr>
          <a:lstStyle/>
          <a:p>
            <a:pPr algn="just">
              <a:lnSpc>
                <a:spcPts val="3499"/>
              </a:lnSpc>
            </a:pPr>
            <a:r>
              <a:rPr lang="en-US" b="1" noProof="0" dirty="0">
                <a:solidFill>
                  <a:srgbClr val="FFFFFF"/>
                </a:solidFill>
                <a:latin typeface="Poppins Bold"/>
                <a:ea typeface="Poppins Bold"/>
                <a:cs typeface="Poppins Bold"/>
                <a:sym typeface="Poppins Bold"/>
              </a:rPr>
              <a:t>Guest</a:t>
            </a:r>
          </a:p>
          <a:p>
            <a:pPr marL="539749" lvl="1" indent="-269875" algn="just">
              <a:lnSpc>
                <a:spcPts val="3499"/>
              </a:lnSpc>
              <a:buFont typeface="Arial"/>
              <a:buChar char="•"/>
            </a:pPr>
            <a:r>
              <a:rPr lang="en-US" noProof="0" dirty="0">
                <a:solidFill>
                  <a:srgbClr val="FFFFFF"/>
                </a:solidFill>
                <a:latin typeface="Poppins"/>
                <a:ea typeface="Poppins"/>
                <a:cs typeface="Poppins"/>
                <a:sym typeface="Poppins"/>
              </a:rPr>
              <a:t>Browse, view information</a:t>
            </a:r>
          </a:p>
          <a:p>
            <a:pPr algn="just">
              <a:lnSpc>
                <a:spcPts val="3499"/>
              </a:lnSpc>
            </a:pPr>
            <a:r>
              <a:rPr lang="en-US" b="1" noProof="0" dirty="0">
                <a:solidFill>
                  <a:srgbClr val="FFFFFF"/>
                </a:solidFill>
                <a:latin typeface="Poppins Bold"/>
                <a:ea typeface="Poppins Bold"/>
                <a:cs typeface="Poppins Bold"/>
                <a:sym typeface="Poppins Bold"/>
              </a:rPr>
              <a:t>User</a:t>
            </a:r>
          </a:p>
          <a:p>
            <a:pPr marL="539749" lvl="1" indent="-269875" algn="just">
              <a:lnSpc>
                <a:spcPts val="3499"/>
              </a:lnSpc>
              <a:buFont typeface="Arial"/>
              <a:buChar char="•"/>
            </a:pPr>
            <a:r>
              <a:rPr lang="en-US" noProof="0" dirty="0">
                <a:solidFill>
                  <a:srgbClr val="FFFFFF"/>
                </a:solidFill>
                <a:latin typeface="Poppins"/>
                <a:ea typeface="Poppins"/>
                <a:cs typeface="Poppins"/>
                <a:sym typeface="Poppins"/>
              </a:rPr>
              <a:t>Log in </a:t>
            </a:r>
          </a:p>
          <a:p>
            <a:pPr marL="539749" lvl="1" indent="-269875" algn="just">
              <a:lnSpc>
                <a:spcPts val="3499"/>
              </a:lnSpc>
              <a:buFont typeface="Arial"/>
              <a:buChar char="•"/>
            </a:pPr>
            <a:r>
              <a:rPr lang="en-US" noProof="0" dirty="0">
                <a:solidFill>
                  <a:srgbClr val="FFFFFF"/>
                </a:solidFill>
                <a:latin typeface="Poppins"/>
                <a:ea typeface="Poppins"/>
                <a:cs typeface="Poppins"/>
                <a:sym typeface="Poppins"/>
              </a:rPr>
              <a:t>Create a reservation </a:t>
            </a:r>
          </a:p>
          <a:p>
            <a:pPr marL="539749" lvl="1" indent="-269875" algn="just">
              <a:lnSpc>
                <a:spcPts val="3499"/>
              </a:lnSpc>
              <a:buFont typeface="Arial"/>
              <a:buChar char="•"/>
            </a:pPr>
            <a:r>
              <a:rPr lang="en-US" noProof="0" dirty="0">
                <a:solidFill>
                  <a:srgbClr val="FFFFFF"/>
                </a:solidFill>
                <a:latin typeface="Poppins"/>
                <a:ea typeface="Poppins"/>
                <a:cs typeface="Poppins"/>
                <a:sym typeface="Poppins"/>
              </a:rPr>
              <a:t>Manage your personal information and reservations</a:t>
            </a:r>
          </a:p>
          <a:p>
            <a:pPr algn="just">
              <a:lnSpc>
                <a:spcPts val="3499"/>
              </a:lnSpc>
            </a:pPr>
            <a:r>
              <a:rPr lang="en-US" b="1" noProof="0" dirty="0">
                <a:solidFill>
                  <a:srgbClr val="FFFFFF"/>
                </a:solidFill>
                <a:latin typeface="Poppins Bold"/>
                <a:ea typeface="Poppins Bold"/>
                <a:cs typeface="Poppins Bold"/>
                <a:sym typeface="Poppins Bold"/>
              </a:rPr>
              <a:t>Admin</a:t>
            </a:r>
          </a:p>
          <a:p>
            <a:pPr marL="539749" lvl="1" indent="-269875" algn="just">
              <a:lnSpc>
                <a:spcPts val="3499"/>
              </a:lnSpc>
              <a:buFont typeface="Arial"/>
              <a:buChar char="•"/>
            </a:pPr>
            <a:r>
              <a:rPr lang="en-US" noProof="0" dirty="0">
                <a:solidFill>
                  <a:srgbClr val="FFFFFF"/>
                </a:solidFill>
                <a:latin typeface="Poppins"/>
                <a:ea typeface="Poppins"/>
                <a:cs typeface="Poppins"/>
                <a:sym typeface="Poppins"/>
              </a:rPr>
              <a:t>Manage tools and appointments </a:t>
            </a:r>
          </a:p>
          <a:p>
            <a:pPr marL="539749" lvl="1" indent="-269875" algn="just">
              <a:lnSpc>
                <a:spcPts val="3499"/>
              </a:lnSpc>
              <a:buFont typeface="Arial"/>
              <a:buChar char="•"/>
            </a:pPr>
            <a:r>
              <a:rPr lang="en-US" noProof="0" dirty="0">
                <a:solidFill>
                  <a:srgbClr val="FFFFFF"/>
                </a:solidFill>
                <a:latin typeface="Poppins"/>
                <a:ea typeface="Poppins"/>
                <a:cs typeface="Poppins"/>
                <a:sym typeface="Poppins"/>
              </a:rPr>
              <a:t>Supervise users </a:t>
            </a:r>
          </a:p>
          <a:p>
            <a:pPr marL="539749" lvl="1" indent="-269875" algn="just">
              <a:lnSpc>
                <a:spcPts val="3499"/>
              </a:lnSpc>
              <a:buFont typeface="Arial"/>
              <a:buChar char="•"/>
            </a:pPr>
            <a:r>
              <a:rPr lang="en-US" noProof="0" dirty="0">
                <a:solidFill>
                  <a:srgbClr val="FFFFFF"/>
                </a:solidFill>
                <a:latin typeface="Poppins"/>
                <a:ea typeface="Poppins"/>
                <a:cs typeface="Poppins"/>
                <a:sym typeface="Poppins"/>
              </a:rPr>
              <a:t>System administration</a:t>
            </a:r>
          </a:p>
        </p:txBody>
      </p:sp>
      <p:sp>
        <p:nvSpPr>
          <p:cNvPr id="13" name="TextBox 13"/>
          <p:cNvSpPr txBox="1">
            <a:spLocks noGrp="1"/>
          </p:cNvSpPr>
          <p:nvPr>
            <p:ph type="title" idx="4294967295"/>
          </p:nvPr>
        </p:nvSpPr>
        <p:spPr>
          <a:xfrm>
            <a:off x="803986" y="2479792"/>
            <a:ext cx="16648096" cy="1150571"/>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nSpc>
                <a:spcPts val="8873"/>
              </a:lnSpc>
              <a:spcBef>
                <a:spcPts val="0"/>
              </a:spcBef>
              <a:defRPr/>
            </a:pPr>
            <a:r>
              <a:rPr lang="en-US" sz="8699" b="1" spc="-391" noProof="0" dirty="0">
                <a:solidFill>
                  <a:srgbClr val="FFFFFF"/>
                </a:solidFill>
                <a:latin typeface="Telegraf Bold"/>
                <a:ea typeface="Telegraf Bold"/>
                <a:cs typeface="Telegraf Bold"/>
                <a:sym typeface="Telegraf Bold"/>
              </a:rPr>
              <a:t>User roles</a:t>
            </a:r>
            <a:endParaRPr kumimoji="0" lang="en-US" sz="8699" b="1" i="0" u="none" strike="noStrike" kern="1200" cap="none" spc="-391" normalizeH="0" baseline="0" noProof="0" dirty="0">
              <a:ln>
                <a:noFill/>
              </a:ln>
              <a:solidFill>
                <a:srgbClr val="FFFFFF"/>
              </a:solidFill>
              <a:effectLst/>
              <a:uLnTx/>
              <a:uFillTx/>
              <a:latin typeface="Telegraf Bold"/>
              <a:ea typeface="Telegraf Bold"/>
              <a:cs typeface="Telegraf Bold"/>
              <a:sym typeface="Telegraf Bold"/>
            </a:endParaRPr>
          </a:p>
        </p:txBody>
      </p:sp>
      <p:sp>
        <p:nvSpPr>
          <p:cNvPr id="18" name="Freeform 18">
            <a:extLst>
              <a:ext uri="{C183D7F6-B498-43B3-948B-1728B52AA6E4}">
                <adec:decorative xmlns:adec="http://schemas.microsoft.com/office/drawing/2017/decorative" val="1"/>
              </a:ext>
            </a:extLst>
          </p:cNvPr>
          <p:cNvSpPr/>
          <p:nvPr/>
        </p:nvSpPr>
        <p:spPr>
          <a:xfrm>
            <a:off x="8907460" y="4795861"/>
            <a:ext cx="8551996" cy="4660838"/>
          </a:xfrm>
          <a:prstGeom prst="roundRect">
            <a:avLst/>
          </a:prstGeom>
          <a:blipFill>
            <a:blip r:embed="rId4"/>
            <a:stretch>
              <a:fillRect/>
            </a:stretch>
          </a:blipFill>
        </p:spPr>
        <p:txBody>
          <a:bodyPr/>
          <a:lstStyle/>
          <a:p>
            <a:endParaRPr lang="en-US" noProof="0" dirty="0"/>
          </a:p>
        </p:txBody>
      </p:sp>
      <p:sp>
        <p:nvSpPr>
          <p:cNvPr id="30" name="TextBox 12">
            <a:extLst>
              <a:ext uri="{FF2B5EF4-FFF2-40B4-BE49-F238E27FC236}">
                <a16:creationId xmlns:a16="http://schemas.microsoft.com/office/drawing/2014/main" id="{54B71C60-16EB-CEBE-4B02-7384928D514D}"/>
              </a:ext>
            </a:extLst>
          </p:cNvPr>
          <p:cNvSpPr txBox="1"/>
          <p:nvPr/>
        </p:nvSpPr>
        <p:spPr>
          <a:xfrm>
            <a:off x="9214008" y="879241"/>
            <a:ext cx="1841707" cy="388633"/>
          </a:xfrm>
          <a:prstGeom prst="rect">
            <a:avLst/>
          </a:prstGeom>
        </p:spPr>
        <p:txBody>
          <a:bodyPr wrap="square" lIns="0" tIns="0" rIns="0" bIns="0" rtlCol="0" anchor="t">
            <a:spAutoFit/>
          </a:bodyPr>
          <a:lstStyle/>
          <a:p>
            <a:pPr lvl="0" algn="ctr">
              <a:lnSpc>
                <a:spcPts val="3151"/>
              </a:lnSpc>
              <a:spcBef>
                <a:spcPct val="0"/>
              </a:spcBef>
            </a:pPr>
            <a:r>
              <a:rPr lang="en-US" sz="2251" b="1" noProof="0" dirty="0">
                <a:solidFill>
                  <a:srgbClr val="FFFFFF"/>
                </a:solidFill>
                <a:latin typeface="Poppins Bold"/>
                <a:ea typeface="Poppins Bold"/>
                <a:cs typeface="Poppins Bold"/>
                <a:sym typeface="Poppins Bold"/>
              </a:rPr>
              <a:t>Roles</a:t>
            </a:r>
            <a:endParaRPr lang="en-US" sz="2251" noProof="0" dirty="0">
              <a:solidFill>
                <a:srgbClr val="FFFFFF"/>
              </a:solidFill>
              <a:latin typeface="Poppins"/>
              <a:ea typeface="Poppins"/>
              <a:cs typeface="Poppins"/>
              <a:sym typeface="Poppins"/>
            </a:endParaRPr>
          </a:p>
        </p:txBody>
      </p:sp>
      <p:sp>
        <p:nvSpPr>
          <p:cNvPr id="31" name="TextBox 13">
            <a:extLst>
              <a:ext uri="{FF2B5EF4-FFF2-40B4-BE49-F238E27FC236}">
                <a16:creationId xmlns:a16="http://schemas.microsoft.com/office/drawing/2014/main" id="{31F99465-F0CD-89CA-B2E7-7A6EBD98D12A}"/>
              </a:ext>
            </a:extLst>
          </p:cNvPr>
          <p:cNvSpPr txBox="1"/>
          <p:nvPr/>
        </p:nvSpPr>
        <p:spPr>
          <a:xfrm>
            <a:off x="10940878" y="887339"/>
            <a:ext cx="1907082" cy="388633"/>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Structure</a:t>
            </a:r>
          </a:p>
        </p:txBody>
      </p:sp>
      <p:sp>
        <p:nvSpPr>
          <p:cNvPr id="32" name="TextBox 14">
            <a:extLst>
              <a:ext uri="{FF2B5EF4-FFF2-40B4-BE49-F238E27FC236}">
                <a16:creationId xmlns:a16="http://schemas.microsoft.com/office/drawing/2014/main" id="{34DB7F22-6B25-2D43-90C4-A45651822AF5}"/>
              </a:ext>
            </a:extLst>
          </p:cNvPr>
          <p:cNvSpPr txBox="1"/>
          <p:nvPr/>
        </p:nvSpPr>
        <p:spPr>
          <a:xfrm>
            <a:off x="12899685" y="887339"/>
            <a:ext cx="2091043" cy="388633"/>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Data stream</a:t>
            </a:r>
          </a:p>
        </p:txBody>
      </p:sp>
      <p:sp>
        <p:nvSpPr>
          <p:cNvPr id="33" name="TextBox 15">
            <a:extLst>
              <a:ext uri="{FF2B5EF4-FFF2-40B4-BE49-F238E27FC236}">
                <a16:creationId xmlns:a16="http://schemas.microsoft.com/office/drawing/2014/main" id="{84FC3512-049C-0C8A-D0C6-94088B59690E}"/>
              </a:ext>
            </a:extLst>
          </p:cNvPr>
          <p:cNvSpPr txBox="1"/>
          <p:nvPr/>
        </p:nvSpPr>
        <p:spPr>
          <a:xfrm>
            <a:off x="15063632" y="911323"/>
            <a:ext cx="2224975" cy="388633"/>
          </a:xfrm>
          <a:prstGeom prst="rect">
            <a:avLst/>
          </a:prstGeom>
        </p:spPr>
        <p:txBody>
          <a:bodyPr lIns="0" tIns="0" rIns="0" bIns="0" rtlCol="0" anchor="t">
            <a:spAutoFit/>
          </a:bodyPr>
          <a:lstStyle/>
          <a:p>
            <a:pPr lvl="0" algn="r">
              <a:lnSpc>
                <a:spcPts val="3124"/>
              </a:lnSpc>
              <a:spcBef>
                <a:spcPct val="0"/>
              </a:spcBef>
            </a:pPr>
            <a:r>
              <a:rPr lang="en-US" sz="2400" noProof="0" dirty="0">
                <a:solidFill>
                  <a:srgbClr val="FFFFFF"/>
                </a:solidFill>
                <a:latin typeface="Poppins"/>
                <a:ea typeface="Poppins"/>
                <a:cs typeface="Poppins"/>
                <a:sym typeface="Poppins"/>
              </a:rPr>
              <a:t>Technologies</a:t>
            </a:r>
          </a:p>
        </p:txBody>
      </p:sp>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40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600"/>
                                        <p:tgtEl>
                                          <p:spTgt spid="30"/>
                                        </p:tgtEl>
                                      </p:cBhvr>
                                    </p:animEffect>
                                  </p:childTnLst>
                                </p:cTn>
                              </p:par>
                              <p:par>
                                <p:cTn id="17" presetID="10" presetClass="entr" presetSubtype="0" fill="hold" grpId="0" nodeType="withEffect">
                                  <p:stCondLst>
                                    <p:cond delay="70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par>
                                <p:cTn id="20" presetID="10" presetClass="entr" presetSubtype="0" fill="hold" grpId="0" nodeType="withEffect">
                                  <p:stCondLst>
                                    <p:cond delay="90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par>
                                <p:cTn id="23" presetID="10" presetClass="entr" presetSubtype="0" fill="hold" grpId="0" nodeType="withEffect">
                                  <p:stCondLst>
                                    <p:cond delay="110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8" grpId="0" animBg="1"/>
      <p:bldP spid="30" grpId="0"/>
      <p:bldP spid="31" grpId="0"/>
      <p:bldP spid="32" grpId="0"/>
      <p:bldP spid="3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8" name="Freeform 3">
            <a:extLst>
              <a:ext uri="{FF2B5EF4-FFF2-40B4-BE49-F238E27FC236}">
                <a16:creationId xmlns:a16="http://schemas.microsoft.com/office/drawing/2014/main" id="{1EE4D6A6-806F-9E63-83B4-E6E6D64D8E75}"/>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sp>
        <p:nvSpPr>
          <p:cNvPr id="2" name="Freeform 2">
            <a:extLst>
              <a:ext uri="{C183D7F6-B498-43B3-948B-1728B52AA6E4}">
                <adec:decorative xmlns:adec="http://schemas.microsoft.com/office/drawing/2017/decorative" val="1"/>
              </a:ext>
            </a:extLst>
          </p:cNvPr>
          <p:cNvSpPr/>
          <p:nvPr/>
        </p:nvSpPr>
        <p:spPr>
          <a:xfrm>
            <a:off x="2261035" y="2095500"/>
            <a:ext cx="13765929" cy="7502432"/>
          </a:xfrm>
          <a:prstGeom prst="roundRect">
            <a:avLst/>
          </a:prstGeom>
          <a:blipFill>
            <a:blip r:embed="rId2"/>
            <a:stretch>
              <a:fillRect/>
            </a:stretch>
          </a:blipFill>
        </p:spPr>
        <p:txBody>
          <a:bodyPr/>
          <a:lstStyle/>
          <a:p>
            <a:endParaRPr lang="en-US" noProof="0" dirty="0"/>
          </a:p>
        </p:txBody>
      </p:sp>
      <p:sp>
        <p:nvSpPr>
          <p:cNvPr id="3" name="Freeform 3">
            <a:extLs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3"/>
            <a:stretch>
              <a:fillRect/>
            </a:stretch>
          </a:blipFill>
        </p:spPr>
        <p:txBody>
          <a:bodyPr/>
          <a:lstStyle/>
          <a:p>
            <a:endParaRPr lang="en-US" noProof="0" dirty="0"/>
          </a:p>
        </p:txBody>
      </p:sp>
      <p:sp>
        <p:nvSpPr>
          <p:cNvPr id="9" name="Freeform 3">
            <a:extLst>
              <a:ext uri="{FF2B5EF4-FFF2-40B4-BE49-F238E27FC236}">
                <a16:creationId xmlns:a16="http://schemas.microsoft.com/office/drawing/2014/main" id="{83998AE2-AC3B-75C4-ED57-FBCAC3FE394D}"/>
              </a:ext>
              <a:ext uri="{C183D7F6-B498-43B3-948B-1728B52AA6E4}">
                <adec:decorative xmlns:adec="http://schemas.microsoft.com/office/drawing/2017/decorative" val="1"/>
              </a:ext>
            </a:extLst>
          </p:cNvPr>
          <p:cNvSpPr/>
          <p:nvPr/>
        </p:nvSpPr>
        <p:spPr>
          <a:xfrm>
            <a:off x="828446" y="777583"/>
            <a:ext cx="1111777" cy="1060162"/>
          </a:xfrm>
          <a:prstGeom prst="ellipse">
            <a:avLst/>
          </a:prstGeom>
          <a:solidFill>
            <a:srgbClr val="00A8CC">
              <a:alpha val="20000"/>
            </a:srgbClr>
          </a:solidFill>
          <a:effectLst>
            <a:softEdge rad="0"/>
          </a:effectLst>
        </p:spPr>
        <p:txBody>
          <a:bodyPr/>
          <a:lstStyle/>
          <a:p>
            <a:endParaRPr lang="en-US" noProof="0" dirty="0"/>
          </a:p>
        </p:txBody>
      </p:sp>
      <p:sp>
        <p:nvSpPr>
          <p:cNvPr id="10" name="TextBox 12">
            <a:extLst>
              <a:ext uri="{FF2B5EF4-FFF2-40B4-BE49-F238E27FC236}">
                <a16:creationId xmlns:a16="http://schemas.microsoft.com/office/drawing/2014/main" id="{4F5AE2FF-6865-6F3A-B099-A71C0745167C}"/>
              </a:ext>
            </a:extLst>
          </p:cNvPr>
          <p:cNvSpPr txBox="1">
            <a:spLocks noGrp="1"/>
          </p:cNvSpPr>
          <p:nvPr>
            <p:ph type="title" idx="4294967295"/>
          </p:nvPr>
        </p:nvSpPr>
        <p:spPr>
          <a:xfrm>
            <a:off x="9214008" y="879241"/>
            <a:ext cx="1841707" cy="38863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ts val="3151"/>
              </a:lnSpc>
              <a:spcBef>
                <a:spcPct val="0"/>
              </a:spcBef>
              <a:spcAft>
                <a:spcPts val="0"/>
              </a:spcAft>
              <a:buClrTx/>
              <a:buSzTx/>
              <a:buFontTx/>
              <a:buNone/>
              <a:tabLst/>
              <a:defRPr/>
            </a:pPr>
            <a:r>
              <a:rPr kumimoji="0" lang="en-US" sz="2251" b="1" i="0" u="none" strike="noStrike" kern="1200" cap="none" spc="0" normalizeH="0" baseline="0" noProof="0" dirty="0">
                <a:ln>
                  <a:noFill/>
                </a:ln>
                <a:solidFill>
                  <a:srgbClr val="FFFFFF"/>
                </a:solidFill>
                <a:effectLst/>
                <a:uLnTx/>
                <a:uFillTx/>
                <a:latin typeface="Poppins"/>
                <a:ea typeface="Poppins"/>
                <a:cs typeface="Poppins"/>
                <a:sym typeface="Poppins"/>
              </a:rPr>
              <a:t>Roles</a:t>
            </a:r>
          </a:p>
        </p:txBody>
      </p:sp>
      <p:sp>
        <p:nvSpPr>
          <p:cNvPr id="11" name="TextBox 13">
            <a:extLst>
              <a:ext uri="{FF2B5EF4-FFF2-40B4-BE49-F238E27FC236}">
                <a16:creationId xmlns:a16="http://schemas.microsoft.com/office/drawing/2014/main" id="{16D22E0B-440C-7841-465D-6F877A74E724}"/>
              </a:ext>
            </a:extLst>
          </p:cNvPr>
          <p:cNvSpPr txBox="1"/>
          <p:nvPr/>
        </p:nvSpPr>
        <p:spPr>
          <a:xfrm>
            <a:off x="10940878" y="887339"/>
            <a:ext cx="1907082" cy="388633"/>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Structure</a:t>
            </a:r>
          </a:p>
        </p:txBody>
      </p:sp>
      <p:sp>
        <p:nvSpPr>
          <p:cNvPr id="12" name="TextBox 14">
            <a:extLst>
              <a:ext uri="{FF2B5EF4-FFF2-40B4-BE49-F238E27FC236}">
                <a16:creationId xmlns:a16="http://schemas.microsoft.com/office/drawing/2014/main" id="{93B295E0-8D8F-0577-02C1-EE4C84876B8B}"/>
              </a:ext>
            </a:extLst>
          </p:cNvPr>
          <p:cNvSpPr txBox="1"/>
          <p:nvPr/>
        </p:nvSpPr>
        <p:spPr>
          <a:xfrm>
            <a:off x="12899685" y="887339"/>
            <a:ext cx="2091043" cy="388633"/>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Data stream</a:t>
            </a:r>
          </a:p>
        </p:txBody>
      </p:sp>
      <p:sp>
        <p:nvSpPr>
          <p:cNvPr id="13" name="TextBox 15">
            <a:extLst>
              <a:ext uri="{FF2B5EF4-FFF2-40B4-BE49-F238E27FC236}">
                <a16:creationId xmlns:a16="http://schemas.microsoft.com/office/drawing/2014/main" id="{50E19B6B-938C-AFB8-6B72-E9844CC53298}"/>
              </a:ext>
            </a:extLst>
          </p:cNvPr>
          <p:cNvSpPr txBox="1"/>
          <p:nvPr/>
        </p:nvSpPr>
        <p:spPr>
          <a:xfrm>
            <a:off x="15063632" y="911323"/>
            <a:ext cx="2224975" cy="388633"/>
          </a:xfrm>
          <a:prstGeom prst="rect">
            <a:avLst/>
          </a:prstGeom>
        </p:spPr>
        <p:txBody>
          <a:bodyPr lIns="0" tIns="0" rIns="0" bIns="0" rtlCol="0" anchor="t">
            <a:spAutoFit/>
          </a:bodyPr>
          <a:lstStyle/>
          <a:p>
            <a:pPr lvl="0" algn="r">
              <a:lnSpc>
                <a:spcPts val="3124"/>
              </a:lnSpc>
              <a:spcBef>
                <a:spcPct val="0"/>
              </a:spcBef>
            </a:pPr>
            <a:r>
              <a:rPr lang="en-US" sz="2400" noProof="0" dirty="0">
                <a:solidFill>
                  <a:srgbClr val="FFFFFF"/>
                </a:solidFill>
                <a:latin typeface="Poppins"/>
                <a:ea typeface="Poppins"/>
                <a:cs typeface="Poppins"/>
                <a:sym typeface="Poppins"/>
              </a:rPr>
              <a:t>Technologies</a:t>
            </a: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4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600"/>
                                        <p:tgtEl>
                                          <p:spTgt spid="10"/>
                                        </p:tgtEl>
                                      </p:cBhvr>
                                    </p:animEffect>
                                  </p:childTnLst>
                                </p:cTn>
                              </p:par>
                              <p:par>
                                <p:cTn id="11" presetID="10" presetClass="entr" presetSubtype="0" fill="hold" grpId="0" nodeType="withEffect">
                                  <p:stCondLst>
                                    <p:cond delay="70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9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110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p:bldP spid="11" grpId="0"/>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7" name="Freeform 3">
            <a:extLst>
              <a:ext uri="{FF2B5EF4-FFF2-40B4-BE49-F238E27FC236}">
                <a16:creationId xmlns:a16="http://schemas.microsoft.com/office/drawing/2014/main" id="{0EA95605-A4D2-2060-48F2-0F44B6BA4A15}"/>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grpSp>
        <p:nvGrpSpPr>
          <p:cNvPr id="2" name="Group 2" descr="Architecture Diagramm"/>
          <p:cNvGrpSpPr/>
          <p:nvPr/>
        </p:nvGrpSpPr>
        <p:grpSpPr>
          <a:xfrm>
            <a:off x="5196053" y="1894724"/>
            <a:ext cx="12424138" cy="7599868"/>
            <a:chOff x="0" y="0"/>
            <a:chExt cx="1924824" cy="1177418"/>
          </a:xfrm>
        </p:grpSpPr>
        <p:sp>
          <p:nvSpPr>
            <p:cNvPr id="3" name="Freeform 3"/>
            <p:cNvSpPr/>
            <p:nvPr/>
          </p:nvSpPr>
          <p:spPr>
            <a:xfrm>
              <a:off x="0" y="0"/>
              <a:ext cx="1924824" cy="1177418"/>
            </a:xfrm>
            <a:custGeom>
              <a:avLst/>
              <a:gdLst/>
              <a:ahLst/>
              <a:cxnLst/>
              <a:rect l="l" t="t" r="r" b="b"/>
              <a:pathLst>
                <a:path w="1924824" h="1177418">
                  <a:moveTo>
                    <a:pt x="34896" y="0"/>
                  </a:moveTo>
                  <a:lnTo>
                    <a:pt x="1889929" y="0"/>
                  </a:lnTo>
                  <a:cubicBezTo>
                    <a:pt x="1899183" y="0"/>
                    <a:pt x="1908059" y="3676"/>
                    <a:pt x="1914603" y="10221"/>
                  </a:cubicBezTo>
                  <a:cubicBezTo>
                    <a:pt x="1921148" y="16765"/>
                    <a:pt x="1924824" y="25641"/>
                    <a:pt x="1924824" y="34896"/>
                  </a:cubicBezTo>
                  <a:lnTo>
                    <a:pt x="1924824" y="1142523"/>
                  </a:lnTo>
                  <a:cubicBezTo>
                    <a:pt x="1924824" y="1151778"/>
                    <a:pt x="1921148" y="1160654"/>
                    <a:pt x="1914603" y="1167198"/>
                  </a:cubicBezTo>
                  <a:cubicBezTo>
                    <a:pt x="1908059" y="1173742"/>
                    <a:pt x="1899183" y="1177418"/>
                    <a:pt x="1889929" y="1177418"/>
                  </a:cubicBezTo>
                  <a:lnTo>
                    <a:pt x="34896" y="1177418"/>
                  </a:lnTo>
                  <a:cubicBezTo>
                    <a:pt x="25641" y="1177418"/>
                    <a:pt x="16765" y="1173742"/>
                    <a:pt x="10221" y="1167198"/>
                  </a:cubicBezTo>
                  <a:cubicBezTo>
                    <a:pt x="3676" y="1160654"/>
                    <a:pt x="0" y="1151778"/>
                    <a:pt x="0" y="1142523"/>
                  </a:cubicBezTo>
                  <a:lnTo>
                    <a:pt x="0" y="34896"/>
                  </a:lnTo>
                  <a:cubicBezTo>
                    <a:pt x="0" y="25641"/>
                    <a:pt x="3676" y="16765"/>
                    <a:pt x="10221" y="10221"/>
                  </a:cubicBezTo>
                  <a:cubicBezTo>
                    <a:pt x="16765" y="3676"/>
                    <a:pt x="25641" y="0"/>
                    <a:pt x="34896" y="0"/>
                  </a:cubicBezTo>
                  <a:close/>
                </a:path>
              </a:pathLst>
            </a:custGeom>
            <a:blipFill>
              <a:blip r:embed="rId3"/>
              <a:stretch>
                <a:fillRect l="-36" r="-36"/>
              </a:stretch>
            </a:blipFill>
          </p:spPr>
          <p:txBody>
            <a:bodyPr/>
            <a:lstStyle/>
            <a:p>
              <a:endParaRPr lang="en-US" noProof="0" dirty="0"/>
            </a:p>
          </p:txBody>
        </p:sp>
      </p:grpSp>
      <p:grpSp>
        <p:nvGrpSpPr>
          <p:cNvPr id="4" name="Group 4">
            <a:extLst>
              <a:ext uri="{C183D7F6-B498-43B3-948B-1728B52AA6E4}">
                <adec:decorative xmlns:adec="http://schemas.microsoft.com/office/drawing/2017/decorative" val="1"/>
              </a:ext>
            </a:extLst>
          </p:cNvPr>
          <p:cNvGrpSpPr/>
          <p:nvPr/>
        </p:nvGrpSpPr>
        <p:grpSpPr>
          <a:xfrm>
            <a:off x="803986" y="1894724"/>
            <a:ext cx="4121613" cy="2477588"/>
            <a:chOff x="0" y="0"/>
            <a:chExt cx="1085528" cy="652533"/>
          </a:xfrm>
        </p:grpSpPr>
        <p:sp>
          <p:nvSpPr>
            <p:cNvPr id="5" name="Freeform 5"/>
            <p:cNvSpPr/>
            <p:nvPr/>
          </p:nvSpPr>
          <p:spPr>
            <a:xfrm>
              <a:off x="0" y="0"/>
              <a:ext cx="1085528" cy="652533"/>
            </a:xfrm>
            <a:custGeom>
              <a:avLst/>
              <a:gdLst/>
              <a:ahLst/>
              <a:cxnLst/>
              <a:rect l="l" t="t" r="r" b="b"/>
              <a:pathLst>
                <a:path w="1085528" h="652533">
                  <a:moveTo>
                    <a:pt x="105189" y="0"/>
                  </a:moveTo>
                  <a:lnTo>
                    <a:pt x="980339" y="0"/>
                  </a:lnTo>
                  <a:cubicBezTo>
                    <a:pt x="1038433" y="0"/>
                    <a:pt x="1085528" y="47095"/>
                    <a:pt x="1085528" y="105189"/>
                  </a:cubicBezTo>
                  <a:lnTo>
                    <a:pt x="1085528" y="547345"/>
                  </a:lnTo>
                  <a:cubicBezTo>
                    <a:pt x="1085528" y="575242"/>
                    <a:pt x="1074445" y="601998"/>
                    <a:pt x="1054719" y="621724"/>
                  </a:cubicBezTo>
                  <a:cubicBezTo>
                    <a:pt x="1034992" y="641451"/>
                    <a:pt x="1008237" y="652533"/>
                    <a:pt x="980339" y="652533"/>
                  </a:cubicBezTo>
                  <a:lnTo>
                    <a:pt x="105189" y="652533"/>
                  </a:lnTo>
                  <a:cubicBezTo>
                    <a:pt x="77291" y="652533"/>
                    <a:pt x="50536" y="641451"/>
                    <a:pt x="30809" y="621724"/>
                  </a:cubicBezTo>
                  <a:cubicBezTo>
                    <a:pt x="11082" y="601998"/>
                    <a:pt x="0" y="575242"/>
                    <a:pt x="0" y="547345"/>
                  </a:cubicBezTo>
                  <a:lnTo>
                    <a:pt x="0" y="105189"/>
                  </a:lnTo>
                  <a:cubicBezTo>
                    <a:pt x="0" y="77291"/>
                    <a:pt x="11082" y="50536"/>
                    <a:pt x="30809" y="30809"/>
                  </a:cubicBezTo>
                  <a:cubicBezTo>
                    <a:pt x="50536" y="11082"/>
                    <a:pt x="77291" y="0"/>
                    <a:pt x="105189" y="0"/>
                  </a:cubicBezTo>
                  <a:close/>
                </a:path>
              </a:pathLst>
            </a:custGeom>
            <a:gradFill rotWithShape="1">
              <a:gsLst>
                <a:gs pos="0">
                  <a:srgbClr val="000000">
                    <a:alpha val="78000"/>
                  </a:srgbClr>
                </a:gs>
                <a:gs pos="100000">
                  <a:srgbClr val="DDDDDD">
                    <a:alpha val="14820"/>
                  </a:srgbClr>
                </a:gs>
              </a:gsLst>
              <a:lin ang="2700000"/>
            </a:gradFill>
          </p:spPr>
          <p:txBody>
            <a:bodyPr/>
            <a:lstStyle/>
            <a:p>
              <a:endParaRPr lang="en-US" noProof="0" dirty="0"/>
            </a:p>
          </p:txBody>
        </p:sp>
        <p:sp>
          <p:nvSpPr>
            <p:cNvPr id="6" name="TextBox 6"/>
            <p:cNvSpPr txBox="1"/>
            <p:nvPr/>
          </p:nvSpPr>
          <p:spPr>
            <a:xfrm>
              <a:off x="0" y="-66675"/>
              <a:ext cx="1085528" cy="719208"/>
            </a:xfrm>
            <a:prstGeom prst="rect">
              <a:avLst/>
            </a:prstGeom>
          </p:spPr>
          <p:txBody>
            <a:bodyPr lIns="50800" tIns="50800" rIns="50800" bIns="50800" rtlCol="0" anchor="ctr"/>
            <a:lstStyle/>
            <a:p>
              <a:pPr algn="ctr">
                <a:lnSpc>
                  <a:spcPts val="3151"/>
                </a:lnSpc>
              </a:pPr>
              <a:endParaRPr lang="en-US" noProof="0" dirty="0"/>
            </a:p>
          </p:txBody>
        </p:sp>
      </p:grpSp>
      <p:grpSp>
        <p:nvGrpSpPr>
          <p:cNvPr id="7" name="Group 7">
            <a:extLst>
              <a:ext uri="{C183D7F6-B498-43B3-948B-1728B52AA6E4}">
                <adec:decorative xmlns:adec="http://schemas.microsoft.com/office/drawing/2017/decorative" val="1"/>
              </a:ext>
            </a:extLst>
          </p:cNvPr>
          <p:cNvGrpSpPr/>
          <p:nvPr/>
        </p:nvGrpSpPr>
        <p:grpSpPr>
          <a:xfrm>
            <a:off x="803986" y="4883665"/>
            <a:ext cx="4121613" cy="4610927"/>
            <a:chOff x="0" y="0"/>
            <a:chExt cx="1085528" cy="1214401"/>
          </a:xfrm>
        </p:grpSpPr>
        <p:sp>
          <p:nvSpPr>
            <p:cNvPr id="8" name="Freeform 8"/>
            <p:cNvSpPr/>
            <p:nvPr/>
          </p:nvSpPr>
          <p:spPr>
            <a:xfrm>
              <a:off x="0" y="0"/>
              <a:ext cx="1085528" cy="1214401"/>
            </a:xfrm>
            <a:custGeom>
              <a:avLst/>
              <a:gdLst/>
              <a:ahLst/>
              <a:cxnLst/>
              <a:rect l="l" t="t" r="r" b="b"/>
              <a:pathLst>
                <a:path w="1085528" h="1214401">
                  <a:moveTo>
                    <a:pt x="105189" y="0"/>
                  </a:moveTo>
                  <a:lnTo>
                    <a:pt x="980339" y="0"/>
                  </a:lnTo>
                  <a:cubicBezTo>
                    <a:pt x="1038433" y="0"/>
                    <a:pt x="1085528" y="47095"/>
                    <a:pt x="1085528" y="105189"/>
                  </a:cubicBezTo>
                  <a:lnTo>
                    <a:pt x="1085528" y="1109212"/>
                  </a:lnTo>
                  <a:cubicBezTo>
                    <a:pt x="1085528" y="1137110"/>
                    <a:pt x="1074445" y="1163865"/>
                    <a:pt x="1054719" y="1183592"/>
                  </a:cubicBezTo>
                  <a:cubicBezTo>
                    <a:pt x="1034992" y="1203318"/>
                    <a:pt x="1008237" y="1214401"/>
                    <a:pt x="980339" y="1214401"/>
                  </a:cubicBezTo>
                  <a:lnTo>
                    <a:pt x="105189" y="1214401"/>
                  </a:lnTo>
                  <a:cubicBezTo>
                    <a:pt x="77291" y="1214401"/>
                    <a:pt x="50536" y="1203318"/>
                    <a:pt x="30809" y="1183592"/>
                  </a:cubicBezTo>
                  <a:cubicBezTo>
                    <a:pt x="11082" y="1163865"/>
                    <a:pt x="0" y="1137110"/>
                    <a:pt x="0" y="1109212"/>
                  </a:cubicBezTo>
                  <a:lnTo>
                    <a:pt x="0" y="105189"/>
                  </a:lnTo>
                  <a:cubicBezTo>
                    <a:pt x="0" y="77291"/>
                    <a:pt x="11082" y="50536"/>
                    <a:pt x="30809" y="30809"/>
                  </a:cubicBezTo>
                  <a:cubicBezTo>
                    <a:pt x="50536" y="11082"/>
                    <a:pt x="77291" y="0"/>
                    <a:pt x="105189" y="0"/>
                  </a:cubicBezTo>
                  <a:close/>
                </a:path>
              </a:pathLst>
            </a:custGeom>
            <a:gradFill rotWithShape="1">
              <a:gsLst>
                <a:gs pos="0">
                  <a:srgbClr val="1B1F45"/>
                </a:gs>
                <a:gs pos="63000">
                  <a:srgbClr val="00A8CC"/>
                </a:gs>
                <a:gs pos="100000">
                  <a:srgbClr val="6C63FF"/>
                </a:gs>
              </a:gsLst>
              <a:path path="circle">
                <a:fillToRect r="100000" b="100000"/>
              </a:path>
              <a:tileRect l="-100000" t="-100000"/>
            </a:gradFill>
          </p:spPr>
          <p:txBody>
            <a:bodyPr/>
            <a:lstStyle/>
            <a:p>
              <a:endParaRPr lang="en-US" noProof="0" dirty="0"/>
            </a:p>
          </p:txBody>
        </p:sp>
        <p:sp>
          <p:nvSpPr>
            <p:cNvPr id="9" name="TextBox 9"/>
            <p:cNvSpPr txBox="1"/>
            <p:nvPr/>
          </p:nvSpPr>
          <p:spPr>
            <a:xfrm>
              <a:off x="0" y="-66675"/>
              <a:ext cx="1085528" cy="1281076"/>
            </a:xfrm>
            <a:prstGeom prst="rect">
              <a:avLst/>
            </a:prstGeom>
          </p:spPr>
          <p:txBody>
            <a:bodyPr lIns="50800" tIns="50800" rIns="50800" bIns="50800" rtlCol="0" anchor="ctr"/>
            <a:lstStyle/>
            <a:p>
              <a:pPr algn="ctr">
                <a:lnSpc>
                  <a:spcPts val="3151"/>
                </a:lnSpc>
              </a:pPr>
              <a:endParaRPr lang="en-US" noProof="0" dirty="0"/>
            </a:p>
          </p:txBody>
        </p:sp>
      </p:grpSp>
      <p:sp>
        <p:nvSpPr>
          <p:cNvPr id="10" name="Freeform 10">
            <a:extLs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4"/>
            <a:stretch>
              <a:fillRect/>
            </a:stretch>
          </a:blipFill>
        </p:spPr>
        <p:txBody>
          <a:bodyPr/>
          <a:lstStyle/>
          <a:p>
            <a:endParaRPr lang="en-US" noProof="0" dirty="0"/>
          </a:p>
        </p:txBody>
      </p:sp>
      <p:sp>
        <p:nvSpPr>
          <p:cNvPr id="11" name="TextBox 11"/>
          <p:cNvSpPr txBox="1"/>
          <p:nvPr/>
        </p:nvSpPr>
        <p:spPr>
          <a:xfrm>
            <a:off x="1354504" y="5098073"/>
            <a:ext cx="3020577" cy="4132863"/>
          </a:xfrm>
          <a:prstGeom prst="rect">
            <a:avLst/>
          </a:prstGeom>
        </p:spPr>
        <p:txBody>
          <a:bodyPr lIns="0" tIns="0" rIns="0" bIns="0" rtlCol="0" anchor="t">
            <a:spAutoFit/>
          </a:bodyPr>
          <a:lstStyle/>
          <a:p>
            <a:pPr marL="561339" lvl="1" indent="-280669">
              <a:lnSpc>
                <a:spcPts val="3639"/>
              </a:lnSpc>
              <a:buFont typeface="Arial"/>
              <a:buChar char="•"/>
            </a:pPr>
            <a:r>
              <a:rPr lang="en-US" sz="2599" noProof="0" dirty="0">
                <a:solidFill>
                  <a:srgbClr val="FFFFFF"/>
                </a:solidFill>
                <a:latin typeface="Poppins"/>
                <a:ea typeface="Poppins"/>
                <a:cs typeface="Poppins"/>
                <a:sym typeface="Poppins"/>
              </a:rPr>
              <a:t>Frontend: React + </a:t>
            </a:r>
            <a:r>
              <a:rPr lang="en-US" sz="2599" noProof="0" dirty="0" err="1">
                <a:solidFill>
                  <a:srgbClr val="FFFFFF"/>
                </a:solidFill>
                <a:latin typeface="Poppins"/>
                <a:ea typeface="Poppins"/>
                <a:cs typeface="Poppins"/>
                <a:sym typeface="Poppins"/>
              </a:rPr>
              <a:t>ViteBackend</a:t>
            </a:r>
            <a:r>
              <a:rPr lang="en-US" sz="2599" noProof="0" dirty="0">
                <a:solidFill>
                  <a:srgbClr val="FFFFFF"/>
                </a:solidFill>
                <a:latin typeface="Poppins"/>
                <a:ea typeface="Poppins"/>
                <a:cs typeface="Poppins"/>
                <a:sym typeface="Poppins"/>
              </a:rPr>
              <a:t>: Node.js + Express</a:t>
            </a:r>
          </a:p>
          <a:p>
            <a:pPr marL="561339" lvl="1" indent="-280669">
              <a:lnSpc>
                <a:spcPts val="3639"/>
              </a:lnSpc>
              <a:buFont typeface="Arial"/>
              <a:buChar char="•"/>
            </a:pPr>
            <a:r>
              <a:rPr lang="en-US" sz="2599" noProof="0" dirty="0">
                <a:solidFill>
                  <a:srgbClr val="FFFFFF"/>
                </a:solidFill>
                <a:latin typeface="Poppins"/>
                <a:ea typeface="Poppins"/>
                <a:cs typeface="Poppins"/>
                <a:sym typeface="Poppins"/>
              </a:rPr>
              <a:t>Database: MySQL</a:t>
            </a:r>
          </a:p>
          <a:p>
            <a:pPr marL="561339" lvl="1" indent="-280669">
              <a:lnSpc>
                <a:spcPts val="3639"/>
              </a:lnSpc>
              <a:buFont typeface="Arial"/>
              <a:buChar char="•"/>
            </a:pPr>
            <a:r>
              <a:rPr lang="en-US" sz="2599" noProof="0" dirty="0">
                <a:solidFill>
                  <a:srgbClr val="FFFFFF"/>
                </a:solidFill>
                <a:latin typeface="Poppins"/>
                <a:ea typeface="Poppins"/>
                <a:cs typeface="Poppins"/>
                <a:sym typeface="Poppins"/>
              </a:rPr>
              <a:t>Authentication: JWT + OAuth</a:t>
            </a:r>
          </a:p>
        </p:txBody>
      </p:sp>
      <p:sp>
        <p:nvSpPr>
          <p:cNvPr id="12" name="TextBox 12"/>
          <p:cNvSpPr txBox="1">
            <a:spLocks noGrp="1"/>
          </p:cNvSpPr>
          <p:nvPr>
            <p:ph type="title" idx="4294967295"/>
          </p:nvPr>
        </p:nvSpPr>
        <p:spPr>
          <a:xfrm>
            <a:off x="1210137" y="2518825"/>
            <a:ext cx="3438063" cy="121090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gn="l">
              <a:lnSpc>
                <a:spcPts val="4704"/>
              </a:lnSpc>
              <a:spcBef>
                <a:spcPts val="0"/>
              </a:spcBef>
              <a:defRPr/>
            </a:pPr>
            <a:r>
              <a:rPr lang="en-US" sz="4612" b="1" spc="-207" noProof="0" dirty="0">
                <a:solidFill>
                  <a:srgbClr val="FFFFFF"/>
                </a:solidFill>
                <a:latin typeface="Telegraf Bold"/>
                <a:ea typeface="Telegraf Bold"/>
                <a:cs typeface="Telegraf Bold"/>
                <a:sym typeface="Telegraf Bold"/>
              </a:rPr>
              <a:t>System Architecture</a:t>
            </a:r>
            <a:endParaRPr kumimoji="0" lang="en-US" sz="4612" b="1" i="0" u="none" strike="noStrike" kern="1200" cap="none" spc="-207" normalizeH="0" baseline="0" noProof="0" dirty="0">
              <a:ln>
                <a:noFill/>
              </a:ln>
              <a:solidFill>
                <a:srgbClr val="FFFFFF"/>
              </a:solidFill>
              <a:effectLst/>
              <a:uLnTx/>
              <a:uFillTx/>
              <a:latin typeface="Telegraf Bold"/>
              <a:ea typeface="Telegraf Bold"/>
              <a:cs typeface="Telegraf Bold"/>
              <a:sym typeface="Telegraf Bold"/>
            </a:endParaRPr>
          </a:p>
        </p:txBody>
      </p:sp>
      <p:sp>
        <p:nvSpPr>
          <p:cNvPr id="18" name="Freeform 3">
            <a:extLst>
              <a:ext uri="{FF2B5EF4-FFF2-40B4-BE49-F238E27FC236}">
                <a16:creationId xmlns:a16="http://schemas.microsoft.com/office/drawing/2014/main" id="{1415F205-A101-6B03-72A4-88AECFDBA7C9}"/>
              </a:ext>
              <a:ext uri="{C183D7F6-B498-43B3-948B-1728B52AA6E4}">
                <adec:decorative xmlns:adec="http://schemas.microsoft.com/office/drawing/2017/decorative" val="1"/>
              </a:ext>
            </a:extLst>
          </p:cNvPr>
          <p:cNvSpPr/>
          <p:nvPr/>
        </p:nvSpPr>
        <p:spPr>
          <a:xfrm>
            <a:off x="828446" y="777583"/>
            <a:ext cx="1111777" cy="1060162"/>
          </a:xfrm>
          <a:prstGeom prst="ellipse">
            <a:avLst/>
          </a:prstGeom>
          <a:solidFill>
            <a:srgbClr val="00A8CC">
              <a:alpha val="20000"/>
            </a:srgbClr>
          </a:solidFill>
          <a:effectLst>
            <a:softEdge rad="0"/>
          </a:effectLst>
        </p:spPr>
        <p:txBody>
          <a:bodyPr/>
          <a:lstStyle/>
          <a:p>
            <a:endParaRPr lang="en-US" noProof="0" dirty="0"/>
          </a:p>
        </p:txBody>
      </p:sp>
      <p:sp>
        <p:nvSpPr>
          <p:cNvPr id="19" name="TextBox 12">
            <a:extLst>
              <a:ext uri="{FF2B5EF4-FFF2-40B4-BE49-F238E27FC236}">
                <a16:creationId xmlns:a16="http://schemas.microsoft.com/office/drawing/2014/main" id="{AF4C1EBA-6CD2-D42E-AC1D-3B299AE9F8D2}"/>
              </a:ext>
            </a:extLst>
          </p:cNvPr>
          <p:cNvSpPr txBox="1"/>
          <p:nvPr/>
        </p:nvSpPr>
        <p:spPr>
          <a:xfrm>
            <a:off x="9214008" y="879241"/>
            <a:ext cx="1841707" cy="388633"/>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Roles</a:t>
            </a:r>
          </a:p>
        </p:txBody>
      </p:sp>
      <p:sp>
        <p:nvSpPr>
          <p:cNvPr id="20" name="TextBox 13">
            <a:extLst>
              <a:ext uri="{FF2B5EF4-FFF2-40B4-BE49-F238E27FC236}">
                <a16:creationId xmlns:a16="http://schemas.microsoft.com/office/drawing/2014/main" id="{1F5EA93D-8CE2-E893-0517-BA3AB150A864}"/>
              </a:ext>
            </a:extLst>
          </p:cNvPr>
          <p:cNvSpPr txBox="1"/>
          <p:nvPr/>
        </p:nvSpPr>
        <p:spPr>
          <a:xfrm>
            <a:off x="10940878" y="887339"/>
            <a:ext cx="1907082" cy="388633"/>
          </a:xfrm>
          <a:prstGeom prst="rect">
            <a:avLst/>
          </a:prstGeom>
        </p:spPr>
        <p:txBody>
          <a:bodyPr lIns="0" tIns="0" rIns="0" bIns="0" rtlCol="0" anchor="t">
            <a:spAutoFit/>
          </a:bodyPr>
          <a:lstStyle/>
          <a:p>
            <a:pPr lvl="0" algn="ctr">
              <a:lnSpc>
                <a:spcPts val="3151"/>
              </a:lnSpc>
              <a:spcBef>
                <a:spcPct val="0"/>
              </a:spcBef>
            </a:pPr>
            <a:r>
              <a:rPr lang="en-US" sz="2251" b="1" noProof="0" dirty="0">
                <a:solidFill>
                  <a:srgbClr val="FFFFFF"/>
                </a:solidFill>
                <a:latin typeface="Poppins"/>
                <a:ea typeface="Poppins"/>
                <a:cs typeface="Poppins"/>
                <a:sym typeface="Poppins"/>
              </a:rPr>
              <a:t>Structure</a:t>
            </a:r>
          </a:p>
        </p:txBody>
      </p:sp>
      <p:sp>
        <p:nvSpPr>
          <p:cNvPr id="21" name="TextBox 14">
            <a:extLst>
              <a:ext uri="{FF2B5EF4-FFF2-40B4-BE49-F238E27FC236}">
                <a16:creationId xmlns:a16="http://schemas.microsoft.com/office/drawing/2014/main" id="{B41E35E1-2716-BF8B-9D06-29CF7C4AB9F2}"/>
              </a:ext>
            </a:extLst>
          </p:cNvPr>
          <p:cNvSpPr txBox="1"/>
          <p:nvPr/>
        </p:nvSpPr>
        <p:spPr>
          <a:xfrm>
            <a:off x="12899685" y="887339"/>
            <a:ext cx="2091043" cy="388633"/>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Data stream</a:t>
            </a:r>
          </a:p>
        </p:txBody>
      </p:sp>
      <p:sp>
        <p:nvSpPr>
          <p:cNvPr id="22" name="TextBox 15">
            <a:extLst>
              <a:ext uri="{FF2B5EF4-FFF2-40B4-BE49-F238E27FC236}">
                <a16:creationId xmlns:a16="http://schemas.microsoft.com/office/drawing/2014/main" id="{0342AD71-6B9C-E6DB-51AA-36BEC929DA26}"/>
              </a:ext>
            </a:extLst>
          </p:cNvPr>
          <p:cNvSpPr txBox="1"/>
          <p:nvPr/>
        </p:nvSpPr>
        <p:spPr>
          <a:xfrm>
            <a:off x="15063632" y="911323"/>
            <a:ext cx="2224975" cy="388633"/>
          </a:xfrm>
          <a:prstGeom prst="rect">
            <a:avLst/>
          </a:prstGeom>
        </p:spPr>
        <p:txBody>
          <a:bodyPr lIns="0" tIns="0" rIns="0" bIns="0" rtlCol="0" anchor="t">
            <a:spAutoFit/>
          </a:bodyPr>
          <a:lstStyle/>
          <a:p>
            <a:pPr lvl="0" algn="r">
              <a:lnSpc>
                <a:spcPts val="3124"/>
              </a:lnSpc>
              <a:spcBef>
                <a:spcPct val="0"/>
              </a:spcBef>
            </a:pPr>
            <a:r>
              <a:rPr lang="en-US" sz="2400" noProof="0" dirty="0">
                <a:solidFill>
                  <a:srgbClr val="FFFFFF"/>
                </a:solidFill>
                <a:latin typeface="Poppins"/>
                <a:ea typeface="Poppins"/>
                <a:cs typeface="Poppins"/>
                <a:sym typeface="Poppins"/>
              </a:rPr>
              <a:t>Technologies</a:t>
            </a: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par>
                                <p:cTn id="14" presetID="10" presetClass="entr" presetSubtype="0" fill="hold" grpId="0" nodeType="withEffect">
                                  <p:stCondLst>
                                    <p:cond delay="40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600"/>
                                        <p:tgtEl>
                                          <p:spTgt spid="19"/>
                                        </p:tgtEl>
                                      </p:cBhvr>
                                    </p:animEffect>
                                  </p:childTnLst>
                                </p:cTn>
                              </p:par>
                              <p:par>
                                <p:cTn id="17" presetID="10" presetClass="entr" presetSubtype="0" fill="hold" grpId="0" nodeType="withEffect">
                                  <p:stCondLst>
                                    <p:cond delay="7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grpId="0" nodeType="withEffect">
                                  <p:stCondLst>
                                    <p:cond delay="90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par>
                                <p:cTn id="23" presetID="10" presetClass="entr" presetSubtype="0" fill="hold" grpId="0" nodeType="withEffect">
                                  <p:stCondLst>
                                    <p:cond delay="110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9" grpId="0"/>
      <p:bldP spid="20" grpId="0"/>
      <p:bldP spid="21"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7" name="Freeform 3">
            <a:extLst>
              <a:ext uri="{FF2B5EF4-FFF2-40B4-BE49-F238E27FC236}">
                <a16:creationId xmlns:a16="http://schemas.microsoft.com/office/drawing/2014/main" id="{C04E67F9-0499-AD0E-AE86-39E63BA42143}"/>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grpSp>
        <p:nvGrpSpPr>
          <p:cNvPr id="2" name="Group 2">
            <a:extLst>
              <a:ext uri="{C183D7F6-B498-43B3-948B-1728B52AA6E4}">
                <adec:decorative xmlns:adec="http://schemas.microsoft.com/office/drawing/2017/decorative" val="1"/>
              </a:ext>
            </a:extLst>
          </p:cNvPr>
          <p:cNvGrpSpPr/>
          <p:nvPr/>
        </p:nvGrpSpPr>
        <p:grpSpPr>
          <a:xfrm>
            <a:off x="803986" y="1894724"/>
            <a:ext cx="8597596" cy="2790475"/>
            <a:chOff x="0" y="0"/>
            <a:chExt cx="2937671" cy="953464"/>
          </a:xfrm>
        </p:grpSpPr>
        <p:sp>
          <p:nvSpPr>
            <p:cNvPr id="3" name="Freeform 3"/>
            <p:cNvSpPr/>
            <p:nvPr/>
          </p:nvSpPr>
          <p:spPr>
            <a:xfrm>
              <a:off x="0" y="0"/>
              <a:ext cx="2937671" cy="953464"/>
            </a:xfrm>
            <a:custGeom>
              <a:avLst/>
              <a:gdLst/>
              <a:ahLst/>
              <a:cxnLst/>
              <a:rect l="l" t="t" r="r" b="b"/>
              <a:pathLst>
                <a:path w="2937671" h="953464">
                  <a:moveTo>
                    <a:pt x="50427" y="0"/>
                  </a:moveTo>
                  <a:lnTo>
                    <a:pt x="2887244" y="0"/>
                  </a:lnTo>
                  <a:cubicBezTo>
                    <a:pt x="2915094" y="0"/>
                    <a:pt x="2937671" y="22577"/>
                    <a:pt x="2937671" y="50427"/>
                  </a:cubicBezTo>
                  <a:lnTo>
                    <a:pt x="2937671" y="903038"/>
                  </a:lnTo>
                  <a:cubicBezTo>
                    <a:pt x="2937671" y="930887"/>
                    <a:pt x="2915094" y="953464"/>
                    <a:pt x="2887244" y="953464"/>
                  </a:cubicBezTo>
                  <a:lnTo>
                    <a:pt x="50427" y="953464"/>
                  </a:lnTo>
                  <a:cubicBezTo>
                    <a:pt x="22577" y="953464"/>
                    <a:pt x="0" y="930887"/>
                    <a:pt x="0" y="903038"/>
                  </a:cubicBezTo>
                  <a:lnTo>
                    <a:pt x="0" y="50427"/>
                  </a:lnTo>
                  <a:cubicBezTo>
                    <a:pt x="0" y="22577"/>
                    <a:pt x="22577" y="0"/>
                    <a:pt x="50427" y="0"/>
                  </a:cubicBezTo>
                  <a:close/>
                </a:path>
              </a:pathLst>
            </a:custGeom>
            <a:gradFill rotWithShape="1">
              <a:gsLst>
                <a:gs pos="0">
                  <a:srgbClr val="000000">
                    <a:alpha val="78000"/>
                  </a:srgbClr>
                </a:gs>
                <a:gs pos="100000">
                  <a:srgbClr val="DDDDDD">
                    <a:alpha val="14820"/>
                  </a:srgbClr>
                </a:gs>
              </a:gsLst>
              <a:lin ang="2700000"/>
            </a:gradFill>
          </p:spPr>
          <p:txBody>
            <a:bodyPr/>
            <a:lstStyle/>
            <a:p>
              <a:endParaRPr lang="en-US" noProof="0" dirty="0"/>
            </a:p>
          </p:txBody>
        </p:sp>
        <p:sp>
          <p:nvSpPr>
            <p:cNvPr id="4" name="TextBox 4"/>
            <p:cNvSpPr txBox="1"/>
            <p:nvPr/>
          </p:nvSpPr>
          <p:spPr>
            <a:xfrm>
              <a:off x="0" y="-66675"/>
              <a:ext cx="2937671" cy="1020139"/>
            </a:xfrm>
            <a:prstGeom prst="rect">
              <a:avLst/>
            </a:prstGeom>
          </p:spPr>
          <p:txBody>
            <a:bodyPr lIns="50800" tIns="50800" rIns="50800" bIns="50800" rtlCol="0" anchor="ctr"/>
            <a:lstStyle/>
            <a:p>
              <a:pPr algn="ctr">
                <a:lnSpc>
                  <a:spcPts val="3151"/>
                </a:lnSpc>
              </a:pPr>
              <a:endParaRPr lang="en-US" noProof="0" dirty="0"/>
            </a:p>
          </p:txBody>
        </p:sp>
      </p:grpSp>
      <p:grpSp>
        <p:nvGrpSpPr>
          <p:cNvPr id="5" name="Group 5">
            <a:extLst>
              <a:ext uri="{C183D7F6-B498-43B3-948B-1728B52AA6E4}">
                <adec:decorative xmlns:adec="http://schemas.microsoft.com/office/drawing/2017/decorative" val="1"/>
              </a:ext>
            </a:extLst>
          </p:cNvPr>
          <p:cNvGrpSpPr/>
          <p:nvPr/>
        </p:nvGrpSpPr>
        <p:grpSpPr>
          <a:xfrm>
            <a:off x="803986" y="5143500"/>
            <a:ext cx="8597596" cy="4407758"/>
            <a:chOff x="0" y="0"/>
            <a:chExt cx="2264387" cy="1160891"/>
          </a:xfrm>
        </p:grpSpPr>
        <p:sp>
          <p:nvSpPr>
            <p:cNvPr id="6" name="Freeform 6"/>
            <p:cNvSpPr/>
            <p:nvPr/>
          </p:nvSpPr>
          <p:spPr>
            <a:xfrm>
              <a:off x="0" y="0"/>
              <a:ext cx="2264387" cy="1160891"/>
            </a:xfrm>
            <a:custGeom>
              <a:avLst/>
              <a:gdLst/>
              <a:ahLst/>
              <a:cxnLst/>
              <a:rect l="l" t="t" r="r" b="b"/>
              <a:pathLst>
                <a:path w="2264387" h="1160891">
                  <a:moveTo>
                    <a:pt x="50427" y="0"/>
                  </a:moveTo>
                  <a:lnTo>
                    <a:pt x="2213961" y="0"/>
                  </a:lnTo>
                  <a:cubicBezTo>
                    <a:pt x="2241811" y="0"/>
                    <a:pt x="2264387" y="22577"/>
                    <a:pt x="2264387" y="50427"/>
                  </a:cubicBezTo>
                  <a:lnTo>
                    <a:pt x="2264387" y="1110464"/>
                  </a:lnTo>
                  <a:cubicBezTo>
                    <a:pt x="2264387" y="1138314"/>
                    <a:pt x="2241811" y="1160891"/>
                    <a:pt x="2213961" y="1160891"/>
                  </a:cubicBezTo>
                  <a:lnTo>
                    <a:pt x="50427" y="1160891"/>
                  </a:lnTo>
                  <a:cubicBezTo>
                    <a:pt x="22577" y="1160891"/>
                    <a:pt x="0" y="1138314"/>
                    <a:pt x="0" y="1110464"/>
                  </a:cubicBezTo>
                  <a:lnTo>
                    <a:pt x="0" y="50427"/>
                  </a:lnTo>
                  <a:cubicBezTo>
                    <a:pt x="0" y="22577"/>
                    <a:pt x="22577" y="0"/>
                    <a:pt x="50427" y="0"/>
                  </a:cubicBezTo>
                  <a:close/>
                </a:path>
              </a:pathLst>
            </a:custGeom>
            <a:ln w="28575" cap="rnd">
              <a:solidFill>
                <a:srgbClr val="FFFFFF"/>
              </a:solidFill>
              <a:prstDash val="solid"/>
              <a:round/>
            </a:ln>
          </p:spPr>
          <p:txBody>
            <a:bodyPr/>
            <a:lstStyle/>
            <a:p>
              <a:endParaRPr lang="en-US" noProof="0" dirty="0"/>
            </a:p>
          </p:txBody>
        </p:sp>
        <p:sp>
          <p:nvSpPr>
            <p:cNvPr id="7" name="TextBox 7"/>
            <p:cNvSpPr txBox="1"/>
            <p:nvPr/>
          </p:nvSpPr>
          <p:spPr>
            <a:xfrm>
              <a:off x="0" y="-66675"/>
              <a:ext cx="2264387" cy="1227566"/>
            </a:xfrm>
            <a:prstGeom prst="rect">
              <a:avLst/>
            </a:prstGeom>
          </p:spPr>
          <p:txBody>
            <a:bodyPr lIns="50800" tIns="50800" rIns="50800" bIns="50800" rtlCol="0" anchor="ctr"/>
            <a:lstStyle/>
            <a:p>
              <a:pPr algn="ctr">
                <a:lnSpc>
                  <a:spcPts val="3151"/>
                </a:lnSpc>
              </a:pPr>
              <a:endParaRPr lang="en-US" noProof="0" dirty="0"/>
            </a:p>
          </p:txBody>
        </p:sp>
      </p:grpSp>
      <p:sp>
        <p:nvSpPr>
          <p:cNvPr id="8" name="TextBox 8"/>
          <p:cNvSpPr txBox="1"/>
          <p:nvPr/>
        </p:nvSpPr>
        <p:spPr>
          <a:xfrm>
            <a:off x="1253962" y="5559854"/>
            <a:ext cx="7697643" cy="4017062"/>
          </a:xfrm>
          <a:prstGeom prst="rect">
            <a:avLst/>
          </a:prstGeom>
        </p:spPr>
        <p:txBody>
          <a:bodyPr lIns="0" tIns="0" rIns="0" bIns="0" rtlCol="0" anchor="t">
            <a:spAutoFit/>
          </a:bodyPr>
          <a:lstStyle/>
          <a:p>
            <a:pPr marL="539749" lvl="1" indent="-269875">
              <a:lnSpc>
                <a:spcPts val="3499"/>
              </a:lnSpc>
              <a:buFont typeface="Arial"/>
              <a:buChar char="•"/>
            </a:pPr>
            <a:r>
              <a:rPr lang="en-US" sz="2499" noProof="0" dirty="0">
                <a:solidFill>
                  <a:srgbClr val="FFFFFF"/>
                </a:solidFill>
                <a:latin typeface="Poppins"/>
                <a:ea typeface="Poppins"/>
                <a:cs typeface="Poppins"/>
                <a:sym typeface="Poppins"/>
              </a:rPr>
              <a:t>User request from the frontend</a:t>
            </a:r>
          </a:p>
          <a:p>
            <a:pPr marL="539749" lvl="1" indent="-269875">
              <a:lnSpc>
                <a:spcPts val="3499"/>
              </a:lnSpc>
              <a:buFont typeface="Arial"/>
              <a:buChar char="•"/>
            </a:pPr>
            <a:r>
              <a:rPr lang="en-US" sz="2499" noProof="0" dirty="0">
                <a:solidFill>
                  <a:srgbClr val="FFFFFF"/>
                </a:solidFill>
                <a:latin typeface="Poppins"/>
                <a:ea typeface="Poppins"/>
                <a:cs typeface="Poppins"/>
                <a:sym typeface="Poppins"/>
              </a:rPr>
              <a:t>The backend receives and processes the request</a:t>
            </a:r>
          </a:p>
          <a:p>
            <a:pPr marL="539749" lvl="1" indent="-269875">
              <a:lnSpc>
                <a:spcPts val="3499"/>
              </a:lnSpc>
              <a:buFont typeface="Arial"/>
              <a:buChar char="•"/>
            </a:pPr>
            <a:r>
              <a:rPr lang="en-US" sz="2499" noProof="0" dirty="0">
                <a:solidFill>
                  <a:srgbClr val="FFFFFF"/>
                </a:solidFill>
                <a:latin typeface="Poppins"/>
                <a:ea typeface="Poppins"/>
                <a:cs typeface="Poppins"/>
                <a:sym typeface="Poppins"/>
              </a:rPr>
              <a:t>Performs JWT authentication if necessary</a:t>
            </a:r>
          </a:p>
          <a:p>
            <a:pPr marL="539749" lvl="1" indent="-269875">
              <a:lnSpc>
                <a:spcPts val="3499"/>
              </a:lnSpc>
              <a:buFont typeface="Arial"/>
              <a:buChar char="•"/>
            </a:pPr>
            <a:r>
              <a:rPr lang="en-US" sz="2499" noProof="0" dirty="0">
                <a:solidFill>
                  <a:srgbClr val="FFFFFF"/>
                </a:solidFill>
                <a:latin typeface="Poppins"/>
                <a:ea typeface="Poppins"/>
                <a:cs typeface="Poppins"/>
                <a:sym typeface="Poppins"/>
              </a:rPr>
              <a:t>The backend executes a database operation (MySQL)</a:t>
            </a:r>
          </a:p>
          <a:p>
            <a:pPr marL="539749" lvl="1" indent="-269875">
              <a:lnSpc>
                <a:spcPts val="3499"/>
              </a:lnSpc>
              <a:buFont typeface="Arial"/>
              <a:buChar char="•"/>
            </a:pPr>
            <a:r>
              <a:rPr lang="en-US" sz="2499" noProof="0" dirty="0">
                <a:solidFill>
                  <a:srgbClr val="FFFFFF"/>
                </a:solidFill>
                <a:latin typeface="Poppins"/>
                <a:ea typeface="Poppins"/>
                <a:cs typeface="Poppins"/>
                <a:sym typeface="Poppins"/>
              </a:rPr>
              <a:t>The backend returns a response in JSON format</a:t>
            </a:r>
          </a:p>
          <a:p>
            <a:pPr marL="539749" lvl="1" indent="-269875">
              <a:lnSpc>
                <a:spcPts val="3499"/>
              </a:lnSpc>
              <a:buFont typeface="Arial"/>
              <a:buChar char="•"/>
            </a:pPr>
            <a:r>
              <a:rPr lang="en-US" sz="2499" noProof="0" dirty="0">
                <a:solidFill>
                  <a:srgbClr val="FFFFFF"/>
                </a:solidFill>
                <a:latin typeface="Poppins"/>
                <a:ea typeface="Poppins"/>
                <a:cs typeface="Poppins"/>
                <a:sym typeface="Poppins"/>
              </a:rPr>
              <a:t>The frontend displays the result</a:t>
            </a:r>
          </a:p>
        </p:txBody>
      </p:sp>
      <p:sp>
        <p:nvSpPr>
          <p:cNvPr id="9" name="TextBox 9"/>
          <p:cNvSpPr txBox="1">
            <a:spLocks noGrp="1"/>
          </p:cNvSpPr>
          <p:nvPr>
            <p:ph type="title" idx="4294967295"/>
          </p:nvPr>
        </p:nvSpPr>
        <p:spPr>
          <a:xfrm>
            <a:off x="1565652" y="2448975"/>
            <a:ext cx="7074263" cy="1647952"/>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gn="l">
              <a:lnSpc>
                <a:spcPts val="6377"/>
              </a:lnSpc>
              <a:spcBef>
                <a:spcPts val="0"/>
              </a:spcBef>
              <a:defRPr/>
            </a:pPr>
            <a:r>
              <a:rPr lang="en-US" sz="6252" b="1" spc="-281" noProof="0" dirty="0">
                <a:solidFill>
                  <a:srgbClr val="FFFFFF"/>
                </a:solidFill>
                <a:latin typeface="Telegraf Bold"/>
                <a:ea typeface="Telegraf Bold"/>
                <a:cs typeface="Telegraf Bold"/>
                <a:sym typeface="Telegraf Bold"/>
              </a:rPr>
              <a:t>Data Stream Operation</a:t>
            </a:r>
            <a:endParaRPr kumimoji="0" lang="en-US" sz="6252" b="1" i="0" u="none" strike="noStrike" kern="1200" cap="none" spc="-281" normalizeH="0" baseline="0" noProof="0" dirty="0">
              <a:ln>
                <a:noFill/>
              </a:ln>
              <a:solidFill>
                <a:srgbClr val="FFFFFF"/>
              </a:solidFill>
              <a:effectLst/>
              <a:uLnTx/>
              <a:uFillTx/>
              <a:latin typeface="Telegraf Bold"/>
              <a:ea typeface="Telegraf Bold"/>
              <a:cs typeface="Telegraf Bold"/>
              <a:sym typeface="Telegraf Bold"/>
            </a:endParaRPr>
          </a:p>
        </p:txBody>
      </p:sp>
      <p:grpSp>
        <p:nvGrpSpPr>
          <p:cNvPr id="10" name="Group 10" descr="Process Diagram&#10;"/>
          <p:cNvGrpSpPr/>
          <p:nvPr/>
        </p:nvGrpSpPr>
        <p:grpSpPr>
          <a:xfrm>
            <a:off x="9637186" y="1894724"/>
            <a:ext cx="8179087" cy="7656534"/>
            <a:chOff x="0" y="0"/>
            <a:chExt cx="1201467" cy="1124707"/>
          </a:xfrm>
        </p:grpSpPr>
        <p:sp>
          <p:nvSpPr>
            <p:cNvPr id="11" name="Freeform 11"/>
            <p:cNvSpPr/>
            <p:nvPr/>
          </p:nvSpPr>
          <p:spPr>
            <a:xfrm>
              <a:off x="0" y="0"/>
              <a:ext cx="1201467" cy="1124707"/>
            </a:xfrm>
            <a:custGeom>
              <a:avLst/>
              <a:gdLst/>
              <a:ahLst/>
              <a:cxnLst/>
              <a:rect l="l" t="t" r="r" b="b"/>
              <a:pathLst>
                <a:path w="1201467" h="1124707">
                  <a:moveTo>
                    <a:pt x="53007" y="0"/>
                  </a:moveTo>
                  <a:lnTo>
                    <a:pt x="1148461" y="0"/>
                  </a:lnTo>
                  <a:cubicBezTo>
                    <a:pt x="1162519" y="0"/>
                    <a:pt x="1176001" y="5585"/>
                    <a:pt x="1185942" y="15525"/>
                  </a:cubicBezTo>
                  <a:cubicBezTo>
                    <a:pt x="1195883" y="25466"/>
                    <a:pt x="1201467" y="38949"/>
                    <a:pt x="1201467" y="53007"/>
                  </a:cubicBezTo>
                  <a:lnTo>
                    <a:pt x="1201467" y="1071700"/>
                  </a:lnTo>
                  <a:cubicBezTo>
                    <a:pt x="1201467" y="1100975"/>
                    <a:pt x="1177735" y="1124707"/>
                    <a:pt x="1148461" y="1124707"/>
                  </a:cubicBezTo>
                  <a:lnTo>
                    <a:pt x="53007" y="1124707"/>
                  </a:lnTo>
                  <a:cubicBezTo>
                    <a:pt x="23732" y="1124707"/>
                    <a:pt x="0" y="1100975"/>
                    <a:pt x="0" y="1071700"/>
                  </a:cubicBezTo>
                  <a:lnTo>
                    <a:pt x="0" y="53007"/>
                  </a:lnTo>
                  <a:cubicBezTo>
                    <a:pt x="0" y="23732"/>
                    <a:pt x="23732" y="0"/>
                    <a:pt x="53007" y="0"/>
                  </a:cubicBezTo>
                  <a:close/>
                </a:path>
              </a:pathLst>
            </a:custGeom>
            <a:blipFill>
              <a:blip r:embed="rId3"/>
              <a:stretch>
                <a:fillRect t="-474" b="-474"/>
              </a:stretch>
            </a:blipFill>
          </p:spPr>
          <p:txBody>
            <a:bodyPr/>
            <a:lstStyle/>
            <a:p>
              <a:endParaRPr lang="en-US" noProof="0" dirty="0"/>
            </a:p>
          </p:txBody>
        </p:sp>
      </p:grpSp>
      <p:sp>
        <p:nvSpPr>
          <p:cNvPr id="16" name="Freeform 16">
            <a:extLs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4"/>
            <a:stretch>
              <a:fillRect/>
            </a:stretch>
          </a:blipFill>
        </p:spPr>
        <p:txBody>
          <a:bodyPr/>
          <a:lstStyle/>
          <a:p>
            <a:endParaRPr lang="en-US" noProof="0" dirty="0"/>
          </a:p>
        </p:txBody>
      </p:sp>
      <p:sp>
        <p:nvSpPr>
          <p:cNvPr id="18" name="Freeform 3">
            <a:extLst>
              <a:ext uri="{FF2B5EF4-FFF2-40B4-BE49-F238E27FC236}">
                <a16:creationId xmlns:a16="http://schemas.microsoft.com/office/drawing/2014/main" id="{C21B95D8-E4EB-DB01-F66A-4889BB25B3A6}"/>
              </a:ext>
              <a:ext uri="{C183D7F6-B498-43B3-948B-1728B52AA6E4}">
                <adec:decorative xmlns:adec="http://schemas.microsoft.com/office/drawing/2017/decorative" val="1"/>
              </a:ext>
            </a:extLst>
          </p:cNvPr>
          <p:cNvSpPr/>
          <p:nvPr/>
        </p:nvSpPr>
        <p:spPr>
          <a:xfrm>
            <a:off x="828446" y="777583"/>
            <a:ext cx="1111777" cy="1060162"/>
          </a:xfrm>
          <a:prstGeom prst="ellipse">
            <a:avLst/>
          </a:prstGeom>
          <a:solidFill>
            <a:srgbClr val="00A8CC">
              <a:alpha val="20000"/>
            </a:srgbClr>
          </a:solidFill>
          <a:effectLst>
            <a:softEdge rad="0"/>
          </a:effectLst>
        </p:spPr>
        <p:txBody>
          <a:bodyPr/>
          <a:lstStyle/>
          <a:p>
            <a:endParaRPr lang="en-US" noProof="0" dirty="0"/>
          </a:p>
        </p:txBody>
      </p:sp>
      <p:sp>
        <p:nvSpPr>
          <p:cNvPr id="19" name="TextBox 12">
            <a:extLst>
              <a:ext uri="{FF2B5EF4-FFF2-40B4-BE49-F238E27FC236}">
                <a16:creationId xmlns:a16="http://schemas.microsoft.com/office/drawing/2014/main" id="{6B94F09F-60CD-F1BB-1D5A-2D8880DEF947}"/>
              </a:ext>
            </a:extLst>
          </p:cNvPr>
          <p:cNvSpPr txBox="1"/>
          <p:nvPr/>
        </p:nvSpPr>
        <p:spPr>
          <a:xfrm>
            <a:off x="9214008" y="879241"/>
            <a:ext cx="1841707" cy="388633"/>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Roles</a:t>
            </a:r>
          </a:p>
        </p:txBody>
      </p:sp>
      <p:sp>
        <p:nvSpPr>
          <p:cNvPr id="20" name="TextBox 13">
            <a:extLst>
              <a:ext uri="{FF2B5EF4-FFF2-40B4-BE49-F238E27FC236}">
                <a16:creationId xmlns:a16="http://schemas.microsoft.com/office/drawing/2014/main" id="{03548A15-F9B0-0CE3-F362-42001B24B924}"/>
              </a:ext>
            </a:extLst>
          </p:cNvPr>
          <p:cNvSpPr txBox="1"/>
          <p:nvPr/>
        </p:nvSpPr>
        <p:spPr>
          <a:xfrm>
            <a:off x="10940878" y="887339"/>
            <a:ext cx="1907082" cy="388633"/>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Structure</a:t>
            </a:r>
          </a:p>
        </p:txBody>
      </p:sp>
      <p:sp>
        <p:nvSpPr>
          <p:cNvPr id="21" name="TextBox 14">
            <a:extLst>
              <a:ext uri="{FF2B5EF4-FFF2-40B4-BE49-F238E27FC236}">
                <a16:creationId xmlns:a16="http://schemas.microsoft.com/office/drawing/2014/main" id="{8032BE0F-9268-9BD8-6F97-6D057099F991}"/>
              </a:ext>
            </a:extLst>
          </p:cNvPr>
          <p:cNvSpPr txBox="1"/>
          <p:nvPr/>
        </p:nvSpPr>
        <p:spPr>
          <a:xfrm>
            <a:off x="12899685" y="887339"/>
            <a:ext cx="2091043" cy="388633"/>
          </a:xfrm>
          <a:prstGeom prst="rect">
            <a:avLst/>
          </a:prstGeom>
        </p:spPr>
        <p:txBody>
          <a:bodyPr wrap="square" lIns="0" tIns="0" rIns="0" bIns="0" rtlCol="0" anchor="t">
            <a:spAutoFit/>
          </a:bodyPr>
          <a:lstStyle/>
          <a:p>
            <a:pPr lvl="0" algn="ctr">
              <a:lnSpc>
                <a:spcPts val="3151"/>
              </a:lnSpc>
              <a:spcBef>
                <a:spcPct val="0"/>
              </a:spcBef>
            </a:pPr>
            <a:r>
              <a:rPr lang="en-US" sz="2251" b="1" noProof="0" dirty="0">
                <a:solidFill>
                  <a:srgbClr val="FFFFFF"/>
                </a:solidFill>
                <a:latin typeface="Poppins"/>
                <a:ea typeface="Poppins"/>
                <a:cs typeface="Poppins"/>
                <a:sym typeface="Poppins"/>
              </a:rPr>
              <a:t>Data stream</a:t>
            </a:r>
          </a:p>
        </p:txBody>
      </p:sp>
      <p:sp>
        <p:nvSpPr>
          <p:cNvPr id="22" name="TextBox 15">
            <a:extLst>
              <a:ext uri="{FF2B5EF4-FFF2-40B4-BE49-F238E27FC236}">
                <a16:creationId xmlns:a16="http://schemas.microsoft.com/office/drawing/2014/main" id="{C5A4FEC8-DCB2-9130-C860-397782B563BE}"/>
              </a:ext>
            </a:extLst>
          </p:cNvPr>
          <p:cNvSpPr txBox="1"/>
          <p:nvPr/>
        </p:nvSpPr>
        <p:spPr>
          <a:xfrm>
            <a:off x="15063632" y="911323"/>
            <a:ext cx="2224975" cy="388633"/>
          </a:xfrm>
          <a:prstGeom prst="rect">
            <a:avLst/>
          </a:prstGeom>
        </p:spPr>
        <p:txBody>
          <a:bodyPr lIns="0" tIns="0" rIns="0" bIns="0" rtlCol="0" anchor="t">
            <a:spAutoFit/>
          </a:bodyPr>
          <a:lstStyle/>
          <a:p>
            <a:pPr lvl="0" algn="r">
              <a:lnSpc>
                <a:spcPts val="3124"/>
              </a:lnSpc>
              <a:spcBef>
                <a:spcPct val="0"/>
              </a:spcBef>
            </a:pPr>
            <a:r>
              <a:rPr lang="en-US" sz="2400" noProof="0" dirty="0">
                <a:solidFill>
                  <a:srgbClr val="FFFFFF"/>
                </a:solidFill>
                <a:latin typeface="Poppins"/>
                <a:ea typeface="Poppins"/>
                <a:cs typeface="Poppins"/>
                <a:sym typeface="Poppins"/>
              </a:rPr>
              <a:t>Technologies</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40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600"/>
                                        <p:tgtEl>
                                          <p:spTgt spid="19"/>
                                        </p:tgtEl>
                                      </p:cBhvr>
                                    </p:animEffect>
                                  </p:childTnLst>
                                </p:cTn>
                              </p:par>
                              <p:par>
                                <p:cTn id="17" presetID="10" presetClass="entr" presetSubtype="0" fill="hold" grpId="0" nodeType="withEffect">
                                  <p:stCondLst>
                                    <p:cond delay="7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grpId="0" nodeType="withEffect">
                                  <p:stCondLst>
                                    <p:cond delay="90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par>
                                <p:cTn id="23" presetID="10" presetClass="entr" presetSubtype="0" fill="hold" grpId="0" nodeType="withEffect">
                                  <p:stCondLst>
                                    <p:cond delay="110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9" grpId="0"/>
      <p:bldP spid="20" grpId="0"/>
      <p:bldP spid="21" grpId="0"/>
      <p:bldP spid="2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7" name="Freeform 3">
            <a:extLst>
              <a:ext uri="{FF2B5EF4-FFF2-40B4-BE49-F238E27FC236}">
                <a16:creationId xmlns:a16="http://schemas.microsoft.com/office/drawing/2014/main" id="{43EA1F30-F143-C353-E444-08FE43026F3D}"/>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grpSp>
        <p:nvGrpSpPr>
          <p:cNvPr id="2" name="Group 2">
            <a:extLst>
              <a:ext uri="{C183D7F6-B498-43B3-948B-1728B52AA6E4}">
                <adec:decorative xmlns:adec="http://schemas.microsoft.com/office/drawing/2017/decorative" val="1"/>
              </a:ext>
            </a:extLst>
          </p:cNvPr>
          <p:cNvGrpSpPr/>
          <p:nvPr/>
        </p:nvGrpSpPr>
        <p:grpSpPr>
          <a:xfrm>
            <a:off x="8661704" y="6356028"/>
            <a:ext cx="8825903" cy="3265935"/>
            <a:chOff x="0" y="0"/>
            <a:chExt cx="2324518" cy="860164"/>
          </a:xfrm>
        </p:grpSpPr>
        <p:sp>
          <p:nvSpPr>
            <p:cNvPr id="3" name="Freeform 3"/>
            <p:cNvSpPr/>
            <p:nvPr/>
          </p:nvSpPr>
          <p:spPr>
            <a:xfrm>
              <a:off x="0" y="0"/>
              <a:ext cx="2324518" cy="860164"/>
            </a:xfrm>
            <a:custGeom>
              <a:avLst/>
              <a:gdLst/>
              <a:ahLst/>
              <a:cxnLst/>
              <a:rect l="l" t="t" r="r" b="b"/>
              <a:pathLst>
                <a:path w="2324518" h="860164">
                  <a:moveTo>
                    <a:pt x="36842" y="0"/>
                  </a:moveTo>
                  <a:lnTo>
                    <a:pt x="2287676" y="0"/>
                  </a:lnTo>
                  <a:cubicBezTo>
                    <a:pt x="2308023" y="0"/>
                    <a:pt x="2324518" y="16495"/>
                    <a:pt x="2324518" y="36842"/>
                  </a:cubicBezTo>
                  <a:lnTo>
                    <a:pt x="2324518" y="823322"/>
                  </a:lnTo>
                  <a:cubicBezTo>
                    <a:pt x="2324518" y="843670"/>
                    <a:pt x="2308023" y="860164"/>
                    <a:pt x="2287676" y="860164"/>
                  </a:cubicBezTo>
                  <a:lnTo>
                    <a:pt x="36842" y="860164"/>
                  </a:lnTo>
                  <a:cubicBezTo>
                    <a:pt x="16495" y="860164"/>
                    <a:pt x="0" y="843670"/>
                    <a:pt x="0" y="823322"/>
                  </a:cubicBezTo>
                  <a:lnTo>
                    <a:pt x="0" y="36842"/>
                  </a:lnTo>
                  <a:cubicBezTo>
                    <a:pt x="0" y="16495"/>
                    <a:pt x="16495" y="0"/>
                    <a:pt x="36842" y="0"/>
                  </a:cubicBezTo>
                  <a:close/>
                </a:path>
              </a:pathLst>
            </a:custGeom>
            <a:gradFill rotWithShape="1">
              <a:gsLst>
                <a:gs pos="0">
                  <a:srgbClr val="1B1F45"/>
                </a:gs>
                <a:gs pos="66000">
                  <a:srgbClr val="00A8CC"/>
                </a:gs>
                <a:gs pos="100000">
                  <a:srgbClr val="6C63FF"/>
                </a:gs>
              </a:gsLst>
              <a:path path="circle">
                <a:fillToRect r="100000" b="100000"/>
              </a:path>
              <a:tileRect l="-100000" t="-100000"/>
            </a:gradFill>
          </p:spPr>
          <p:txBody>
            <a:bodyPr/>
            <a:lstStyle/>
            <a:p>
              <a:endParaRPr lang="en-US" noProof="0" dirty="0"/>
            </a:p>
          </p:txBody>
        </p:sp>
        <p:sp>
          <p:nvSpPr>
            <p:cNvPr id="4" name="TextBox 4"/>
            <p:cNvSpPr txBox="1"/>
            <p:nvPr/>
          </p:nvSpPr>
          <p:spPr>
            <a:xfrm>
              <a:off x="0" y="-66675"/>
              <a:ext cx="2324518" cy="926839"/>
            </a:xfrm>
            <a:prstGeom prst="rect">
              <a:avLst/>
            </a:prstGeom>
          </p:spPr>
          <p:txBody>
            <a:bodyPr lIns="50800" tIns="50800" rIns="50800" bIns="50800" rtlCol="0" anchor="ctr"/>
            <a:lstStyle/>
            <a:p>
              <a:pPr algn="ctr">
                <a:lnSpc>
                  <a:spcPts val="3151"/>
                </a:lnSpc>
              </a:pPr>
              <a:endParaRPr lang="en-US" noProof="0" dirty="0"/>
            </a:p>
          </p:txBody>
        </p:sp>
      </p:grpSp>
      <p:grpSp>
        <p:nvGrpSpPr>
          <p:cNvPr id="5" name="Group 5">
            <a:extLst>
              <a:ext uri="{C183D7F6-B498-43B3-948B-1728B52AA6E4}">
                <adec:decorative xmlns:adec="http://schemas.microsoft.com/office/drawing/2017/decorative" val="1"/>
              </a:ext>
            </a:extLst>
          </p:cNvPr>
          <p:cNvGrpSpPr/>
          <p:nvPr/>
        </p:nvGrpSpPr>
        <p:grpSpPr>
          <a:xfrm>
            <a:off x="8661704" y="1894724"/>
            <a:ext cx="8825903" cy="3823129"/>
            <a:chOff x="0" y="0"/>
            <a:chExt cx="2324518" cy="1006915"/>
          </a:xfrm>
        </p:grpSpPr>
        <p:sp>
          <p:nvSpPr>
            <p:cNvPr id="6" name="Freeform 6"/>
            <p:cNvSpPr/>
            <p:nvPr/>
          </p:nvSpPr>
          <p:spPr>
            <a:xfrm>
              <a:off x="0" y="0"/>
              <a:ext cx="2324518" cy="1006915"/>
            </a:xfrm>
            <a:custGeom>
              <a:avLst/>
              <a:gdLst/>
              <a:ahLst/>
              <a:cxnLst/>
              <a:rect l="l" t="t" r="r" b="b"/>
              <a:pathLst>
                <a:path w="2324518" h="1006915">
                  <a:moveTo>
                    <a:pt x="49122" y="0"/>
                  </a:moveTo>
                  <a:lnTo>
                    <a:pt x="2275395" y="0"/>
                  </a:lnTo>
                  <a:cubicBezTo>
                    <a:pt x="2288423" y="0"/>
                    <a:pt x="2300918" y="5175"/>
                    <a:pt x="2310130" y="14388"/>
                  </a:cubicBezTo>
                  <a:cubicBezTo>
                    <a:pt x="2319342" y="23600"/>
                    <a:pt x="2324518" y="36094"/>
                    <a:pt x="2324518" y="49122"/>
                  </a:cubicBezTo>
                  <a:lnTo>
                    <a:pt x="2324518" y="957793"/>
                  </a:lnTo>
                  <a:cubicBezTo>
                    <a:pt x="2324518" y="970821"/>
                    <a:pt x="2319342" y="983315"/>
                    <a:pt x="2310130" y="992527"/>
                  </a:cubicBezTo>
                  <a:cubicBezTo>
                    <a:pt x="2300918" y="1001739"/>
                    <a:pt x="2288423" y="1006915"/>
                    <a:pt x="2275395" y="1006915"/>
                  </a:cubicBezTo>
                  <a:lnTo>
                    <a:pt x="49122" y="1006915"/>
                  </a:lnTo>
                  <a:cubicBezTo>
                    <a:pt x="36094" y="1006915"/>
                    <a:pt x="23600" y="1001739"/>
                    <a:pt x="14388" y="992527"/>
                  </a:cubicBezTo>
                  <a:cubicBezTo>
                    <a:pt x="5175" y="983315"/>
                    <a:pt x="0" y="970821"/>
                    <a:pt x="0" y="957793"/>
                  </a:cubicBezTo>
                  <a:lnTo>
                    <a:pt x="0" y="49122"/>
                  </a:lnTo>
                  <a:cubicBezTo>
                    <a:pt x="0" y="36094"/>
                    <a:pt x="5175" y="23600"/>
                    <a:pt x="14388" y="14388"/>
                  </a:cubicBezTo>
                  <a:cubicBezTo>
                    <a:pt x="23600" y="5175"/>
                    <a:pt x="36094" y="0"/>
                    <a:pt x="49122" y="0"/>
                  </a:cubicBezTo>
                  <a:close/>
                </a:path>
              </a:pathLst>
            </a:custGeom>
            <a:ln w="28575" cap="rnd">
              <a:solidFill>
                <a:srgbClr val="FFFFFF"/>
              </a:solidFill>
              <a:prstDash val="solid"/>
              <a:round/>
            </a:ln>
          </p:spPr>
          <p:txBody>
            <a:bodyPr/>
            <a:lstStyle/>
            <a:p>
              <a:endParaRPr lang="en-US" noProof="0" dirty="0"/>
            </a:p>
          </p:txBody>
        </p:sp>
        <p:sp>
          <p:nvSpPr>
            <p:cNvPr id="7" name="TextBox 7"/>
            <p:cNvSpPr txBox="1"/>
            <p:nvPr/>
          </p:nvSpPr>
          <p:spPr>
            <a:xfrm>
              <a:off x="0" y="-66675"/>
              <a:ext cx="2324518" cy="1073590"/>
            </a:xfrm>
            <a:prstGeom prst="rect">
              <a:avLst/>
            </a:prstGeom>
          </p:spPr>
          <p:txBody>
            <a:bodyPr lIns="50800" tIns="50800" rIns="50800" bIns="50800" rtlCol="0" anchor="ctr"/>
            <a:lstStyle/>
            <a:p>
              <a:pPr algn="ctr">
                <a:lnSpc>
                  <a:spcPts val="3151"/>
                </a:lnSpc>
              </a:pPr>
              <a:endParaRPr lang="en-US" noProof="0" dirty="0"/>
            </a:p>
          </p:txBody>
        </p:sp>
      </p:grpSp>
      <p:sp>
        <p:nvSpPr>
          <p:cNvPr id="8" name="Freeform 8">
            <a:extLst>
              <a:ext uri="{C183D7F6-B498-43B3-948B-1728B52AA6E4}">
                <adec:decorative xmlns:adec="http://schemas.microsoft.com/office/drawing/2017/decorative" val="1"/>
              </a:ext>
            </a:extLst>
          </p:cNvPr>
          <p:cNvSpPr/>
          <p:nvPr/>
        </p:nvSpPr>
        <p:spPr>
          <a:xfrm>
            <a:off x="15809561" y="6819295"/>
            <a:ext cx="1169701" cy="1169701"/>
          </a:xfrm>
          <a:custGeom>
            <a:avLst/>
            <a:gdLst/>
            <a:ahLst/>
            <a:cxnLst/>
            <a:rect l="l" t="t" r="r" b="b"/>
            <a:pathLst>
              <a:path w="1169701" h="1169701">
                <a:moveTo>
                  <a:pt x="0" y="0"/>
                </a:moveTo>
                <a:lnTo>
                  <a:pt x="1169701" y="0"/>
                </a:lnTo>
                <a:lnTo>
                  <a:pt x="1169701" y="1169701"/>
                </a:lnTo>
                <a:lnTo>
                  <a:pt x="0" y="116970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noProof="0" dirty="0"/>
          </a:p>
        </p:txBody>
      </p:sp>
      <p:sp>
        <p:nvSpPr>
          <p:cNvPr id="9" name="Freeform 9">
            <a:extLst>
              <a:ext uri="{C183D7F6-B498-43B3-948B-1728B52AA6E4}">
                <adec:decorative xmlns:adec="http://schemas.microsoft.com/office/drawing/2017/decorative" val="1"/>
              </a:ext>
            </a:extLst>
          </p:cNvPr>
          <p:cNvSpPr/>
          <p:nvPr/>
        </p:nvSpPr>
        <p:spPr>
          <a:xfrm>
            <a:off x="244939" y="1894724"/>
            <a:ext cx="8070224" cy="7727240"/>
          </a:xfrm>
          <a:custGeom>
            <a:avLst/>
            <a:gdLst/>
            <a:ahLst/>
            <a:cxnLst/>
            <a:rect l="l" t="t" r="r" b="b"/>
            <a:pathLst>
              <a:path w="8070224" h="7727240">
                <a:moveTo>
                  <a:pt x="0" y="0"/>
                </a:moveTo>
                <a:lnTo>
                  <a:pt x="8070224" y="0"/>
                </a:lnTo>
                <a:lnTo>
                  <a:pt x="8070224" y="7727240"/>
                </a:lnTo>
                <a:lnTo>
                  <a:pt x="0" y="7727240"/>
                </a:lnTo>
                <a:lnTo>
                  <a:pt x="0" y="0"/>
                </a:lnTo>
                <a:close/>
              </a:path>
            </a:pathLst>
          </a:custGeom>
          <a:blipFill>
            <a:blip r:embed="rId4"/>
            <a:stretch>
              <a:fillRect/>
            </a:stretch>
          </a:blipFill>
        </p:spPr>
        <p:txBody>
          <a:bodyPr/>
          <a:lstStyle/>
          <a:p>
            <a:endParaRPr lang="en-US" noProof="0" dirty="0"/>
          </a:p>
        </p:txBody>
      </p:sp>
      <p:sp>
        <p:nvSpPr>
          <p:cNvPr id="10" name="TextBox 10"/>
          <p:cNvSpPr txBox="1">
            <a:spLocks noGrp="1"/>
          </p:cNvSpPr>
          <p:nvPr>
            <p:ph type="title" idx="4294967295"/>
          </p:nvPr>
        </p:nvSpPr>
        <p:spPr>
          <a:xfrm>
            <a:off x="9411514" y="2528963"/>
            <a:ext cx="7384352" cy="260880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just" defTabSz="914400" rtl="0" eaLnBrk="1" fontAlgn="auto" latinLnBrk="0" hangingPunct="1">
              <a:lnSpc>
                <a:spcPts val="9728"/>
              </a:lnSpc>
              <a:spcBef>
                <a:spcPts val="0"/>
              </a:spcBef>
              <a:spcAft>
                <a:spcPts val="0"/>
              </a:spcAft>
              <a:buClrTx/>
              <a:buSzTx/>
              <a:buFontTx/>
              <a:buNone/>
              <a:tabLst/>
              <a:defRPr/>
            </a:pPr>
            <a:r>
              <a:rPr kumimoji="0" lang="en-US" sz="9537" b="1" i="0" u="none" strike="noStrike" kern="1200" cap="none" spc="-429" normalizeH="0" baseline="0" noProof="0" dirty="0">
                <a:ln>
                  <a:noFill/>
                </a:ln>
                <a:solidFill>
                  <a:srgbClr val="FFFFFF"/>
                </a:solidFill>
                <a:effectLst/>
                <a:uLnTx/>
                <a:uFillTx/>
                <a:latin typeface="Telegraf Bold"/>
                <a:ea typeface="Telegraf Bold"/>
                <a:cs typeface="Telegraf Bold"/>
                <a:sym typeface="Telegraf Bold"/>
              </a:rPr>
              <a:t>Frontend technológiák</a:t>
            </a:r>
          </a:p>
        </p:txBody>
      </p:sp>
      <p:sp>
        <p:nvSpPr>
          <p:cNvPr id="11" name="TextBox 11"/>
          <p:cNvSpPr txBox="1"/>
          <p:nvPr/>
        </p:nvSpPr>
        <p:spPr>
          <a:xfrm>
            <a:off x="9411514" y="6860853"/>
            <a:ext cx="5738811" cy="2600954"/>
          </a:xfrm>
          <a:prstGeom prst="rect">
            <a:avLst/>
          </a:prstGeom>
        </p:spPr>
        <p:txBody>
          <a:bodyPr lIns="0" tIns="0" rIns="0" bIns="0" rtlCol="0" anchor="t">
            <a:spAutoFit/>
          </a:bodyPr>
          <a:lstStyle/>
          <a:p>
            <a:pPr algn="just">
              <a:lnSpc>
                <a:spcPts val="4165"/>
              </a:lnSpc>
            </a:pPr>
            <a:r>
              <a:rPr lang="en-US" sz="2975" spc="-130" noProof="0" dirty="0">
                <a:solidFill>
                  <a:srgbClr val="FFFFFF"/>
                </a:solidFill>
                <a:latin typeface="Open Sauce"/>
                <a:ea typeface="Open Sauce"/>
                <a:cs typeface="Open Sauce"/>
                <a:sym typeface="Open Sauce"/>
              </a:rPr>
              <a:t>•React </a:t>
            </a:r>
          </a:p>
          <a:p>
            <a:pPr algn="just">
              <a:lnSpc>
                <a:spcPts val="4165"/>
              </a:lnSpc>
            </a:pPr>
            <a:r>
              <a:rPr lang="en-US" sz="2975" spc="-130" noProof="0" dirty="0">
                <a:solidFill>
                  <a:srgbClr val="FFFFFF"/>
                </a:solidFill>
                <a:latin typeface="Open Sauce"/>
                <a:ea typeface="Open Sauce"/>
                <a:cs typeface="Open Sauce"/>
                <a:sym typeface="Open Sauce"/>
              </a:rPr>
              <a:t>•React Router </a:t>
            </a:r>
          </a:p>
          <a:p>
            <a:pPr algn="just">
              <a:lnSpc>
                <a:spcPts val="4165"/>
              </a:lnSpc>
            </a:pPr>
            <a:r>
              <a:rPr lang="en-US" sz="2975" spc="-130" noProof="0" dirty="0">
                <a:solidFill>
                  <a:srgbClr val="FFFFFF"/>
                </a:solidFill>
                <a:latin typeface="Open Sauce"/>
                <a:ea typeface="Open Sauce"/>
                <a:cs typeface="Open Sauce"/>
                <a:sym typeface="Open Sauce"/>
              </a:rPr>
              <a:t>•State management </a:t>
            </a:r>
          </a:p>
          <a:p>
            <a:pPr algn="just">
              <a:lnSpc>
                <a:spcPts val="4165"/>
              </a:lnSpc>
            </a:pPr>
            <a:r>
              <a:rPr lang="en-US" sz="2975" spc="-130" noProof="0" dirty="0">
                <a:solidFill>
                  <a:srgbClr val="FFFFFF"/>
                </a:solidFill>
                <a:latin typeface="Open Sauce"/>
                <a:ea typeface="Open Sauce"/>
                <a:cs typeface="Open Sauce"/>
                <a:sym typeface="Open Sauce"/>
              </a:rPr>
              <a:t>•</a:t>
            </a:r>
            <a:r>
              <a:rPr lang="en-US" sz="2975" spc="-130" noProof="0" dirty="0" err="1">
                <a:solidFill>
                  <a:srgbClr val="FFFFFF"/>
                </a:solidFill>
                <a:latin typeface="Open Sauce"/>
                <a:ea typeface="Open Sauce"/>
                <a:cs typeface="Open Sauce"/>
                <a:sym typeface="Open Sauce"/>
              </a:rPr>
              <a:t>Védett</a:t>
            </a:r>
            <a:r>
              <a:rPr lang="en-US" sz="2975" spc="-130" noProof="0" dirty="0">
                <a:solidFill>
                  <a:srgbClr val="FFFFFF"/>
                </a:solidFill>
                <a:latin typeface="Open Sauce"/>
                <a:ea typeface="Open Sauce"/>
                <a:cs typeface="Open Sauce"/>
                <a:sym typeface="Open Sauce"/>
              </a:rPr>
              <a:t> route-ok</a:t>
            </a:r>
          </a:p>
          <a:p>
            <a:pPr algn="just">
              <a:lnSpc>
                <a:spcPts val="4165"/>
              </a:lnSpc>
            </a:pPr>
            <a:endParaRPr lang="en-US" sz="2975" spc="-130" noProof="0" dirty="0">
              <a:solidFill>
                <a:srgbClr val="FFFFFF"/>
              </a:solidFill>
              <a:latin typeface="Open Sauce"/>
              <a:ea typeface="Open Sauce"/>
              <a:cs typeface="Open Sauce"/>
              <a:sym typeface="Open Sauce"/>
            </a:endParaRPr>
          </a:p>
        </p:txBody>
      </p:sp>
      <p:sp>
        <p:nvSpPr>
          <p:cNvPr id="16" name="Freeform 16">
            <a:extLs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5"/>
            <a:stretch>
              <a:fillRect/>
            </a:stretch>
          </a:blipFill>
        </p:spPr>
        <p:txBody>
          <a:bodyPr/>
          <a:lstStyle/>
          <a:p>
            <a:endParaRPr lang="en-US" noProof="0" dirty="0"/>
          </a:p>
        </p:txBody>
      </p:sp>
      <p:sp>
        <p:nvSpPr>
          <p:cNvPr id="18" name="Freeform 3">
            <a:extLst>
              <a:ext uri="{FF2B5EF4-FFF2-40B4-BE49-F238E27FC236}">
                <a16:creationId xmlns:a16="http://schemas.microsoft.com/office/drawing/2014/main" id="{D7C6992A-B4EC-A3B7-70A4-79C433EB8811}"/>
              </a:ext>
              <a:ext uri="{C183D7F6-B498-43B3-948B-1728B52AA6E4}">
                <adec:decorative xmlns:adec="http://schemas.microsoft.com/office/drawing/2017/decorative" val="1"/>
              </a:ext>
            </a:extLst>
          </p:cNvPr>
          <p:cNvSpPr/>
          <p:nvPr/>
        </p:nvSpPr>
        <p:spPr>
          <a:xfrm>
            <a:off x="828446" y="777583"/>
            <a:ext cx="1111777" cy="1060162"/>
          </a:xfrm>
          <a:prstGeom prst="ellipse">
            <a:avLst/>
          </a:prstGeom>
          <a:solidFill>
            <a:srgbClr val="00A8CC">
              <a:alpha val="20000"/>
            </a:srgbClr>
          </a:solidFill>
          <a:effectLst>
            <a:softEdge rad="0"/>
          </a:effectLst>
        </p:spPr>
        <p:txBody>
          <a:bodyPr/>
          <a:lstStyle/>
          <a:p>
            <a:endParaRPr lang="en-US" noProof="0" dirty="0"/>
          </a:p>
        </p:txBody>
      </p:sp>
      <p:sp>
        <p:nvSpPr>
          <p:cNvPr id="19" name="TextBox 12">
            <a:extLst>
              <a:ext uri="{FF2B5EF4-FFF2-40B4-BE49-F238E27FC236}">
                <a16:creationId xmlns:a16="http://schemas.microsoft.com/office/drawing/2014/main" id="{B1AE99B3-6CDA-8C1D-C47A-0070E2E3296B}"/>
              </a:ext>
            </a:extLst>
          </p:cNvPr>
          <p:cNvSpPr txBox="1"/>
          <p:nvPr/>
        </p:nvSpPr>
        <p:spPr>
          <a:xfrm>
            <a:off x="9214008" y="879241"/>
            <a:ext cx="1841707" cy="388633"/>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Roles</a:t>
            </a:r>
          </a:p>
        </p:txBody>
      </p:sp>
      <p:sp>
        <p:nvSpPr>
          <p:cNvPr id="20" name="TextBox 13">
            <a:extLst>
              <a:ext uri="{FF2B5EF4-FFF2-40B4-BE49-F238E27FC236}">
                <a16:creationId xmlns:a16="http://schemas.microsoft.com/office/drawing/2014/main" id="{D8676020-C8B6-44AF-744B-E9AA5F710BCD}"/>
              </a:ext>
            </a:extLst>
          </p:cNvPr>
          <p:cNvSpPr txBox="1"/>
          <p:nvPr/>
        </p:nvSpPr>
        <p:spPr>
          <a:xfrm>
            <a:off x="10940878" y="887339"/>
            <a:ext cx="1907082" cy="388633"/>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Structure</a:t>
            </a:r>
          </a:p>
        </p:txBody>
      </p:sp>
      <p:sp>
        <p:nvSpPr>
          <p:cNvPr id="21" name="TextBox 14">
            <a:extLst>
              <a:ext uri="{FF2B5EF4-FFF2-40B4-BE49-F238E27FC236}">
                <a16:creationId xmlns:a16="http://schemas.microsoft.com/office/drawing/2014/main" id="{206ACCCE-78C0-C876-07C5-961F56B97054}"/>
              </a:ext>
            </a:extLst>
          </p:cNvPr>
          <p:cNvSpPr txBox="1"/>
          <p:nvPr/>
        </p:nvSpPr>
        <p:spPr>
          <a:xfrm>
            <a:off x="12899685" y="887339"/>
            <a:ext cx="2091043" cy="388633"/>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Data stream</a:t>
            </a:r>
          </a:p>
        </p:txBody>
      </p:sp>
      <p:sp>
        <p:nvSpPr>
          <p:cNvPr id="22" name="TextBox 15">
            <a:extLst>
              <a:ext uri="{FF2B5EF4-FFF2-40B4-BE49-F238E27FC236}">
                <a16:creationId xmlns:a16="http://schemas.microsoft.com/office/drawing/2014/main" id="{3636B672-A58A-E987-CA79-71BCB588FCAA}"/>
              </a:ext>
            </a:extLst>
          </p:cNvPr>
          <p:cNvSpPr txBox="1"/>
          <p:nvPr/>
        </p:nvSpPr>
        <p:spPr>
          <a:xfrm>
            <a:off x="15063632" y="911323"/>
            <a:ext cx="2224975" cy="388633"/>
          </a:xfrm>
          <a:prstGeom prst="rect">
            <a:avLst/>
          </a:prstGeom>
        </p:spPr>
        <p:txBody>
          <a:bodyPr lIns="0" tIns="0" rIns="0" bIns="0" rtlCol="0" anchor="t">
            <a:spAutoFit/>
          </a:bodyPr>
          <a:lstStyle/>
          <a:p>
            <a:pPr lvl="0" algn="r">
              <a:lnSpc>
                <a:spcPts val="3124"/>
              </a:lnSpc>
              <a:spcBef>
                <a:spcPct val="0"/>
              </a:spcBef>
            </a:pPr>
            <a:r>
              <a:rPr lang="en-US" sz="2400" b="1" noProof="0" dirty="0">
                <a:solidFill>
                  <a:srgbClr val="FFFFFF"/>
                </a:solidFill>
                <a:latin typeface="Poppins"/>
                <a:ea typeface="Poppins"/>
                <a:cs typeface="Poppins"/>
                <a:sym typeface="Poppins"/>
              </a:rPr>
              <a:t>Technologies</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40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600"/>
                                        <p:tgtEl>
                                          <p:spTgt spid="19"/>
                                        </p:tgtEl>
                                      </p:cBhvr>
                                    </p:animEffect>
                                  </p:childTnLst>
                                </p:cTn>
                              </p:par>
                              <p:par>
                                <p:cTn id="14" presetID="10" presetClass="entr" presetSubtype="0" fill="hold" grpId="0" nodeType="withEffect">
                                  <p:stCondLst>
                                    <p:cond delay="70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grpId="0" nodeType="withEffect">
                                  <p:stCondLst>
                                    <p:cond delay="90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10" presetClass="entr" presetSubtype="0" fill="hold" grpId="0" nodeType="withEffect">
                                  <p:stCondLst>
                                    <p:cond delay="110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9" grpId="0"/>
      <p:bldP spid="20" grpId="0"/>
      <p:bldP spid="21"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7" name="Freeform 3">
            <a:extLst>
              <a:ext uri="{FF2B5EF4-FFF2-40B4-BE49-F238E27FC236}">
                <a16:creationId xmlns:a16="http://schemas.microsoft.com/office/drawing/2014/main" id="{E0A9CE0F-018D-23E1-CA3B-73C5A6E195CB}"/>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sp>
        <p:nvSpPr>
          <p:cNvPr id="18" name="Freeform 3">
            <a:extLst>
              <a:ext uri="{FF2B5EF4-FFF2-40B4-BE49-F238E27FC236}">
                <a16:creationId xmlns:a16="http://schemas.microsoft.com/office/drawing/2014/main" id="{2150EDA4-56D7-5247-0A6A-7DBBCA82DBD3}"/>
              </a:ext>
              <a:ext uri="{C183D7F6-B498-43B3-948B-1728B52AA6E4}">
                <adec:decorative xmlns:adec="http://schemas.microsoft.com/office/drawing/2017/decorative" val="1"/>
              </a:ext>
            </a:extLst>
          </p:cNvPr>
          <p:cNvSpPr/>
          <p:nvPr/>
        </p:nvSpPr>
        <p:spPr>
          <a:xfrm>
            <a:off x="828446" y="777583"/>
            <a:ext cx="1111777" cy="1060162"/>
          </a:xfrm>
          <a:prstGeom prst="ellipse">
            <a:avLst/>
          </a:prstGeom>
          <a:solidFill>
            <a:srgbClr val="00A8CC">
              <a:alpha val="20000"/>
            </a:srgbClr>
          </a:solidFill>
          <a:effectLst>
            <a:softEdge rad="0"/>
          </a:effectLst>
        </p:spPr>
        <p:txBody>
          <a:bodyPr/>
          <a:lstStyle/>
          <a:p>
            <a:endParaRPr lang="en-US" noProof="0" dirty="0"/>
          </a:p>
        </p:txBody>
      </p:sp>
      <p:grpSp>
        <p:nvGrpSpPr>
          <p:cNvPr id="2" name="Group 2">
            <a:extLst>
              <a:ext uri="{C183D7F6-B498-43B3-948B-1728B52AA6E4}">
                <adec:decorative xmlns:adec="http://schemas.microsoft.com/office/drawing/2017/decorative" val="1"/>
              </a:ext>
            </a:extLst>
          </p:cNvPr>
          <p:cNvGrpSpPr/>
          <p:nvPr/>
        </p:nvGrpSpPr>
        <p:grpSpPr>
          <a:xfrm>
            <a:off x="800968" y="1918694"/>
            <a:ext cx="4522867" cy="3571561"/>
            <a:chOff x="0" y="0"/>
            <a:chExt cx="1191208" cy="940658"/>
          </a:xfrm>
        </p:grpSpPr>
        <p:sp>
          <p:nvSpPr>
            <p:cNvPr id="3" name="Freeform 3"/>
            <p:cNvSpPr/>
            <p:nvPr/>
          </p:nvSpPr>
          <p:spPr>
            <a:xfrm>
              <a:off x="0" y="0"/>
              <a:ext cx="1191208" cy="940658"/>
            </a:xfrm>
            <a:custGeom>
              <a:avLst/>
              <a:gdLst/>
              <a:ahLst/>
              <a:cxnLst/>
              <a:rect l="l" t="t" r="r" b="b"/>
              <a:pathLst>
                <a:path w="1191208" h="940658">
                  <a:moveTo>
                    <a:pt x="95857" y="0"/>
                  </a:moveTo>
                  <a:lnTo>
                    <a:pt x="1095351" y="0"/>
                  </a:lnTo>
                  <a:cubicBezTo>
                    <a:pt x="1148291" y="0"/>
                    <a:pt x="1191208" y="42917"/>
                    <a:pt x="1191208" y="95857"/>
                  </a:cubicBezTo>
                  <a:lnTo>
                    <a:pt x="1191208" y="844801"/>
                  </a:lnTo>
                  <a:cubicBezTo>
                    <a:pt x="1191208" y="897741"/>
                    <a:pt x="1148291" y="940658"/>
                    <a:pt x="1095351" y="940658"/>
                  </a:cubicBezTo>
                  <a:lnTo>
                    <a:pt x="95857" y="940658"/>
                  </a:lnTo>
                  <a:cubicBezTo>
                    <a:pt x="42917" y="940658"/>
                    <a:pt x="0" y="897741"/>
                    <a:pt x="0" y="844801"/>
                  </a:cubicBezTo>
                  <a:lnTo>
                    <a:pt x="0" y="95857"/>
                  </a:lnTo>
                  <a:cubicBezTo>
                    <a:pt x="0" y="42917"/>
                    <a:pt x="42917" y="0"/>
                    <a:pt x="95857" y="0"/>
                  </a:cubicBezTo>
                  <a:close/>
                </a:path>
              </a:pathLst>
            </a:custGeom>
            <a:ln w="28575" cap="rnd">
              <a:solidFill>
                <a:srgbClr val="FFFFFF"/>
              </a:solidFill>
              <a:prstDash val="solid"/>
              <a:round/>
            </a:ln>
          </p:spPr>
          <p:txBody>
            <a:bodyPr/>
            <a:lstStyle/>
            <a:p>
              <a:endParaRPr lang="en-US" noProof="0" dirty="0"/>
            </a:p>
          </p:txBody>
        </p:sp>
        <p:sp>
          <p:nvSpPr>
            <p:cNvPr id="4" name="TextBox 4"/>
            <p:cNvSpPr txBox="1"/>
            <p:nvPr/>
          </p:nvSpPr>
          <p:spPr>
            <a:xfrm>
              <a:off x="0" y="-66675"/>
              <a:ext cx="1191208" cy="1007333"/>
            </a:xfrm>
            <a:prstGeom prst="rect">
              <a:avLst/>
            </a:prstGeom>
          </p:spPr>
          <p:txBody>
            <a:bodyPr lIns="50800" tIns="50800" rIns="50800" bIns="50800" rtlCol="0" anchor="ctr"/>
            <a:lstStyle/>
            <a:p>
              <a:pPr algn="ctr">
                <a:lnSpc>
                  <a:spcPts val="3151"/>
                </a:lnSpc>
              </a:pPr>
              <a:endParaRPr lang="en-US" noProof="0" dirty="0"/>
            </a:p>
          </p:txBody>
        </p:sp>
      </p:grpSp>
      <p:grpSp>
        <p:nvGrpSpPr>
          <p:cNvPr id="5" name="Group 5">
            <a:extLst>
              <a:ext uri="{C183D7F6-B498-43B3-948B-1728B52AA6E4}">
                <adec:decorative xmlns:adec="http://schemas.microsoft.com/office/drawing/2017/decorative" val="1"/>
              </a:ext>
            </a:extLst>
          </p:cNvPr>
          <p:cNvGrpSpPr/>
          <p:nvPr/>
        </p:nvGrpSpPr>
        <p:grpSpPr>
          <a:xfrm>
            <a:off x="803986" y="5688741"/>
            <a:ext cx="4522867" cy="3619424"/>
            <a:chOff x="0" y="0"/>
            <a:chExt cx="1036672" cy="829596"/>
          </a:xfrm>
        </p:grpSpPr>
        <p:sp>
          <p:nvSpPr>
            <p:cNvPr id="6" name="Freeform 6"/>
            <p:cNvSpPr/>
            <p:nvPr/>
          </p:nvSpPr>
          <p:spPr>
            <a:xfrm>
              <a:off x="0" y="0"/>
              <a:ext cx="1036672" cy="829596"/>
            </a:xfrm>
            <a:custGeom>
              <a:avLst/>
              <a:gdLst/>
              <a:ahLst/>
              <a:cxnLst/>
              <a:rect l="l" t="t" r="r" b="b"/>
              <a:pathLst>
                <a:path w="1036672" h="829596">
                  <a:moveTo>
                    <a:pt x="95857" y="0"/>
                  </a:moveTo>
                  <a:lnTo>
                    <a:pt x="940815" y="0"/>
                  </a:lnTo>
                  <a:cubicBezTo>
                    <a:pt x="966238" y="0"/>
                    <a:pt x="990619" y="10099"/>
                    <a:pt x="1008596" y="28076"/>
                  </a:cubicBezTo>
                  <a:cubicBezTo>
                    <a:pt x="1026573" y="46052"/>
                    <a:pt x="1036672" y="70434"/>
                    <a:pt x="1036672" y="95857"/>
                  </a:cubicBezTo>
                  <a:lnTo>
                    <a:pt x="1036672" y="733740"/>
                  </a:lnTo>
                  <a:cubicBezTo>
                    <a:pt x="1036672" y="786680"/>
                    <a:pt x="993755" y="829596"/>
                    <a:pt x="940815" y="829596"/>
                  </a:cubicBezTo>
                  <a:lnTo>
                    <a:pt x="95857" y="829596"/>
                  </a:lnTo>
                  <a:cubicBezTo>
                    <a:pt x="42917" y="829596"/>
                    <a:pt x="0" y="786680"/>
                    <a:pt x="0" y="733740"/>
                  </a:cubicBezTo>
                  <a:lnTo>
                    <a:pt x="0" y="95857"/>
                  </a:lnTo>
                  <a:cubicBezTo>
                    <a:pt x="0" y="42917"/>
                    <a:pt x="42917" y="0"/>
                    <a:pt x="95857" y="0"/>
                  </a:cubicBezTo>
                  <a:close/>
                </a:path>
              </a:pathLst>
            </a:custGeom>
            <a:gradFill rotWithShape="1">
              <a:gsLst>
                <a:gs pos="0">
                  <a:srgbClr val="000000">
                    <a:alpha val="78000"/>
                  </a:srgbClr>
                </a:gs>
                <a:gs pos="100000">
                  <a:srgbClr val="DDDDDD">
                    <a:alpha val="14820"/>
                  </a:srgbClr>
                </a:gs>
              </a:gsLst>
              <a:lin ang="2700000"/>
            </a:gradFill>
          </p:spPr>
          <p:txBody>
            <a:bodyPr/>
            <a:lstStyle/>
            <a:p>
              <a:endParaRPr lang="en-US" noProof="0" dirty="0"/>
            </a:p>
          </p:txBody>
        </p:sp>
        <p:sp>
          <p:nvSpPr>
            <p:cNvPr id="7" name="TextBox 7"/>
            <p:cNvSpPr txBox="1"/>
            <p:nvPr/>
          </p:nvSpPr>
          <p:spPr>
            <a:xfrm>
              <a:off x="0" y="-66675"/>
              <a:ext cx="1036672" cy="896271"/>
            </a:xfrm>
            <a:prstGeom prst="rect">
              <a:avLst/>
            </a:prstGeom>
          </p:spPr>
          <p:txBody>
            <a:bodyPr lIns="50800" tIns="50800" rIns="50800" bIns="50800" rtlCol="0" anchor="ctr"/>
            <a:lstStyle/>
            <a:p>
              <a:pPr algn="ctr">
                <a:lnSpc>
                  <a:spcPts val="3151"/>
                </a:lnSpc>
              </a:pPr>
              <a:endParaRPr lang="en-US" noProof="0" dirty="0"/>
            </a:p>
          </p:txBody>
        </p:sp>
      </p:grpSp>
      <p:sp>
        <p:nvSpPr>
          <p:cNvPr id="8" name="Freeform 8">
            <a:extLs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3"/>
            <a:stretch>
              <a:fillRect/>
            </a:stretch>
          </a:blipFill>
        </p:spPr>
        <p:txBody>
          <a:bodyPr/>
          <a:lstStyle/>
          <a:p>
            <a:endParaRPr lang="en-US" noProof="0" dirty="0"/>
          </a:p>
        </p:txBody>
      </p:sp>
      <p:sp>
        <p:nvSpPr>
          <p:cNvPr id="9" name="Freeform 9">
            <a:extLst>
              <a:ext uri="{C183D7F6-B498-43B3-948B-1728B52AA6E4}">
                <adec:decorative xmlns:adec="http://schemas.microsoft.com/office/drawing/2017/decorative" val="1"/>
              </a:ext>
            </a:extLst>
          </p:cNvPr>
          <p:cNvSpPr/>
          <p:nvPr/>
        </p:nvSpPr>
        <p:spPr>
          <a:xfrm>
            <a:off x="6041247" y="1822988"/>
            <a:ext cx="7868055" cy="7435312"/>
          </a:xfrm>
          <a:prstGeom prst="roundRect">
            <a:avLst>
              <a:gd name="adj" fmla="val 4856"/>
            </a:avLst>
          </a:prstGeom>
          <a:blipFill>
            <a:blip r:embed="rId4"/>
            <a:stretch>
              <a:fillRect/>
            </a:stretch>
          </a:blipFill>
        </p:spPr>
        <p:txBody>
          <a:bodyPr/>
          <a:lstStyle/>
          <a:p>
            <a:endParaRPr lang="en-US" noProof="0" dirty="0"/>
          </a:p>
        </p:txBody>
      </p:sp>
      <p:sp>
        <p:nvSpPr>
          <p:cNvPr id="10" name="Freeform 10">
            <a:extLst>
              <a:ext uri="{C183D7F6-B498-43B3-948B-1728B52AA6E4}">
                <adec:decorative xmlns:adec="http://schemas.microsoft.com/office/drawing/2017/decorative" val="1"/>
              </a:ext>
            </a:extLst>
          </p:cNvPr>
          <p:cNvSpPr>
            <a:spLocks/>
          </p:cNvSpPr>
          <p:nvPr/>
        </p:nvSpPr>
        <p:spPr>
          <a:xfrm>
            <a:off x="14410251" y="2552701"/>
            <a:ext cx="3127028" cy="6705600"/>
          </a:xfrm>
          <a:prstGeom prst="roundRect">
            <a:avLst>
              <a:gd name="adj" fmla="val 14640"/>
            </a:avLst>
          </a:prstGeom>
          <a:blipFill>
            <a:blip r:embed="rId5"/>
            <a:stretch>
              <a:fillRect b="-8449"/>
            </a:stretch>
          </a:blipFill>
        </p:spPr>
        <p:txBody>
          <a:bodyPr/>
          <a:lstStyle/>
          <a:p>
            <a:endParaRPr lang="en-US" noProof="0" dirty="0"/>
          </a:p>
        </p:txBody>
      </p:sp>
      <p:sp>
        <p:nvSpPr>
          <p:cNvPr id="11" name="TextBox 11"/>
          <p:cNvSpPr txBox="1"/>
          <p:nvPr/>
        </p:nvSpPr>
        <p:spPr>
          <a:xfrm>
            <a:off x="9144000" y="841660"/>
            <a:ext cx="1662550" cy="388633"/>
          </a:xfrm>
          <a:prstGeom prst="rect">
            <a:avLst/>
          </a:prstGeom>
        </p:spPr>
        <p:txBody>
          <a:bodyPr lIns="0" tIns="0" rIns="0" bIns="0" rtlCol="0" anchor="t">
            <a:spAutoFit/>
          </a:bodyPr>
          <a:lstStyle/>
          <a:p>
            <a:pPr lvl="0" algn="r">
              <a:lnSpc>
                <a:spcPts val="3151"/>
              </a:lnSpc>
              <a:spcBef>
                <a:spcPct val="0"/>
              </a:spcBef>
            </a:pPr>
            <a:r>
              <a:rPr lang="en-US" sz="2251" b="1" noProof="0" dirty="0">
                <a:solidFill>
                  <a:srgbClr val="FFFFFF"/>
                </a:solidFill>
                <a:latin typeface="Poppins Bold"/>
                <a:ea typeface="Poppins Bold"/>
                <a:cs typeface="Poppins Bold"/>
                <a:sym typeface="Poppins Bold"/>
              </a:rPr>
              <a:t>Features</a:t>
            </a:r>
          </a:p>
        </p:txBody>
      </p:sp>
      <p:sp>
        <p:nvSpPr>
          <p:cNvPr id="12" name="TextBox 12"/>
          <p:cNvSpPr txBox="1"/>
          <p:nvPr/>
        </p:nvSpPr>
        <p:spPr>
          <a:xfrm>
            <a:off x="11417845" y="641635"/>
            <a:ext cx="1907082" cy="809591"/>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Backend technologies</a:t>
            </a:r>
          </a:p>
        </p:txBody>
      </p:sp>
      <p:sp>
        <p:nvSpPr>
          <p:cNvPr id="13" name="TextBox 13"/>
          <p:cNvSpPr txBox="1"/>
          <p:nvPr/>
        </p:nvSpPr>
        <p:spPr>
          <a:xfrm>
            <a:off x="13726729" y="819695"/>
            <a:ext cx="1916881" cy="409541"/>
          </a:xfrm>
          <a:prstGeom prst="rect">
            <a:avLst/>
          </a:prstGeom>
        </p:spPr>
        <p:txBody>
          <a:bodyPr lIns="0" tIns="0" rIns="0" bIns="0" rtlCol="0" anchor="t">
            <a:spAutoFit/>
          </a:bodyPr>
          <a:lstStyle/>
          <a:p>
            <a:pPr marL="0" lvl="0" indent="0" algn="ctr">
              <a:lnSpc>
                <a:spcPts val="3151"/>
              </a:lnSpc>
              <a:spcBef>
                <a:spcPct val="0"/>
              </a:spcBef>
            </a:pPr>
            <a:r>
              <a:rPr lang="en-US" sz="2251" noProof="0" dirty="0">
                <a:solidFill>
                  <a:srgbClr val="FFFFFF"/>
                </a:solidFill>
                <a:latin typeface="Poppins"/>
                <a:ea typeface="Poppins"/>
                <a:cs typeface="Poppins"/>
                <a:sym typeface="Poppins"/>
              </a:rPr>
              <a:t>API</a:t>
            </a:r>
          </a:p>
        </p:txBody>
      </p:sp>
      <p:sp>
        <p:nvSpPr>
          <p:cNvPr id="14" name="TextBox 14"/>
          <p:cNvSpPr txBox="1"/>
          <p:nvPr/>
        </p:nvSpPr>
        <p:spPr>
          <a:xfrm>
            <a:off x="15034325" y="841660"/>
            <a:ext cx="2224975" cy="388633"/>
          </a:xfrm>
          <a:prstGeom prst="rect">
            <a:avLst/>
          </a:prstGeom>
        </p:spPr>
        <p:txBody>
          <a:bodyPr lIns="0" tIns="0" rIns="0" bIns="0" rtlCol="0" anchor="t">
            <a:spAutoFit/>
          </a:bodyPr>
          <a:lstStyle/>
          <a:p>
            <a:pPr lvl="0" algn="r">
              <a:lnSpc>
                <a:spcPts val="3151"/>
              </a:lnSpc>
              <a:spcBef>
                <a:spcPct val="0"/>
              </a:spcBef>
            </a:pPr>
            <a:r>
              <a:rPr lang="en-US" sz="2251" noProof="0" dirty="0">
                <a:solidFill>
                  <a:srgbClr val="FFFFFF"/>
                </a:solidFill>
                <a:latin typeface="Poppins"/>
                <a:ea typeface="Poppins"/>
                <a:cs typeface="Poppins"/>
                <a:sym typeface="Poppins"/>
              </a:rPr>
              <a:t>Database</a:t>
            </a:r>
          </a:p>
        </p:txBody>
      </p:sp>
      <p:sp>
        <p:nvSpPr>
          <p:cNvPr id="15" name="TextBox 15"/>
          <p:cNvSpPr txBox="1"/>
          <p:nvPr/>
        </p:nvSpPr>
        <p:spPr>
          <a:xfrm>
            <a:off x="1264808" y="6250790"/>
            <a:ext cx="3601222" cy="2541914"/>
          </a:xfrm>
          <a:prstGeom prst="rect">
            <a:avLst/>
          </a:prstGeom>
        </p:spPr>
        <p:txBody>
          <a:bodyPr lIns="0" tIns="0" rIns="0" bIns="0" rtlCol="0" anchor="t">
            <a:spAutoFit/>
          </a:bodyPr>
          <a:lstStyle/>
          <a:p>
            <a:pPr marL="692315" lvl="1" indent="-346158">
              <a:lnSpc>
                <a:spcPts val="3270"/>
              </a:lnSpc>
              <a:buFont typeface="Arial"/>
              <a:buChar char="•"/>
            </a:pPr>
            <a:r>
              <a:rPr lang="en-US" sz="3206" b="1" spc="-144" noProof="0" dirty="0">
                <a:solidFill>
                  <a:srgbClr val="FFFFFF"/>
                </a:solidFill>
                <a:latin typeface="Telegraf Bold"/>
                <a:ea typeface="Telegraf Bold"/>
                <a:cs typeface="Telegraf Bold"/>
                <a:sym typeface="Telegraf Bold"/>
              </a:rPr>
              <a:t>Login / Register</a:t>
            </a:r>
          </a:p>
          <a:p>
            <a:pPr marL="692315" lvl="1" indent="-346158">
              <a:lnSpc>
                <a:spcPts val="3270"/>
              </a:lnSpc>
              <a:buFont typeface="Arial"/>
              <a:buChar char="•"/>
            </a:pPr>
            <a:r>
              <a:rPr lang="en-US" sz="3206" b="1" spc="-144" noProof="0" dirty="0">
                <a:solidFill>
                  <a:srgbClr val="FFFFFF"/>
                </a:solidFill>
                <a:latin typeface="Telegraf Bold"/>
                <a:ea typeface="Telegraf Bold"/>
                <a:cs typeface="Telegraf Bold"/>
                <a:sym typeface="Telegraf Bold"/>
              </a:rPr>
              <a:t>Dashboard</a:t>
            </a:r>
          </a:p>
          <a:p>
            <a:pPr marL="692315" lvl="1" indent="-346158">
              <a:lnSpc>
                <a:spcPts val="3270"/>
              </a:lnSpc>
              <a:buFont typeface="Arial"/>
              <a:buChar char="•"/>
            </a:pPr>
            <a:r>
              <a:rPr lang="en-US" sz="3206" b="1" spc="-144" noProof="0" dirty="0">
                <a:solidFill>
                  <a:srgbClr val="FFFFFF"/>
                </a:solidFill>
                <a:latin typeface="Telegraf Bold"/>
                <a:ea typeface="Telegraf Bold"/>
                <a:cs typeface="Telegraf Bold"/>
                <a:sym typeface="Telegraf Bold"/>
              </a:rPr>
              <a:t>Booking Process</a:t>
            </a:r>
          </a:p>
          <a:p>
            <a:pPr marL="692315" lvl="1" indent="-346158">
              <a:lnSpc>
                <a:spcPts val="3270"/>
              </a:lnSpc>
              <a:buFont typeface="Arial"/>
              <a:buChar char="•"/>
            </a:pPr>
            <a:r>
              <a:rPr lang="en-US" sz="3206" b="1" spc="-144" noProof="0" dirty="0">
                <a:solidFill>
                  <a:srgbClr val="FFFFFF"/>
                </a:solidFill>
                <a:latin typeface="Telegraf Bold"/>
                <a:ea typeface="Telegraf Bold"/>
                <a:cs typeface="Telegraf Bold"/>
                <a:sym typeface="Telegraf Bold"/>
              </a:rPr>
              <a:t>Equipment List</a:t>
            </a:r>
          </a:p>
          <a:p>
            <a:pPr marL="692315" lvl="1" indent="-346158">
              <a:lnSpc>
                <a:spcPts val="3270"/>
              </a:lnSpc>
              <a:buFont typeface="Arial"/>
              <a:buChar char="•"/>
            </a:pPr>
            <a:r>
              <a:rPr lang="en-US" sz="3206" b="1" spc="-144" noProof="0" dirty="0">
                <a:solidFill>
                  <a:srgbClr val="FFFFFF"/>
                </a:solidFill>
                <a:latin typeface="Telegraf Bold"/>
                <a:ea typeface="Telegraf Bold"/>
                <a:cs typeface="Telegraf Bold"/>
                <a:sym typeface="Telegraf Bold"/>
              </a:rPr>
              <a:t>Responsive UI</a:t>
            </a:r>
          </a:p>
        </p:txBody>
      </p:sp>
      <p:sp>
        <p:nvSpPr>
          <p:cNvPr id="16" name="TextBox 16"/>
          <p:cNvSpPr txBox="1">
            <a:spLocks noGrp="1"/>
          </p:cNvSpPr>
          <p:nvPr>
            <p:ph type="title" idx="4294967295"/>
          </p:nvPr>
        </p:nvSpPr>
        <p:spPr>
          <a:xfrm>
            <a:off x="1291434" y="2563988"/>
            <a:ext cx="3541934" cy="215714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gn="just">
              <a:lnSpc>
                <a:spcPts val="8677"/>
              </a:lnSpc>
              <a:spcBef>
                <a:spcPts val="0"/>
              </a:spcBef>
              <a:defRPr/>
            </a:pPr>
            <a:r>
              <a:rPr lang="en-US" sz="6197" spc="-272" noProof="0" dirty="0">
                <a:solidFill>
                  <a:srgbClr val="FFFFFF"/>
                </a:solidFill>
                <a:latin typeface="Open Sauce"/>
                <a:ea typeface="Open Sauce"/>
                <a:cs typeface="Open Sauce"/>
                <a:sym typeface="Open Sauce"/>
              </a:rPr>
              <a:t>Front-end features</a:t>
            </a:r>
            <a:endParaRPr kumimoji="0" lang="en-US" sz="6197" b="0" i="0" u="none" strike="noStrike" kern="1200" cap="none" spc="-272" normalizeH="0" baseline="0" noProof="0" dirty="0">
              <a:ln>
                <a:noFill/>
              </a:ln>
              <a:solidFill>
                <a:srgbClr val="FFFFFF"/>
              </a:solidFill>
              <a:effectLst/>
              <a:uLnTx/>
              <a:uFillTx/>
              <a:latin typeface="Open Sauce"/>
              <a:ea typeface="Open Sauce"/>
              <a:cs typeface="Open Sauce"/>
              <a:sym typeface="Open Sauce"/>
            </a:endParaRPr>
          </a:p>
        </p:txBody>
      </p:sp>
      <p:pic>
        <p:nvPicPr>
          <p:cNvPr id="20" name="Kép 19" descr="Mobil nézet">
            <a:extLst>
              <a:ext uri="{FF2B5EF4-FFF2-40B4-BE49-F238E27FC236}">
                <a16:creationId xmlns:a16="http://schemas.microsoft.com/office/drawing/2014/main" id="{E40861DD-366A-DF4C-8019-2EDC7527E23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154647" y="2247899"/>
            <a:ext cx="3638237" cy="7219405"/>
          </a:xfrm>
          <a:prstGeom prst="rect">
            <a:avLst/>
          </a:prstGeom>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7" name="Freeform 3">
            <a:extLst>
              <a:ext uri="{FF2B5EF4-FFF2-40B4-BE49-F238E27FC236}">
                <a16:creationId xmlns:a16="http://schemas.microsoft.com/office/drawing/2014/main" id="{59F9F869-9CA2-69A1-D377-63DBC0028D9D}"/>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grpSp>
        <p:nvGrpSpPr>
          <p:cNvPr id="2" name="Group 2" descr="Api diagramm"/>
          <p:cNvGrpSpPr/>
          <p:nvPr/>
        </p:nvGrpSpPr>
        <p:grpSpPr>
          <a:xfrm>
            <a:off x="5283561" y="1837745"/>
            <a:ext cx="12175993" cy="8059017"/>
            <a:chOff x="0" y="0"/>
            <a:chExt cx="1924824" cy="1279851"/>
          </a:xfrm>
        </p:grpSpPr>
        <p:sp>
          <p:nvSpPr>
            <p:cNvPr id="3" name="Freeform 3"/>
            <p:cNvSpPr/>
            <p:nvPr/>
          </p:nvSpPr>
          <p:spPr>
            <a:xfrm>
              <a:off x="0" y="0"/>
              <a:ext cx="1924824" cy="1279851"/>
            </a:xfrm>
            <a:custGeom>
              <a:avLst/>
              <a:gdLst/>
              <a:ahLst/>
              <a:cxnLst/>
              <a:rect l="l" t="t" r="r" b="b"/>
              <a:pathLst>
                <a:path w="1924824" h="1279851">
                  <a:moveTo>
                    <a:pt x="34896" y="0"/>
                  </a:moveTo>
                  <a:lnTo>
                    <a:pt x="1889929" y="0"/>
                  </a:lnTo>
                  <a:cubicBezTo>
                    <a:pt x="1899183" y="0"/>
                    <a:pt x="1908059" y="3676"/>
                    <a:pt x="1914603" y="10221"/>
                  </a:cubicBezTo>
                  <a:cubicBezTo>
                    <a:pt x="1921148" y="16765"/>
                    <a:pt x="1924824" y="25641"/>
                    <a:pt x="1924824" y="34896"/>
                  </a:cubicBezTo>
                  <a:lnTo>
                    <a:pt x="1924824" y="1244956"/>
                  </a:lnTo>
                  <a:cubicBezTo>
                    <a:pt x="1924824" y="1254211"/>
                    <a:pt x="1921148" y="1263087"/>
                    <a:pt x="1914603" y="1269631"/>
                  </a:cubicBezTo>
                  <a:cubicBezTo>
                    <a:pt x="1908059" y="1276175"/>
                    <a:pt x="1899183" y="1279851"/>
                    <a:pt x="1889929" y="1279851"/>
                  </a:cubicBezTo>
                  <a:lnTo>
                    <a:pt x="34896" y="1279851"/>
                  </a:lnTo>
                  <a:cubicBezTo>
                    <a:pt x="25641" y="1279851"/>
                    <a:pt x="16765" y="1276175"/>
                    <a:pt x="10221" y="1269631"/>
                  </a:cubicBezTo>
                  <a:cubicBezTo>
                    <a:pt x="3676" y="1263087"/>
                    <a:pt x="0" y="1254211"/>
                    <a:pt x="0" y="1244956"/>
                  </a:cubicBezTo>
                  <a:lnTo>
                    <a:pt x="0" y="34896"/>
                  </a:lnTo>
                  <a:cubicBezTo>
                    <a:pt x="0" y="25641"/>
                    <a:pt x="3676" y="16765"/>
                    <a:pt x="10221" y="10221"/>
                  </a:cubicBezTo>
                  <a:cubicBezTo>
                    <a:pt x="16765" y="3676"/>
                    <a:pt x="25641" y="0"/>
                    <a:pt x="34896" y="0"/>
                  </a:cubicBezTo>
                  <a:close/>
                </a:path>
              </a:pathLst>
            </a:custGeom>
            <a:blipFill>
              <a:blip r:embed="rId3"/>
              <a:stretch>
                <a:fillRect t="-2544" b="-2544"/>
              </a:stretch>
            </a:blipFill>
          </p:spPr>
          <p:txBody>
            <a:bodyPr/>
            <a:lstStyle/>
            <a:p>
              <a:endParaRPr lang="en-US" noProof="0" dirty="0"/>
            </a:p>
          </p:txBody>
        </p:sp>
      </p:grpSp>
      <p:grpSp>
        <p:nvGrpSpPr>
          <p:cNvPr id="4" name="Group 4">
            <a:extLst>
              <a:ext uri="{C183D7F6-B498-43B3-948B-1728B52AA6E4}">
                <adec:decorative xmlns:adec="http://schemas.microsoft.com/office/drawing/2017/decorative" val="1"/>
              </a:ext>
            </a:extLst>
          </p:cNvPr>
          <p:cNvGrpSpPr/>
          <p:nvPr/>
        </p:nvGrpSpPr>
        <p:grpSpPr>
          <a:xfrm>
            <a:off x="803986" y="1894724"/>
            <a:ext cx="4121613" cy="2477588"/>
            <a:chOff x="0" y="0"/>
            <a:chExt cx="1085528" cy="652533"/>
          </a:xfrm>
        </p:grpSpPr>
        <p:sp>
          <p:nvSpPr>
            <p:cNvPr id="5" name="Freeform 5"/>
            <p:cNvSpPr/>
            <p:nvPr/>
          </p:nvSpPr>
          <p:spPr>
            <a:xfrm>
              <a:off x="0" y="0"/>
              <a:ext cx="1085528" cy="652533"/>
            </a:xfrm>
            <a:custGeom>
              <a:avLst/>
              <a:gdLst/>
              <a:ahLst/>
              <a:cxnLst/>
              <a:rect l="l" t="t" r="r" b="b"/>
              <a:pathLst>
                <a:path w="1085528" h="652533">
                  <a:moveTo>
                    <a:pt x="105189" y="0"/>
                  </a:moveTo>
                  <a:lnTo>
                    <a:pt x="980339" y="0"/>
                  </a:lnTo>
                  <a:cubicBezTo>
                    <a:pt x="1038433" y="0"/>
                    <a:pt x="1085528" y="47095"/>
                    <a:pt x="1085528" y="105189"/>
                  </a:cubicBezTo>
                  <a:lnTo>
                    <a:pt x="1085528" y="547345"/>
                  </a:lnTo>
                  <a:cubicBezTo>
                    <a:pt x="1085528" y="575242"/>
                    <a:pt x="1074445" y="601998"/>
                    <a:pt x="1054719" y="621724"/>
                  </a:cubicBezTo>
                  <a:cubicBezTo>
                    <a:pt x="1034992" y="641451"/>
                    <a:pt x="1008237" y="652533"/>
                    <a:pt x="980339" y="652533"/>
                  </a:cubicBezTo>
                  <a:lnTo>
                    <a:pt x="105189" y="652533"/>
                  </a:lnTo>
                  <a:cubicBezTo>
                    <a:pt x="77291" y="652533"/>
                    <a:pt x="50536" y="641451"/>
                    <a:pt x="30809" y="621724"/>
                  </a:cubicBezTo>
                  <a:cubicBezTo>
                    <a:pt x="11082" y="601998"/>
                    <a:pt x="0" y="575242"/>
                    <a:pt x="0" y="547345"/>
                  </a:cubicBezTo>
                  <a:lnTo>
                    <a:pt x="0" y="105189"/>
                  </a:lnTo>
                  <a:cubicBezTo>
                    <a:pt x="0" y="77291"/>
                    <a:pt x="11082" y="50536"/>
                    <a:pt x="30809" y="30809"/>
                  </a:cubicBezTo>
                  <a:cubicBezTo>
                    <a:pt x="50536" y="11082"/>
                    <a:pt x="77291" y="0"/>
                    <a:pt x="105189" y="0"/>
                  </a:cubicBezTo>
                  <a:close/>
                </a:path>
              </a:pathLst>
            </a:custGeom>
            <a:gradFill rotWithShape="1">
              <a:gsLst>
                <a:gs pos="0">
                  <a:srgbClr val="000000">
                    <a:alpha val="78000"/>
                  </a:srgbClr>
                </a:gs>
                <a:gs pos="100000">
                  <a:srgbClr val="DDDDDD">
                    <a:alpha val="14820"/>
                  </a:srgbClr>
                </a:gs>
              </a:gsLst>
              <a:lin ang="2700000"/>
            </a:gradFill>
          </p:spPr>
          <p:txBody>
            <a:bodyPr/>
            <a:lstStyle/>
            <a:p>
              <a:endParaRPr lang="en-US" noProof="0" dirty="0"/>
            </a:p>
          </p:txBody>
        </p:sp>
        <p:sp>
          <p:nvSpPr>
            <p:cNvPr id="6" name="TextBox 6"/>
            <p:cNvSpPr txBox="1"/>
            <p:nvPr/>
          </p:nvSpPr>
          <p:spPr>
            <a:xfrm>
              <a:off x="0" y="-66675"/>
              <a:ext cx="1085528" cy="719208"/>
            </a:xfrm>
            <a:prstGeom prst="rect">
              <a:avLst/>
            </a:prstGeom>
          </p:spPr>
          <p:txBody>
            <a:bodyPr lIns="50800" tIns="50800" rIns="50800" bIns="50800" rtlCol="0" anchor="ctr"/>
            <a:lstStyle/>
            <a:p>
              <a:pPr algn="ctr">
                <a:lnSpc>
                  <a:spcPts val="3151"/>
                </a:lnSpc>
              </a:pPr>
              <a:endParaRPr lang="en-US" noProof="0" dirty="0"/>
            </a:p>
          </p:txBody>
        </p:sp>
      </p:grpSp>
      <p:grpSp>
        <p:nvGrpSpPr>
          <p:cNvPr id="7" name="Group 7">
            <a:extLst>
              <a:ext uri="{C183D7F6-B498-43B3-948B-1728B52AA6E4}">
                <adec:decorative xmlns:adec="http://schemas.microsoft.com/office/drawing/2017/decorative" val="1"/>
              </a:ext>
            </a:extLst>
          </p:cNvPr>
          <p:cNvGrpSpPr/>
          <p:nvPr/>
        </p:nvGrpSpPr>
        <p:grpSpPr>
          <a:xfrm>
            <a:off x="803986" y="4883665"/>
            <a:ext cx="4121613" cy="4610927"/>
            <a:chOff x="0" y="0"/>
            <a:chExt cx="1085528" cy="1214401"/>
          </a:xfrm>
        </p:grpSpPr>
        <p:sp>
          <p:nvSpPr>
            <p:cNvPr id="8" name="Freeform 8"/>
            <p:cNvSpPr/>
            <p:nvPr/>
          </p:nvSpPr>
          <p:spPr>
            <a:xfrm>
              <a:off x="0" y="0"/>
              <a:ext cx="1085528" cy="1214401"/>
            </a:xfrm>
            <a:custGeom>
              <a:avLst/>
              <a:gdLst/>
              <a:ahLst/>
              <a:cxnLst/>
              <a:rect l="l" t="t" r="r" b="b"/>
              <a:pathLst>
                <a:path w="1085528" h="1214401">
                  <a:moveTo>
                    <a:pt x="105189" y="0"/>
                  </a:moveTo>
                  <a:lnTo>
                    <a:pt x="980339" y="0"/>
                  </a:lnTo>
                  <a:cubicBezTo>
                    <a:pt x="1038433" y="0"/>
                    <a:pt x="1085528" y="47095"/>
                    <a:pt x="1085528" y="105189"/>
                  </a:cubicBezTo>
                  <a:lnTo>
                    <a:pt x="1085528" y="1109212"/>
                  </a:lnTo>
                  <a:cubicBezTo>
                    <a:pt x="1085528" y="1137110"/>
                    <a:pt x="1074445" y="1163865"/>
                    <a:pt x="1054719" y="1183592"/>
                  </a:cubicBezTo>
                  <a:cubicBezTo>
                    <a:pt x="1034992" y="1203318"/>
                    <a:pt x="1008237" y="1214401"/>
                    <a:pt x="980339" y="1214401"/>
                  </a:cubicBezTo>
                  <a:lnTo>
                    <a:pt x="105189" y="1214401"/>
                  </a:lnTo>
                  <a:cubicBezTo>
                    <a:pt x="77291" y="1214401"/>
                    <a:pt x="50536" y="1203318"/>
                    <a:pt x="30809" y="1183592"/>
                  </a:cubicBezTo>
                  <a:cubicBezTo>
                    <a:pt x="11082" y="1163865"/>
                    <a:pt x="0" y="1137110"/>
                    <a:pt x="0" y="1109212"/>
                  </a:cubicBezTo>
                  <a:lnTo>
                    <a:pt x="0" y="105189"/>
                  </a:lnTo>
                  <a:cubicBezTo>
                    <a:pt x="0" y="77291"/>
                    <a:pt x="11082" y="50536"/>
                    <a:pt x="30809" y="30809"/>
                  </a:cubicBezTo>
                  <a:cubicBezTo>
                    <a:pt x="50536" y="11082"/>
                    <a:pt x="77291" y="0"/>
                    <a:pt x="105189" y="0"/>
                  </a:cubicBezTo>
                  <a:close/>
                </a:path>
              </a:pathLst>
            </a:custGeom>
            <a:gradFill rotWithShape="1">
              <a:gsLst>
                <a:gs pos="0">
                  <a:srgbClr val="1B1F45"/>
                </a:gs>
                <a:gs pos="69000">
                  <a:srgbClr val="00A8CC"/>
                </a:gs>
                <a:gs pos="100000">
                  <a:srgbClr val="6C63FF"/>
                </a:gs>
              </a:gsLst>
              <a:path path="circle">
                <a:fillToRect r="100000" b="100000"/>
              </a:path>
              <a:tileRect l="-100000" t="-100000"/>
            </a:gradFill>
          </p:spPr>
          <p:txBody>
            <a:bodyPr/>
            <a:lstStyle/>
            <a:p>
              <a:endParaRPr lang="en-US" noProof="0" dirty="0"/>
            </a:p>
          </p:txBody>
        </p:sp>
        <p:sp>
          <p:nvSpPr>
            <p:cNvPr id="9" name="TextBox 9"/>
            <p:cNvSpPr txBox="1"/>
            <p:nvPr/>
          </p:nvSpPr>
          <p:spPr>
            <a:xfrm>
              <a:off x="0" y="-66675"/>
              <a:ext cx="1085528" cy="1281076"/>
            </a:xfrm>
            <a:prstGeom prst="rect">
              <a:avLst/>
            </a:prstGeom>
          </p:spPr>
          <p:txBody>
            <a:bodyPr lIns="50800" tIns="50800" rIns="50800" bIns="50800" rtlCol="0" anchor="ctr"/>
            <a:lstStyle/>
            <a:p>
              <a:pPr algn="ctr">
                <a:lnSpc>
                  <a:spcPts val="3151"/>
                </a:lnSpc>
              </a:pPr>
              <a:endParaRPr lang="en-US" noProof="0" dirty="0"/>
            </a:p>
          </p:txBody>
        </p:sp>
      </p:grpSp>
      <p:sp>
        <p:nvSpPr>
          <p:cNvPr id="10" name="Freeform 10">
            <a:extLs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4"/>
            <a:stretch>
              <a:fillRect/>
            </a:stretch>
          </a:blipFill>
        </p:spPr>
        <p:txBody>
          <a:bodyPr/>
          <a:lstStyle/>
          <a:p>
            <a:endParaRPr lang="en-US" noProof="0" dirty="0"/>
          </a:p>
        </p:txBody>
      </p:sp>
      <p:sp>
        <p:nvSpPr>
          <p:cNvPr id="11" name="TextBox 11"/>
          <p:cNvSpPr txBox="1"/>
          <p:nvPr/>
        </p:nvSpPr>
        <p:spPr>
          <a:xfrm>
            <a:off x="1354504" y="5775936"/>
            <a:ext cx="3020577" cy="2730556"/>
          </a:xfrm>
          <a:prstGeom prst="rect">
            <a:avLst/>
          </a:prstGeom>
        </p:spPr>
        <p:txBody>
          <a:bodyPr lIns="0" tIns="0" rIns="0" bIns="0" rtlCol="0" anchor="t">
            <a:spAutoFit/>
          </a:bodyPr>
          <a:lstStyle/>
          <a:p>
            <a:pPr marL="669286" lvl="1" indent="-334643">
              <a:lnSpc>
                <a:spcPts val="4339"/>
              </a:lnSpc>
              <a:buFont typeface="Arial"/>
              <a:buChar char="•"/>
            </a:pPr>
            <a:r>
              <a:rPr lang="en-US" sz="3099" noProof="0" dirty="0">
                <a:solidFill>
                  <a:srgbClr val="FFFFFF"/>
                </a:solidFill>
                <a:latin typeface="Poppins"/>
                <a:ea typeface="Poppins"/>
                <a:cs typeface="Poppins"/>
                <a:sym typeface="Poppins"/>
              </a:rPr>
              <a:t>Node.js</a:t>
            </a:r>
          </a:p>
          <a:p>
            <a:pPr marL="669286" lvl="1" indent="-334643">
              <a:lnSpc>
                <a:spcPts val="4339"/>
              </a:lnSpc>
              <a:buFont typeface="Arial"/>
              <a:buChar char="•"/>
            </a:pPr>
            <a:r>
              <a:rPr lang="en-US" sz="3099" noProof="0" dirty="0">
                <a:solidFill>
                  <a:srgbClr val="FFFFFF"/>
                </a:solidFill>
                <a:latin typeface="Poppins"/>
                <a:ea typeface="Poppins"/>
                <a:cs typeface="Poppins"/>
                <a:sym typeface="Poppins"/>
              </a:rPr>
              <a:t>Express</a:t>
            </a:r>
          </a:p>
          <a:p>
            <a:pPr marL="669286" lvl="1" indent="-334643">
              <a:lnSpc>
                <a:spcPts val="4339"/>
              </a:lnSpc>
              <a:buFont typeface="Arial"/>
              <a:buChar char="•"/>
            </a:pPr>
            <a:r>
              <a:rPr lang="en-US" sz="3099" noProof="0" dirty="0">
                <a:solidFill>
                  <a:srgbClr val="FFFFFF"/>
                </a:solidFill>
                <a:latin typeface="Poppins"/>
                <a:ea typeface="Poppins"/>
                <a:cs typeface="Poppins"/>
                <a:sym typeface="Poppins"/>
              </a:rPr>
              <a:t>REST API</a:t>
            </a:r>
          </a:p>
          <a:p>
            <a:pPr marL="669286" lvl="1" indent="-334643">
              <a:lnSpc>
                <a:spcPts val="4339"/>
              </a:lnSpc>
              <a:buFont typeface="Arial"/>
              <a:buChar char="•"/>
            </a:pPr>
            <a:r>
              <a:rPr lang="en-US" sz="3099" noProof="0" dirty="0">
                <a:solidFill>
                  <a:srgbClr val="FFFFFF"/>
                </a:solidFill>
                <a:latin typeface="Poppins"/>
                <a:ea typeface="Poppins"/>
                <a:cs typeface="Poppins"/>
                <a:sym typeface="Poppins"/>
              </a:rPr>
              <a:t>Middleware system</a:t>
            </a:r>
          </a:p>
        </p:txBody>
      </p:sp>
      <p:sp>
        <p:nvSpPr>
          <p:cNvPr id="12" name="TextBox 12"/>
          <p:cNvSpPr txBox="1">
            <a:spLocks noGrp="1"/>
          </p:cNvSpPr>
          <p:nvPr>
            <p:ph type="title" idx="4294967295"/>
          </p:nvPr>
        </p:nvSpPr>
        <p:spPr>
          <a:xfrm>
            <a:off x="1049705" y="2518825"/>
            <a:ext cx="3630174" cy="1257961"/>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gn="l">
              <a:lnSpc>
                <a:spcPts val="4704"/>
              </a:lnSpc>
              <a:spcBef>
                <a:spcPts val="0"/>
              </a:spcBef>
              <a:defRPr/>
            </a:pPr>
            <a:r>
              <a:rPr lang="en-US" sz="4612" b="1" spc="-207" noProof="0" dirty="0">
                <a:solidFill>
                  <a:srgbClr val="FFFFFF"/>
                </a:solidFill>
                <a:latin typeface="Telegraf Bold"/>
                <a:ea typeface="Telegraf Bold"/>
                <a:cs typeface="Telegraf Bold"/>
                <a:sym typeface="Telegraf Bold"/>
              </a:rPr>
              <a:t>Backend technologies</a:t>
            </a:r>
            <a:endParaRPr kumimoji="0" lang="en-US" sz="4612" b="1" i="0" u="none" strike="noStrike" kern="1200" cap="none" spc="-207" normalizeH="0" baseline="0" noProof="0" dirty="0">
              <a:ln>
                <a:noFill/>
              </a:ln>
              <a:solidFill>
                <a:srgbClr val="FFFFFF"/>
              </a:solidFill>
              <a:effectLst/>
              <a:uLnTx/>
              <a:uFillTx/>
              <a:latin typeface="Telegraf Bold"/>
              <a:ea typeface="Telegraf Bold"/>
              <a:cs typeface="Telegraf Bold"/>
              <a:sym typeface="Telegraf Bold"/>
            </a:endParaRPr>
          </a:p>
        </p:txBody>
      </p:sp>
      <p:sp>
        <p:nvSpPr>
          <p:cNvPr id="18" name="Freeform 3">
            <a:extLst>
              <a:ext uri="{FF2B5EF4-FFF2-40B4-BE49-F238E27FC236}">
                <a16:creationId xmlns:a16="http://schemas.microsoft.com/office/drawing/2014/main" id="{781E64C7-B57B-2273-4185-86A44FF1818B}"/>
              </a:ext>
              <a:ext uri="{C183D7F6-B498-43B3-948B-1728B52AA6E4}">
                <adec:decorative xmlns:adec="http://schemas.microsoft.com/office/drawing/2017/decorative" val="1"/>
              </a:ext>
            </a:extLst>
          </p:cNvPr>
          <p:cNvSpPr/>
          <p:nvPr/>
        </p:nvSpPr>
        <p:spPr>
          <a:xfrm>
            <a:off x="828446" y="777583"/>
            <a:ext cx="1111777" cy="1060162"/>
          </a:xfrm>
          <a:prstGeom prst="ellipse">
            <a:avLst/>
          </a:prstGeom>
          <a:solidFill>
            <a:srgbClr val="00A8CC">
              <a:alpha val="20000"/>
            </a:srgbClr>
          </a:solidFill>
          <a:effectLst>
            <a:softEdge rad="0"/>
          </a:effectLst>
        </p:spPr>
        <p:txBody>
          <a:bodyPr/>
          <a:lstStyle/>
          <a:p>
            <a:endParaRPr lang="en-US" noProof="0" dirty="0"/>
          </a:p>
        </p:txBody>
      </p:sp>
      <p:sp>
        <p:nvSpPr>
          <p:cNvPr id="19" name="TextBox 11">
            <a:extLst>
              <a:ext uri="{FF2B5EF4-FFF2-40B4-BE49-F238E27FC236}">
                <a16:creationId xmlns:a16="http://schemas.microsoft.com/office/drawing/2014/main" id="{3D926759-6143-7B20-27E0-D273C04B657B}"/>
              </a:ext>
            </a:extLst>
          </p:cNvPr>
          <p:cNvSpPr txBox="1"/>
          <p:nvPr/>
        </p:nvSpPr>
        <p:spPr>
          <a:xfrm>
            <a:off x="9144000" y="841660"/>
            <a:ext cx="1662550" cy="388633"/>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Features</a:t>
            </a:r>
          </a:p>
        </p:txBody>
      </p:sp>
      <p:sp>
        <p:nvSpPr>
          <p:cNvPr id="20" name="TextBox 12">
            <a:extLst>
              <a:ext uri="{FF2B5EF4-FFF2-40B4-BE49-F238E27FC236}">
                <a16:creationId xmlns:a16="http://schemas.microsoft.com/office/drawing/2014/main" id="{01DC5E9B-53F8-29CE-C11B-2D9D8F7907FA}"/>
              </a:ext>
            </a:extLst>
          </p:cNvPr>
          <p:cNvSpPr txBox="1"/>
          <p:nvPr/>
        </p:nvSpPr>
        <p:spPr>
          <a:xfrm>
            <a:off x="11417845" y="641635"/>
            <a:ext cx="1944558" cy="799001"/>
          </a:xfrm>
          <a:prstGeom prst="rect">
            <a:avLst/>
          </a:prstGeom>
        </p:spPr>
        <p:txBody>
          <a:bodyPr wrap="square" lIns="0" tIns="0" rIns="0" bIns="0" rtlCol="0" anchor="t">
            <a:spAutoFit/>
          </a:bodyPr>
          <a:lstStyle/>
          <a:p>
            <a:pPr lvl="0" algn="ctr">
              <a:lnSpc>
                <a:spcPts val="3151"/>
              </a:lnSpc>
              <a:spcBef>
                <a:spcPct val="0"/>
              </a:spcBef>
            </a:pPr>
            <a:r>
              <a:rPr lang="en-US" sz="2251" b="1" noProof="0" dirty="0">
                <a:solidFill>
                  <a:srgbClr val="FFFFFF"/>
                </a:solidFill>
                <a:latin typeface="Poppins"/>
                <a:ea typeface="Poppins"/>
                <a:cs typeface="Poppins"/>
                <a:sym typeface="Poppins"/>
              </a:rPr>
              <a:t>Backend technologies</a:t>
            </a:r>
          </a:p>
        </p:txBody>
      </p:sp>
      <p:sp>
        <p:nvSpPr>
          <p:cNvPr id="21" name="TextBox 13">
            <a:extLst>
              <a:ext uri="{FF2B5EF4-FFF2-40B4-BE49-F238E27FC236}">
                <a16:creationId xmlns:a16="http://schemas.microsoft.com/office/drawing/2014/main" id="{257E2B57-7635-27E6-7417-065E5E480D05}"/>
              </a:ext>
            </a:extLst>
          </p:cNvPr>
          <p:cNvSpPr txBox="1"/>
          <p:nvPr/>
        </p:nvSpPr>
        <p:spPr>
          <a:xfrm>
            <a:off x="13726729" y="819695"/>
            <a:ext cx="1916881" cy="409541"/>
          </a:xfrm>
          <a:prstGeom prst="rect">
            <a:avLst/>
          </a:prstGeom>
        </p:spPr>
        <p:txBody>
          <a:bodyPr lIns="0" tIns="0" rIns="0" bIns="0" rtlCol="0" anchor="t">
            <a:spAutoFit/>
          </a:bodyPr>
          <a:lstStyle/>
          <a:p>
            <a:pPr marL="0" lvl="0" indent="0" algn="ctr">
              <a:lnSpc>
                <a:spcPts val="3151"/>
              </a:lnSpc>
              <a:spcBef>
                <a:spcPct val="0"/>
              </a:spcBef>
            </a:pPr>
            <a:r>
              <a:rPr lang="en-US" sz="2251" noProof="0" dirty="0">
                <a:solidFill>
                  <a:srgbClr val="FFFFFF"/>
                </a:solidFill>
                <a:latin typeface="Poppins"/>
                <a:ea typeface="Poppins"/>
                <a:cs typeface="Poppins"/>
                <a:sym typeface="Poppins"/>
              </a:rPr>
              <a:t>API</a:t>
            </a:r>
          </a:p>
        </p:txBody>
      </p:sp>
      <p:sp>
        <p:nvSpPr>
          <p:cNvPr id="22" name="TextBox 14">
            <a:extLst>
              <a:ext uri="{FF2B5EF4-FFF2-40B4-BE49-F238E27FC236}">
                <a16:creationId xmlns:a16="http://schemas.microsoft.com/office/drawing/2014/main" id="{92956AFB-880A-A779-D682-60A26142ED28}"/>
              </a:ext>
            </a:extLst>
          </p:cNvPr>
          <p:cNvSpPr txBox="1"/>
          <p:nvPr/>
        </p:nvSpPr>
        <p:spPr>
          <a:xfrm>
            <a:off x="15034325" y="841660"/>
            <a:ext cx="2224975" cy="388633"/>
          </a:xfrm>
          <a:prstGeom prst="rect">
            <a:avLst/>
          </a:prstGeom>
        </p:spPr>
        <p:txBody>
          <a:bodyPr lIns="0" tIns="0" rIns="0" bIns="0" rtlCol="0" anchor="t">
            <a:spAutoFit/>
          </a:bodyPr>
          <a:lstStyle/>
          <a:p>
            <a:pPr lvl="0" algn="r">
              <a:lnSpc>
                <a:spcPts val="3151"/>
              </a:lnSpc>
              <a:spcBef>
                <a:spcPct val="0"/>
              </a:spcBef>
            </a:pPr>
            <a:r>
              <a:rPr lang="en-US" sz="2251" noProof="0" dirty="0">
                <a:solidFill>
                  <a:srgbClr val="FFFFFF"/>
                </a:solidFill>
                <a:latin typeface="Poppins"/>
                <a:ea typeface="Poppins"/>
                <a:cs typeface="Poppins"/>
                <a:sym typeface="Poppins"/>
              </a:rPr>
              <a:t>Database</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7" name="Freeform 3">
            <a:extLst>
              <a:ext uri="{FF2B5EF4-FFF2-40B4-BE49-F238E27FC236}">
                <a16:creationId xmlns:a16="http://schemas.microsoft.com/office/drawing/2014/main" id="{5577C61C-995D-3F45-E365-22D2213AADE9}"/>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grpSp>
        <p:nvGrpSpPr>
          <p:cNvPr id="2" name="Group 2">
            <a:extLst>
              <a:ext uri="{C183D7F6-B498-43B3-948B-1728B52AA6E4}">
                <adec:decorative xmlns:adec="http://schemas.microsoft.com/office/drawing/2017/decorative" val="1"/>
              </a:ext>
            </a:extLst>
          </p:cNvPr>
          <p:cNvGrpSpPr/>
          <p:nvPr/>
        </p:nvGrpSpPr>
        <p:grpSpPr>
          <a:xfrm>
            <a:off x="803986" y="1894724"/>
            <a:ext cx="8597596" cy="2790475"/>
            <a:chOff x="0" y="0"/>
            <a:chExt cx="2937671" cy="953464"/>
          </a:xfrm>
        </p:grpSpPr>
        <p:sp>
          <p:nvSpPr>
            <p:cNvPr id="3" name="Freeform 3"/>
            <p:cNvSpPr/>
            <p:nvPr/>
          </p:nvSpPr>
          <p:spPr>
            <a:xfrm>
              <a:off x="0" y="0"/>
              <a:ext cx="2937671" cy="953464"/>
            </a:xfrm>
            <a:custGeom>
              <a:avLst/>
              <a:gdLst/>
              <a:ahLst/>
              <a:cxnLst/>
              <a:rect l="l" t="t" r="r" b="b"/>
              <a:pathLst>
                <a:path w="2937671" h="953464">
                  <a:moveTo>
                    <a:pt x="50427" y="0"/>
                  </a:moveTo>
                  <a:lnTo>
                    <a:pt x="2887244" y="0"/>
                  </a:lnTo>
                  <a:cubicBezTo>
                    <a:pt x="2915094" y="0"/>
                    <a:pt x="2937671" y="22577"/>
                    <a:pt x="2937671" y="50427"/>
                  </a:cubicBezTo>
                  <a:lnTo>
                    <a:pt x="2937671" y="903038"/>
                  </a:lnTo>
                  <a:cubicBezTo>
                    <a:pt x="2937671" y="930887"/>
                    <a:pt x="2915094" y="953464"/>
                    <a:pt x="2887244" y="953464"/>
                  </a:cubicBezTo>
                  <a:lnTo>
                    <a:pt x="50427" y="953464"/>
                  </a:lnTo>
                  <a:cubicBezTo>
                    <a:pt x="22577" y="953464"/>
                    <a:pt x="0" y="930887"/>
                    <a:pt x="0" y="903038"/>
                  </a:cubicBezTo>
                  <a:lnTo>
                    <a:pt x="0" y="50427"/>
                  </a:lnTo>
                  <a:cubicBezTo>
                    <a:pt x="0" y="22577"/>
                    <a:pt x="22577" y="0"/>
                    <a:pt x="50427" y="0"/>
                  </a:cubicBezTo>
                  <a:close/>
                </a:path>
              </a:pathLst>
            </a:custGeom>
            <a:gradFill rotWithShape="1">
              <a:gsLst>
                <a:gs pos="0">
                  <a:srgbClr val="000000">
                    <a:alpha val="78000"/>
                  </a:srgbClr>
                </a:gs>
                <a:gs pos="100000">
                  <a:srgbClr val="DDDDDD">
                    <a:alpha val="14820"/>
                  </a:srgbClr>
                </a:gs>
              </a:gsLst>
              <a:lin ang="2700000"/>
            </a:gradFill>
          </p:spPr>
          <p:txBody>
            <a:bodyPr/>
            <a:lstStyle/>
            <a:p>
              <a:endParaRPr lang="en-US" noProof="0" dirty="0"/>
            </a:p>
          </p:txBody>
        </p:sp>
        <p:sp>
          <p:nvSpPr>
            <p:cNvPr id="4" name="TextBox 4"/>
            <p:cNvSpPr txBox="1"/>
            <p:nvPr/>
          </p:nvSpPr>
          <p:spPr>
            <a:xfrm>
              <a:off x="0" y="-66675"/>
              <a:ext cx="2937671" cy="1020139"/>
            </a:xfrm>
            <a:prstGeom prst="rect">
              <a:avLst/>
            </a:prstGeom>
          </p:spPr>
          <p:txBody>
            <a:bodyPr lIns="50800" tIns="50800" rIns="50800" bIns="50800" rtlCol="0" anchor="ctr"/>
            <a:lstStyle/>
            <a:p>
              <a:pPr algn="ctr">
                <a:lnSpc>
                  <a:spcPts val="3151"/>
                </a:lnSpc>
              </a:pPr>
              <a:endParaRPr lang="en-US" noProof="0" dirty="0"/>
            </a:p>
          </p:txBody>
        </p:sp>
      </p:grpSp>
      <p:grpSp>
        <p:nvGrpSpPr>
          <p:cNvPr id="5" name="Group 5">
            <a:extLst>
              <a:ext uri="{C183D7F6-B498-43B3-948B-1728B52AA6E4}">
                <adec:decorative xmlns:adec="http://schemas.microsoft.com/office/drawing/2017/decorative" val="1"/>
              </a:ext>
            </a:extLst>
          </p:cNvPr>
          <p:cNvGrpSpPr/>
          <p:nvPr/>
        </p:nvGrpSpPr>
        <p:grpSpPr>
          <a:xfrm>
            <a:off x="803986" y="5143500"/>
            <a:ext cx="8597596" cy="4407758"/>
            <a:chOff x="0" y="0"/>
            <a:chExt cx="2264387" cy="1160891"/>
          </a:xfrm>
        </p:grpSpPr>
        <p:sp>
          <p:nvSpPr>
            <p:cNvPr id="6" name="Freeform 6"/>
            <p:cNvSpPr/>
            <p:nvPr/>
          </p:nvSpPr>
          <p:spPr>
            <a:xfrm>
              <a:off x="0" y="0"/>
              <a:ext cx="2264387" cy="1160891"/>
            </a:xfrm>
            <a:custGeom>
              <a:avLst/>
              <a:gdLst/>
              <a:ahLst/>
              <a:cxnLst/>
              <a:rect l="l" t="t" r="r" b="b"/>
              <a:pathLst>
                <a:path w="2264387" h="1160891">
                  <a:moveTo>
                    <a:pt x="50427" y="0"/>
                  </a:moveTo>
                  <a:lnTo>
                    <a:pt x="2213961" y="0"/>
                  </a:lnTo>
                  <a:cubicBezTo>
                    <a:pt x="2241811" y="0"/>
                    <a:pt x="2264387" y="22577"/>
                    <a:pt x="2264387" y="50427"/>
                  </a:cubicBezTo>
                  <a:lnTo>
                    <a:pt x="2264387" y="1110464"/>
                  </a:lnTo>
                  <a:cubicBezTo>
                    <a:pt x="2264387" y="1138314"/>
                    <a:pt x="2241811" y="1160891"/>
                    <a:pt x="2213961" y="1160891"/>
                  </a:cubicBezTo>
                  <a:lnTo>
                    <a:pt x="50427" y="1160891"/>
                  </a:lnTo>
                  <a:cubicBezTo>
                    <a:pt x="22577" y="1160891"/>
                    <a:pt x="0" y="1138314"/>
                    <a:pt x="0" y="1110464"/>
                  </a:cubicBezTo>
                  <a:lnTo>
                    <a:pt x="0" y="50427"/>
                  </a:lnTo>
                  <a:cubicBezTo>
                    <a:pt x="0" y="22577"/>
                    <a:pt x="22577" y="0"/>
                    <a:pt x="50427" y="0"/>
                  </a:cubicBezTo>
                  <a:close/>
                </a:path>
              </a:pathLst>
            </a:custGeom>
            <a:ln w="28575" cap="rnd">
              <a:solidFill>
                <a:srgbClr val="FFFFFF"/>
              </a:solidFill>
              <a:prstDash val="solid"/>
              <a:round/>
            </a:ln>
          </p:spPr>
          <p:txBody>
            <a:bodyPr/>
            <a:lstStyle/>
            <a:p>
              <a:endParaRPr lang="en-US" noProof="0" dirty="0"/>
            </a:p>
          </p:txBody>
        </p:sp>
        <p:sp>
          <p:nvSpPr>
            <p:cNvPr id="7" name="TextBox 7"/>
            <p:cNvSpPr txBox="1"/>
            <p:nvPr/>
          </p:nvSpPr>
          <p:spPr>
            <a:xfrm>
              <a:off x="0" y="-66675"/>
              <a:ext cx="2264387" cy="1227566"/>
            </a:xfrm>
            <a:prstGeom prst="rect">
              <a:avLst/>
            </a:prstGeom>
          </p:spPr>
          <p:txBody>
            <a:bodyPr lIns="50800" tIns="50800" rIns="50800" bIns="50800" rtlCol="0" anchor="ctr"/>
            <a:lstStyle/>
            <a:p>
              <a:pPr algn="ctr">
                <a:lnSpc>
                  <a:spcPts val="3151"/>
                </a:lnSpc>
              </a:pPr>
              <a:endParaRPr lang="en-US" noProof="0" dirty="0"/>
            </a:p>
          </p:txBody>
        </p:sp>
      </p:grpSp>
      <p:grpSp>
        <p:nvGrpSpPr>
          <p:cNvPr id="8" name="Group 8" descr="Thunderclient teszt&#10;"/>
          <p:cNvGrpSpPr/>
          <p:nvPr/>
        </p:nvGrpSpPr>
        <p:grpSpPr>
          <a:xfrm>
            <a:off x="9763586" y="2371701"/>
            <a:ext cx="8179087" cy="6634716"/>
            <a:chOff x="0" y="0"/>
            <a:chExt cx="1201467" cy="974607"/>
          </a:xfrm>
        </p:grpSpPr>
        <p:sp>
          <p:nvSpPr>
            <p:cNvPr id="9" name="Freeform 9"/>
            <p:cNvSpPr/>
            <p:nvPr/>
          </p:nvSpPr>
          <p:spPr>
            <a:xfrm>
              <a:off x="0" y="0"/>
              <a:ext cx="1201467" cy="974607"/>
            </a:xfrm>
            <a:custGeom>
              <a:avLst/>
              <a:gdLst/>
              <a:ahLst/>
              <a:cxnLst/>
              <a:rect l="l" t="t" r="r" b="b"/>
              <a:pathLst>
                <a:path w="1201467" h="974607">
                  <a:moveTo>
                    <a:pt x="53007" y="0"/>
                  </a:moveTo>
                  <a:lnTo>
                    <a:pt x="1148461" y="0"/>
                  </a:lnTo>
                  <a:cubicBezTo>
                    <a:pt x="1162519" y="0"/>
                    <a:pt x="1176001" y="5585"/>
                    <a:pt x="1185942" y="15525"/>
                  </a:cubicBezTo>
                  <a:cubicBezTo>
                    <a:pt x="1195883" y="25466"/>
                    <a:pt x="1201467" y="38949"/>
                    <a:pt x="1201467" y="53007"/>
                  </a:cubicBezTo>
                  <a:lnTo>
                    <a:pt x="1201467" y="921600"/>
                  </a:lnTo>
                  <a:cubicBezTo>
                    <a:pt x="1201467" y="950875"/>
                    <a:pt x="1177735" y="974607"/>
                    <a:pt x="1148461" y="974607"/>
                  </a:cubicBezTo>
                  <a:lnTo>
                    <a:pt x="53007" y="974607"/>
                  </a:lnTo>
                  <a:cubicBezTo>
                    <a:pt x="23732" y="974607"/>
                    <a:pt x="0" y="950875"/>
                    <a:pt x="0" y="921600"/>
                  </a:cubicBezTo>
                  <a:lnTo>
                    <a:pt x="0" y="53007"/>
                  </a:lnTo>
                  <a:cubicBezTo>
                    <a:pt x="0" y="23732"/>
                    <a:pt x="23732" y="0"/>
                    <a:pt x="53007" y="0"/>
                  </a:cubicBezTo>
                  <a:close/>
                </a:path>
              </a:pathLst>
            </a:custGeom>
            <a:blipFill>
              <a:blip r:embed="rId3"/>
              <a:stretch>
                <a:fillRect l="-883" r="-883"/>
              </a:stretch>
            </a:blipFill>
          </p:spPr>
          <p:txBody>
            <a:bodyPr/>
            <a:lstStyle/>
            <a:p>
              <a:endParaRPr lang="en-US" noProof="0" dirty="0"/>
            </a:p>
          </p:txBody>
        </p:sp>
      </p:grpSp>
      <p:sp>
        <p:nvSpPr>
          <p:cNvPr id="10" name="Freeform 10">
            <a:extLs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4"/>
            <a:stretch>
              <a:fillRect/>
            </a:stretch>
          </a:blipFill>
        </p:spPr>
        <p:txBody>
          <a:bodyPr/>
          <a:lstStyle/>
          <a:p>
            <a:endParaRPr lang="en-US" noProof="0" dirty="0"/>
          </a:p>
        </p:txBody>
      </p:sp>
      <p:sp>
        <p:nvSpPr>
          <p:cNvPr id="11" name="TextBox 11"/>
          <p:cNvSpPr txBox="1"/>
          <p:nvPr/>
        </p:nvSpPr>
        <p:spPr>
          <a:xfrm>
            <a:off x="1316374" y="5546184"/>
            <a:ext cx="7697643" cy="3351302"/>
          </a:xfrm>
          <a:prstGeom prst="rect">
            <a:avLst/>
          </a:prstGeom>
        </p:spPr>
        <p:txBody>
          <a:bodyPr lIns="0" tIns="0" rIns="0" bIns="0" rtlCol="0" anchor="t">
            <a:spAutoFit/>
          </a:bodyPr>
          <a:lstStyle/>
          <a:p>
            <a:pPr marL="1036307" lvl="1" indent="-518154">
              <a:lnSpc>
                <a:spcPts val="6719"/>
              </a:lnSpc>
              <a:buFont typeface="Arial"/>
              <a:buChar char="•"/>
            </a:pPr>
            <a:r>
              <a:rPr lang="en-US" sz="3600" noProof="0" dirty="0">
                <a:solidFill>
                  <a:srgbClr val="FFFFFF"/>
                </a:solidFill>
                <a:latin typeface="Poppins"/>
                <a:ea typeface="Poppins"/>
                <a:cs typeface="Poppins"/>
                <a:sym typeface="Poppins"/>
              </a:rPr>
              <a:t>Authentication endpoints</a:t>
            </a:r>
          </a:p>
          <a:p>
            <a:pPr marL="1036307" lvl="1" indent="-518154">
              <a:lnSpc>
                <a:spcPts val="6719"/>
              </a:lnSpc>
              <a:buFont typeface="Arial"/>
              <a:buChar char="•"/>
            </a:pPr>
            <a:r>
              <a:rPr lang="en-US" sz="3600" noProof="0" dirty="0">
                <a:solidFill>
                  <a:srgbClr val="FFFFFF"/>
                </a:solidFill>
                <a:latin typeface="Poppins"/>
                <a:ea typeface="Poppins"/>
                <a:cs typeface="Poppins"/>
                <a:sym typeface="Poppins"/>
              </a:rPr>
              <a:t>Device CRUD</a:t>
            </a:r>
          </a:p>
          <a:p>
            <a:pPr marL="1036307" lvl="1" indent="-518154">
              <a:lnSpc>
                <a:spcPts val="6719"/>
              </a:lnSpc>
              <a:buFont typeface="Arial"/>
              <a:buChar char="•"/>
            </a:pPr>
            <a:r>
              <a:rPr lang="en-US" sz="3600" noProof="0" dirty="0">
                <a:solidFill>
                  <a:srgbClr val="FFFFFF"/>
                </a:solidFill>
                <a:latin typeface="Poppins"/>
                <a:ea typeface="Poppins"/>
                <a:cs typeface="Poppins"/>
                <a:sym typeface="Poppins"/>
              </a:rPr>
              <a:t>Reservation management</a:t>
            </a:r>
          </a:p>
          <a:p>
            <a:pPr marL="1036307" lvl="1" indent="-518154">
              <a:lnSpc>
                <a:spcPts val="6719"/>
              </a:lnSpc>
              <a:buFont typeface="Arial"/>
              <a:buChar char="•"/>
            </a:pPr>
            <a:r>
              <a:rPr lang="en-US" sz="3600" noProof="0" dirty="0">
                <a:solidFill>
                  <a:srgbClr val="FFFFFF"/>
                </a:solidFill>
                <a:latin typeface="Poppins"/>
                <a:ea typeface="Poppins"/>
                <a:cs typeface="Poppins"/>
                <a:sym typeface="Poppins"/>
              </a:rPr>
              <a:t>Appointment management</a:t>
            </a:r>
          </a:p>
        </p:txBody>
      </p:sp>
      <p:sp>
        <p:nvSpPr>
          <p:cNvPr id="12" name="TextBox 12"/>
          <p:cNvSpPr txBox="1">
            <a:spLocks noGrp="1"/>
          </p:cNvSpPr>
          <p:nvPr>
            <p:ph type="title" idx="4294967295"/>
          </p:nvPr>
        </p:nvSpPr>
        <p:spPr>
          <a:xfrm>
            <a:off x="1517036" y="2488889"/>
            <a:ext cx="7074263" cy="184029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gn="l">
              <a:lnSpc>
                <a:spcPts val="6887"/>
              </a:lnSpc>
              <a:spcBef>
                <a:spcPts val="0"/>
              </a:spcBef>
              <a:defRPr/>
            </a:pPr>
            <a:r>
              <a:rPr lang="en-US" sz="6752" b="1" spc="-303" noProof="0" dirty="0">
                <a:solidFill>
                  <a:srgbClr val="FFFFFF"/>
                </a:solidFill>
                <a:latin typeface="Telegraf Bold"/>
                <a:ea typeface="Telegraf Bold"/>
                <a:cs typeface="Telegraf Bold"/>
                <a:sym typeface="Telegraf Bold"/>
              </a:rPr>
              <a:t>REST API Architecture</a:t>
            </a:r>
            <a:endParaRPr kumimoji="0" lang="en-US" sz="6752" b="1" i="0" u="none" strike="noStrike" kern="1200" cap="none" spc="-303" normalizeH="0" baseline="0" noProof="0" dirty="0">
              <a:ln>
                <a:noFill/>
              </a:ln>
              <a:solidFill>
                <a:srgbClr val="FFFFFF"/>
              </a:solidFill>
              <a:effectLst/>
              <a:uLnTx/>
              <a:uFillTx/>
              <a:latin typeface="Telegraf Bold"/>
              <a:ea typeface="Telegraf Bold"/>
              <a:cs typeface="Telegraf Bold"/>
              <a:sym typeface="Telegraf Bold"/>
            </a:endParaRPr>
          </a:p>
        </p:txBody>
      </p:sp>
      <p:sp>
        <p:nvSpPr>
          <p:cNvPr id="18" name="Freeform 3">
            <a:extLst>
              <a:ext uri="{FF2B5EF4-FFF2-40B4-BE49-F238E27FC236}">
                <a16:creationId xmlns:a16="http://schemas.microsoft.com/office/drawing/2014/main" id="{57A6AC21-BFF0-FE3D-9462-6CA764095EBD}"/>
              </a:ext>
              <a:ext uri="{C183D7F6-B498-43B3-948B-1728B52AA6E4}">
                <adec:decorative xmlns:adec="http://schemas.microsoft.com/office/drawing/2017/decorative" val="1"/>
              </a:ext>
            </a:extLst>
          </p:cNvPr>
          <p:cNvSpPr/>
          <p:nvPr/>
        </p:nvSpPr>
        <p:spPr>
          <a:xfrm>
            <a:off x="828446" y="777583"/>
            <a:ext cx="1111777" cy="1060162"/>
          </a:xfrm>
          <a:prstGeom prst="ellipse">
            <a:avLst/>
          </a:prstGeom>
          <a:solidFill>
            <a:srgbClr val="00A8CC">
              <a:alpha val="20000"/>
            </a:srgbClr>
          </a:solidFill>
          <a:effectLst>
            <a:softEdge rad="0"/>
          </a:effectLst>
        </p:spPr>
        <p:txBody>
          <a:bodyPr/>
          <a:lstStyle/>
          <a:p>
            <a:endParaRPr lang="en-US" noProof="0" dirty="0"/>
          </a:p>
        </p:txBody>
      </p:sp>
      <p:sp>
        <p:nvSpPr>
          <p:cNvPr id="19" name="TextBox 11">
            <a:extLst>
              <a:ext uri="{FF2B5EF4-FFF2-40B4-BE49-F238E27FC236}">
                <a16:creationId xmlns:a16="http://schemas.microsoft.com/office/drawing/2014/main" id="{7CA7215B-77D4-B6BC-6451-9E338DE6832C}"/>
              </a:ext>
            </a:extLst>
          </p:cNvPr>
          <p:cNvSpPr txBox="1"/>
          <p:nvPr/>
        </p:nvSpPr>
        <p:spPr>
          <a:xfrm>
            <a:off x="9144000" y="841660"/>
            <a:ext cx="1662550" cy="388633"/>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Features</a:t>
            </a:r>
          </a:p>
        </p:txBody>
      </p:sp>
      <p:sp>
        <p:nvSpPr>
          <p:cNvPr id="20" name="TextBox 12">
            <a:extLst>
              <a:ext uri="{FF2B5EF4-FFF2-40B4-BE49-F238E27FC236}">
                <a16:creationId xmlns:a16="http://schemas.microsoft.com/office/drawing/2014/main" id="{FE009F9D-16B0-089E-5BD6-67955BBBA178}"/>
              </a:ext>
            </a:extLst>
          </p:cNvPr>
          <p:cNvSpPr txBox="1"/>
          <p:nvPr/>
        </p:nvSpPr>
        <p:spPr>
          <a:xfrm>
            <a:off x="11417845" y="641635"/>
            <a:ext cx="1944558" cy="799001"/>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Backend technologies</a:t>
            </a:r>
          </a:p>
        </p:txBody>
      </p:sp>
      <p:sp>
        <p:nvSpPr>
          <p:cNvPr id="21" name="TextBox 13">
            <a:extLst>
              <a:ext uri="{FF2B5EF4-FFF2-40B4-BE49-F238E27FC236}">
                <a16:creationId xmlns:a16="http://schemas.microsoft.com/office/drawing/2014/main" id="{F728C5AB-122F-23FE-74F7-BB2286C920DC}"/>
              </a:ext>
            </a:extLst>
          </p:cNvPr>
          <p:cNvSpPr txBox="1"/>
          <p:nvPr/>
        </p:nvSpPr>
        <p:spPr>
          <a:xfrm>
            <a:off x="13726729" y="819695"/>
            <a:ext cx="1916881" cy="388633"/>
          </a:xfrm>
          <a:prstGeom prst="rect">
            <a:avLst/>
          </a:prstGeom>
        </p:spPr>
        <p:txBody>
          <a:bodyPr lIns="0" tIns="0" rIns="0" bIns="0" rtlCol="0" anchor="t">
            <a:spAutoFit/>
          </a:bodyPr>
          <a:lstStyle/>
          <a:p>
            <a:pPr marL="0" lvl="0" indent="0" algn="ctr">
              <a:lnSpc>
                <a:spcPts val="3151"/>
              </a:lnSpc>
              <a:spcBef>
                <a:spcPct val="0"/>
              </a:spcBef>
            </a:pPr>
            <a:r>
              <a:rPr lang="en-US" sz="2251" b="1" noProof="0" dirty="0">
                <a:solidFill>
                  <a:srgbClr val="FFFFFF"/>
                </a:solidFill>
                <a:latin typeface="Poppins"/>
                <a:ea typeface="Poppins"/>
                <a:cs typeface="Poppins"/>
                <a:sym typeface="Poppins"/>
              </a:rPr>
              <a:t>API</a:t>
            </a:r>
          </a:p>
        </p:txBody>
      </p:sp>
      <p:sp>
        <p:nvSpPr>
          <p:cNvPr id="22" name="TextBox 14">
            <a:extLst>
              <a:ext uri="{FF2B5EF4-FFF2-40B4-BE49-F238E27FC236}">
                <a16:creationId xmlns:a16="http://schemas.microsoft.com/office/drawing/2014/main" id="{D2D6D78E-35C0-90F0-81FF-840A8E6E0AB4}"/>
              </a:ext>
            </a:extLst>
          </p:cNvPr>
          <p:cNvSpPr txBox="1"/>
          <p:nvPr/>
        </p:nvSpPr>
        <p:spPr>
          <a:xfrm>
            <a:off x="15034325" y="841660"/>
            <a:ext cx="2224975" cy="388633"/>
          </a:xfrm>
          <a:prstGeom prst="rect">
            <a:avLst/>
          </a:prstGeom>
        </p:spPr>
        <p:txBody>
          <a:bodyPr lIns="0" tIns="0" rIns="0" bIns="0" rtlCol="0" anchor="t">
            <a:spAutoFit/>
          </a:bodyPr>
          <a:lstStyle/>
          <a:p>
            <a:pPr lvl="0" algn="r">
              <a:lnSpc>
                <a:spcPts val="3151"/>
              </a:lnSpc>
              <a:spcBef>
                <a:spcPct val="0"/>
              </a:spcBef>
            </a:pPr>
            <a:r>
              <a:rPr lang="en-US" sz="2251" noProof="0" dirty="0">
                <a:solidFill>
                  <a:srgbClr val="FFFFFF"/>
                </a:solidFill>
                <a:latin typeface="Poppins"/>
                <a:ea typeface="Poppins"/>
                <a:cs typeface="Poppins"/>
                <a:sym typeface="Poppins"/>
              </a:rPr>
              <a:t>Database</a:t>
            </a:r>
          </a:p>
        </p:txBody>
      </p:sp>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0" name="Freeform 3">
            <a:extLst>
              <a:ext uri="{FF2B5EF4-FFF2-40B4-BE49-F238E27FC236}">
                <a16:creationId xmlns:a16="http://schemas.microsoft.com/office/drawing/2014/main" id="{0301789F-DBC6-FF0D-FBF9-DAFACE341F65}"/>
              </a:ext>
              <a:ext uri="{C183D7F6-B498-43B3-948B-1728B52AA6E4}">
                <adec:decorative xmlns:adec="http://schemas.microsoft.com/office/drawing/2017/decorative" val="1"/>
              </a:ext>
            </a:extLst>
          </p:cNvPr>
          <p:cNvSpPr/>
          <p:nvPr/>
        </p:nvSpPr>
        <p:spPr>
          <a:xfrm>
            <a:off x="828446" y="777583"/>
            <a:ext cx="1111777" cy="1060162"/>
          </a:xfrm>
          <a:prstGeom prst="ellipse">
            <a:avLst/>
          </a:prstGeom>
          <a:solidFill>
            <a:srgbClr val="00A8CC">
              <a:alpha val="20000"/>
            </a:srgbClr>
          </a:solidFill>
          <a:effectLst>
            <a:softEdge rad="0"/>
          </a:effectLst>
        </p:spPr>
        <p:txBody>
          <a:bodyPr/>
          <a:lstStyle/>
          <a:p>
            <a:endParaRPr lang="en-US" noProof="0" dirty="0"/>
          </a:p>
        </p:txBody>
      </p:sp>
      <p:sp>
        <p:nvSpPr>
          <p:cNvPr id="19" name="Freeform 3">
            <a:extLst>
              <a:ext uri="{FF2B5EF4-FFF2-40B4-BE49-F238E27FC236}">
                <a16:creationId xmlns:a16="http://schemas.microsoft.com/office/drawing/2014/main" id="{C790F38B-A68E-A676-0719-A48E577CA4C2}"/>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grpSp>
        <p:nvGrpSpPr>
          <p:cNvPr id="2" name="Group 2">
            <a:extLst>
              <a:ext uri="{C183D7F6-B498-43B3-948B-1728B52AA6E4}">
                <adec:decorative xmlns:adec="http://schemas.microsoft.com/office/drawing/2017/decorative" val="1"/>
              </a:ext>
            </a:extLst>
          </p:cNvPr>
          <p:cNvGrpSpPr/>
          <p:nvPr/>
        </p:nvGrpSpPr>
        <p:grpSpPr>
          <a:xfrm>
            <a:off x="296111" y="349538"/>
            <a:ext cx="17695777" cy="9587924"/>
            <a:chOff x="0" y="0"/>
            <a:chExt cx="4660616" cy="2525215"/>
          </a:xfrm>
        </p:grpSpPr>
        <p:sp>
          <p:nvSpPr>
            <p:cNvPr id="3" name="Freeform 3"/>
            <p:cNvSpPr/>
            <p:nvPr/>
          </p:nvSpPr>
          <p:spPr>
            <a:xfrm>
              <a:off x="0" y="0"/>
              <a:ext cx="4660616" cy="2525215"/>
            </a:xfrm>
            <a:custGeom>
              <a:avLst/>
              <a:gdLst/>
              <a:ahLst/>
              <a:cxnLst/>
              <a:rect l="l" t="t" r="r" b="b"/>
              <a:pathLst>
                <a:path w="4660616" h="2525215">
                  <a:moveTo>
                    <a:pt x="24500" y="0"/>
                  </a:moveTo>
                  <a:lnTo>
                    <a:pt x="4636116" y="0"/>
                  </a:lnTo>
                  <a:cubicBezTo>
                    <a:pt x="4649647" y="0"/>
                    <a:pt x="4660616" y="10969"/>
                    <a:pt x="4660616" y="24500"/>
                  </a:cubicBezTo>
                  <a:lnTo>
                    <a:pt x="4660616" y="2500715"/>
                  </a:lnTo>
                  <a:cubicBezTo>
                    <a:pt x="4660616" y="2507212"/>
                    <a:pt x="4658035" y="2513444"/>
                    <a:pt x="4653440" y="2518039"/>
                  </a:cubicBezTo>
                  <a:cubicBezTo>
                    <a:pt x="4648846" y="2522633"/>
                    <a:pt x="4642614" y="2525215"/>
                    <a:pt x="4636116" y="2525215"/>
                  </a:cubicBezTo>
                  <a:lnTo>
                    <a:pt x="24500" y="2525215"/>
                  </a:lnTo>
                  <a:cubicBezTo>
                    <a:pt x="10969" y="2525215"/>
                    <a:pt x="0" y="2514246"/>
                    <a:pt x="0" y="2500715"/>
                  </a:cubicBezTo>
                  <a:lnTo>
                    <a:pt x="0" y="24500"/>
                  </a:lnTo>
                  <a:cubicBezTo>
                    <a:pt x="0" y="10969"/>
                    <a:pt x="10969" y="0"/>
                    <a:pt x="24500" y="0"/>
                  </a:cubicBezTo>
                  <a:close/>
                </a:path>
              </a:pathLst>
            </a:custGeom>
            <a:solidFill>
              <a:srgbClr val="00A8CC">
                <a:alpha val="21961"/>
              </a:srgbClr>
            </a:solidFill>
          </p:spPr>
          <p:txBody>
            <a:bodyPr/>
            <a:lstStyle/>
            <a:p>
              <a:endParaRPr lang="en-US" noProof="0" dirty="0"/>
            </a:p>
          </p:txBody>
        </p:sp>
        <p:sp>
          <p:nvSpPr>
            <p:cNvPr id="4" name="TextBox 4"/>
            <p:cNvSpPr txBox="1"/>
            <p:nvPr/>
          </p:nvSpPr>
          <p:spPr>
            <a:xfrm>
              <a:off x="0" y="-38100"/>
              <a:ext cx="4660616" cy="2563315"/>
            </a:xfrm>
            <a:prstGeom prst="rect">
              <a:avLst/>
            </a:prstGeom>
          </p:spPr>
          <p:txBody>
            <a:bodyPr lIns="50800" tIns="50800" rIns="50800" bIns="50800" rtlCol="0" anchor="ctr"/>
            <a:lstStyle/>
            <a:p>
              <a:pPr algn="ctr">
                <a:lnSpc>
                  <a:spcPts val="2659"/>
                </a:lnSpc>
                <a:spcBef>
                  <a:spcPct val="0"/>
                </a:spcBef>
              </a:pPr>
              <a:endParaRPr lang="en-US" noProof="0" dirty="0"/>
            </a:p>
          </p:txBody>
        </p:sp>
      </p:grpSp>
      <p:grpSp>
        <p:nvGrpSpPr>
          <p:cNvPr id="5" name="Group 5">
            <a:extLst>
              <a:ext uri="{C183D7F6-B498-43B3-948B-1728B52AA6E4}">
                <adec:decorative xmlns:adec="http://schemas.microsoft.com/office/drawing/2017/decorative" val="1"/>
              </a:ext>
            </a:extLst>
          </p:cNvPr>
          <p:cNvGrpSpPr/>
          <p:nvPr/>
        </p:nvGrpSpPr>
        <p:grpSpPr>
          <a:xfrm>
            <a:off x="803986" y="4795861"/>
            <a:ext cx="4902550" cy="4660838"/>
            <a:chOff x="0" y="0"/>
            <a:chExt cx="1291206" cy="1227546"/>
          </a:xfrm>
        </p:grpSpPr>
        <p:sp>
          <p:nvSpPr>
            <p:cNvPr id="6" name="Freeform 6"/>
            <p:cNvSpPr/>
            <p:nvPr/>
          </p:nvSpPr>
          <p:spPr>
            <a:xfrm>
              <a:off x="0" y="0"/>
              <a:ext cx="1291206" cy="1227546"/>
            </a:xfrm>
            <a:custGeom>
              <a:avLst/>
              <a:gdLst/>
              <a:ahLst/>
              <a:cxnLst/>
              <a:rect l="l" t="t" r="r" b="b"/>
              <a:pathLst>
                <a:path w="1291206" h="1227546">
                  <a:moveTo>
                    <a:pt x="88433" y="0"/>
                  </a:moveTo>
                  <a:lnTo>
                    <a:pt x="1202773" y="0"/>
                  </a:lnTo>
                  <a:cubicBezTo>
                    <a:pt x="1251614" y="0"/>
                    <a:pt x="1291206" y="39593"/>
                    <a:pt x="1291206" y="88433"/>
                  </a:cubicBezTo>
                  <a:lnTo>
                    <a:pt x="1291206" y="1139113"/>
                  </a:lnTo>
                  <a:cubicBezTo>
                    <a:pt x="1291206" y="1162567"/>
                    <a:pt x="1281889" y="1185060"/>
                    <a:pt x="1265305" y="1201644"/>
                  </a:cubicBezTo>
                  <a:cubicBezTo>
                    <a:pt x="1248721" y="1218229"/>
                    <a:pt x="1226227" y="1227546"/>
                    <a:pt x="1202773" y="1227546"/>
                  </a:cubicBezTo>
                  <a:lnTo>
                    <a:pt x="88433" y="1227546"/>
                  </a:lnTo>
                  <a:cubicBezTo>
                    <a:pt x="64979" y="1227546"/>
                    <a:pt x="42486" y="1218229"/>
                    <a:pt x="25901" y="1201644"/>
                  </a:cubicBezTo>
                  <a:cubicBezTo>
                    <a:pt x="9317" y="1185060"/>
                    <a:pt x="0" y="1162567"/>
                    <a:pt x="0" y="1139113"/>
                  </a:cubicBezTo>
                  <a:lnTo>
                    <a:pt x="0" y="88433"/>
                  </a:lnTo>
                  <a:cubicBezTo>
                    <a:pt x="0" y="64979"/>
                    <a:pt x="9317" y="42486"/>
                    <a:pt x="25901" y="25901"/>
                  </a:cubicBezTo>
                  <a:cubicBezTo>
                    <a:pt x="42486" y="9317"/>
                    <a:pt x="64979" y="0"/>
                    <a:pt x="88433" y="0"/>
                  </a:cubicBezTo>
                  <a:close/>
                </a:path>
              </a:pathLst>
            </a:custGeom>
            <a:solidFill>
              <a:srgbClr val="FFFFFF">
                <a:alpha val="21961"/>
              </a:srgbClr>
            </a:solidFill>
          </p:spPr>
          <p:txBody>
            <a:bodyPr/>
            <a:lstStyle/>
            <a:p>
              <a:endParaRPr lang="en-US" noProof="0" dirty="0"/>
            </a:p>
          </p:txBody>
        </p:sp>
        <p:sp>
          <p:nvSpPr>
            <p:cNvPr id="7" name="TextBox 7"/>
            <p:cNvSpPr txBox="1"/>
            <p:nvPr/>
          </p:nvSpPr>
          <p:spPr>
            <a:xfrm>
              <a:off x="0" y="-38100"/>
              <a:ext cx="1291206" cy="1265646"/>
            </a:xfrm>
            <a:prstGeom prst="rect">
              <a:avLst/>
            </a:prstGeom>
          </p:spPr>
          <p:txBody>
            <a:bodyPr lIns="50800" tIns="50800" rIns="50800" bIns="50800" rtlCol="0" anchor="ctr"/>
            <a:lstStyle/>
            <a:p>
              <a:pPr algn="ctr">
                <a:lnSpc>
                  <a:spcPts val="2659"/>
                </a:lnSpc>
                <a:spcBef>
                  <a:spcPct val="0"/>
                </a:spcBef>
              </a:pPr>
              <a:endParaRPr lang="en-US" noProof="0" dirty="0"/>
            </a:p>
          </p:txBody>
        </p:sp>
      </p:grpSp>
      <p:grpSp>
        <p:nvGrpSpPr>
          <p:cNvPr id="8" name="Group 8">
            <a:extLst>
              <a:ext uri="{C183D7F6-B498-43B3-948B-1728B52AA6E4}">
                <adec:decorative xmlns:adec="http://schemas.microsoft.com/office/drawing/2017/decorative" val="1"/>
              </a:ext>
            </a:extLst>
          </p:cNvPr>
          <p:cNvGrpSpPr/>
          <p:nvPr/>
        </p:nvGrpSpPr>
        <p:grpSpPr>
          <a:xfrm>
            <a:off x="811360" y="1796578"/>
            <a:ext cx="4895175" cy="2555903"/>
            <a:chOff x="0" y="0"/>
            <a:chExt cx="1289264" cy="673160"/>
          </a:xfrm>
        </p:grpSpPr>
        <p:sp>
          <p:nvSpPr>
            <p:cNvPr id="9" name="Freeform 9"/>
            <p:cNvSpPr/>
            <p:nvPr/>
          </p:nvSpPr>
          <p:spPr>
            <a:xfrm>
              <a:off x="0" y="0"/>
              <a:ext cx="1289264" cy="673160"/>
            </a:xfrm>
            <a:custGeom>
              <a:avLst/>
              <a:gdLst/>
              <a:ahLst/>
              <a:cxnLst/>
              <a:rect l="l" t="t" r="r" b="b"/>
              <a:pathLst>
                <a:path w="1289264" h="673160">
                  <a:moveTo>
                    <a:pt x="88566" y="0"/>
                  </a:moveTo>
                  <a:lnTo>
                    <a:pt x="1200698" y="0"/>
                  </a:lnTo>
                  <a:cubicBezTo>
                    <a:pt x="1224187" y="0"/>
                    <a:pt x="1246715" y="9331"/>
                    <a:pt x="1263324" y="25940"/>
                  </a:cubicBezTo>
                  <a:cubicBezTo>
                    <a:pt x="1279933" y="42550"/>
                    <a:pt x="1289264" y="65077"/>
                    <a:pt x="1289264" y="88566"/>
                  </a:cubicBezTo>
                  <a:lnTo>
                    <a:pt x="1289264" y="584593"/>
                  </a:lnTo>
                  <a:cubicBezTo>
                    <a:pt x="1289264" y="633507"/>
                    <a:pt x="1249612" y="673160"/>
                    <a:pt x="1200698" y="673160"/>
                  </a:cubicBezTo>
                  <a:lnTo>
                    <a:pt x="88566" y="673160"/>
                  </a:lnTo>
                  <a:cubicBezTo>
                    <a:pt x="65077" y="673160"/>
                    <a:pt x="42550" y="663828"/>
                    <a:pt x="25940" y="647219"/>
                  </a:cubicBezTo>
                  <a:cubicBezTo>
                    <a:pt x="9331" y="630610"/>
                    <a:pt x="0" y="608083"/>
                    <a:pt x="0" y="584593"/>
                  </a:cubicBezTo>
                  <a:lnTo>
                    <a:pt x="0" y="88566"/>
                  </a:lnTo>
                  <a:cubicBezTo>
                    <a:pt x="0" y="65077"/>
                    <a:pt x="9331" y="42550"/>
                    <a:pt x="25940" y="25940"/>
                  </a:cubicBezTo>
                  <a:cubicBezTo>
                    <a:pt x="42550" y="9331"/>
                    <a:pt x="65077" y="0"/>
                    <a:pt x="88566" y="0"/>
                  </a:cubicBezTo>
                  <a:close/>
                </a:path>
              </a:pathLst>
            </a:custGeom>
            <a:solidFill>
              <a:srgbClr val="FFFFFF">
                <a:alpha val="21961"/>
              </a:srgbClr>
            </a:solidFill>
          </p:spPr>
          <p:txBody>
            <a:bodyPr/>
            <a:lstStyle/>
            <a:p>
              <a:endParaRPr lang="en-US" noProof="0" dirty="0"/>
            </a:p>
          </p:txBody>
        </p:sp>
        <p:sp>
          <p:nvSpPr>
            <p:cNvPr id="10" name="TextBox 10"/>
            <p:cNvSpPr txBox="1"/>
            <p:nvPr/>
          </p:nvSpPr>
          <p:spPr>
            <a:xfrm>
              <a:off x="0" y="-38100"/>
              <a:ext cx="1289264" cy="711260"/>
            </a:xfrm>
            <a:prstGeom prst="rect">
              <a:avLst/>
            </a:prstGeom>
          </p:spPr>
          <p:txBody>
            <a:bodyPr lIns="50800" tIns="50800" rIns="50800" bIns="50800" rtlCol="0" anchor="ctr"/>
            <a:lstStyle/>
            <a:p>
              <a:pPr algn="ctr">
                <a:lnSpc>
                  <a:spcPts val="2659"/>
                </a:lnSpc>
                <a:spcBef>
                  <a:spcPct val="0"/>
                </a:spcBef>
              </a:pPr>
              <a:endParaRPr lang="en-US" noProof="0" dirty="0"/>
            </a:p>
          </p:txBody>
        </p:sp>
      </p:grpSp>
      <p:sp>
        <p:nvSpPr>
          <p:cNvPr id="11" name="Freeform 11">
            <a:extLs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3"/>
            <a:stretch>
              <a:fillRect/>
            </a:stretch>
          </a:blipFill>
        </p:spPr>
        <p:txBody>
          <a:bodyPr/>
          <a:lstStyle/>
          <a:p>
            <a:endParaRPr lang="en-US" noProof="0" dirty="0"/>
          </a:p>
        </p:txBody>
      </p:sp>
      <p:sp>
        <p:nvSpPr>
          <p:cNvPr id="12" name="Freeform 12">
            <a:extLst>
              <a:ext uri="{C183D7F6-B498-43B3-948B-1728B52AA6E4}">
                <adec:decorative xmlns:adec="http://schemas.microsoft.com/office/drawing/2017/decorative" val="1"/>
              </a:ext>
            </a:extLst>
          </p:cNvPr>
          <p:cNvSpPr/>
          <p:nvPr/>
        </p:nvSpPr>
        <p:spPr>
          <a:xfrm>
            <a:off x="6535095" y="1711865"/>
            <a:ext cx="10724206" cy="7798342"/>
          </a:xfrm>
          <a:prstGeom prst="roundRect">
            <a:avLst>
              <a:gd name="adj" fmla="val 4804"/>
            </a:avLst>
          </a:prstGeom>
          <a:blipFill>
            <a:blip r:embed="rId4"/>
            <a:stretch>
              <a:fillRect/>
            </a:stretch>
          </a:blipFill>
        </p:spPr>
        <p:txBody>
          <a:bodyPr/>
          <a:lstStyle/>
          <a:p>
            <a:endParaRPr lang="en-US" noProof="0" dirty="0"/>
          </a:p>
        </p:txBody>
      </p:sp>
      <p:sp>
        <p:nvSpPr>
          <p:cNvPr id="13" name="TextBox 13"/>
          <p:cNvSpPr txBox="1"/>
          <p:nvPr/>
        </p:nvSpPr>
        <p:spPr>
          <a:xfrm>
            <a:off x="1647242" y="5119680"/>
            <a:ext cx="6978890" cy="3946525"/>
          </a:xfrm>
          <a:prstGeom prst="rect">
            <a:avLst/>
          </a:prstGeom>
        </p:spPr>
        <p:txBody>
          <a:bodyPr lIns="0" tIns="0" rIns="0" bIns="0" rtlCol="0" anchor="t">
            <a:spAutoFit/>
          </a:bodyPr>
          <a:lstStyle/>
          <a:p>
            <a:pPr marL="539749" lvl="1" indent="-269875" algn="l">
              <a:lnSpc>
                <a:spcPts val="3499"/>
              </a:lnSpc>
              <a:buFont typeface="Arial"/>
              <a:buChar char="•"/>
            </a:pPr>
            <a:r>
              <a:rPr lang="en-US" sz="2499" noProof="0" dirty="0" err="1">
                <a:solidFill>
                  <a:srgbClr val="FFFFFF"/>
                </a:solidFill>
                <a:latin typeface="Poppins"/>
                <a:ea typeface="Poppins"/>
                <a:cs typeface="Poppins"/>
                <a:sym typeface="Poppins"/>
              </a:rPr>
              <a:t>ertekeles</a:t>
            </a:r>
            <a:endParaRPr lang="en-US" sz="2499" noProof="0" dirty="0">
              <a:solidFill>
                <a:srgbClr val="FFFFFF"/>
              </a:solidFill>
              <a:latin typeface="Poppins"/>
              <a:ea typeface="Poppins"/>
              <a:cs typeface="Poppins"/>
              <a:sym typeface="Poppins"/>
            </a:endParaRPr>
          </a:p>
          <a:p>
            <a:pPr marL="539749" lvl="1" indent="-269875" algn="l">
              <a:lnSpc>
                <a:spcPts val="3499"/>
              </a:lnSpc>
              <a:buFont typeface="Arial"/>
              <a:buChar char="•"/>
            </a:pPr>
            <a:r>
              <a:rPr lang="en-US" sz="2499" noProof="0" dirty="0" err="1">
                <a:solidFill>
                  <a:srgbClr val="FFFFFF"/>
                </a:solidFill>
                <a:latin typeface="Poppins"/>
                <a:ea typeface="Poppins"/>
                <a:cs typeface="Poppins"/>
                <a:sym typeface="Poppins"/>
              </a:rPr>
              <a:t>eszkoz</a:t>
            </a:r>
            <a:endParaRPr lang="en-US" sz="2499" noProof="0" dirty="0">
              <a:solidFill>
                <a:srgbClr val="FFFFFF"/>
              </a:solidFill>
              <a:latin typeface="Poppins"/>
              <a:ea typeface="Poppins"/>
              <a:cs typeface="Poppins"/>
              <a:sym typeface="Poppins"/>
            </a:endParaRPr>
          </a:p>
          <a:p>
            <a:pPr marL="539749" lvl="1" indent="-269875" algn="l">
              <a:lnSpc>
                <a:spcPts val="3499"/>
              </a:lnSpc>
              <a:buFont typeface="Arial"/>
              <a:buChar char="•"/>
            </a:pPr>
            <a:r>
              <a:rPr lang="en-US" sz="2499" noProof="0" dirty="0" err="1">
                <a:solidFill>
                  <a:srgbClr val="FFFFFF"/>
                </a:solidFill>
                <a:latin typeface="Poppins"/>
                <a:ea typeface="Poppins"/>
                <a:cs typeface="Poppins"/>
                <a:sym typeface="Poppins"/>
              </a:rPr>
              <a:t>page_review</a:t>
            </a:r>
            <a:endParaRPr lang="en-US" sz="2499" noProof="0" dirty="0">
              <a:solidFill>
                <a:srgbClr val="FFFFFF"/>
              </a:solidFill>
              <a:latin typeface="Poppins"/>
              <a:ea typeface="Poppins"/>
              <a:cs typeface="Poppins"/>
              <a:sym typeface="Poppins"/>
            </a:endParaRPr>
          </a:p>
          <a:p>
            <a:pPr marL="539749" lvl="1" indent="-269875" algn="l">
              <a:lnSpc>
                <a:spcPts val="3499"/>
              </a:lnSpc>
              <a:buFont typeface="Arial"/>
              <a:buChar char="•"/>
            </a:pPr>
            <a:r>
              <a:rPr lang="en-US" sz="2499" noProof="0" dirty="0" err="1">
                <a:solidFill>
                  <a:srgbClr val="FFFFFF"/>
                </a:solidFill>
                <a:latin typeface="Poppins"/>
                <a:ea typeface="Poppins"/>
                <a:cs typeface="Poppins"/>
                <a:sym typeface="Poppins"/>
              </a:rPr>
              <a:t>felhasznalo</a:t>
            </a:r>
            <a:endParaRPr lang="en-US" sz="2499" noProof="0" dirty="0">
              <a:solidFill>
                <a:srgbClr val="FFFFFF"/>
              </a:solidFill>
              <a:latin typeface="Poppins"/>
              <a:ea typeface="Poppins"/>
              <a:cs typeface="Poppins"/>
              <a:sym typeface="Poppins"/>
            </a:endParaRPr>
          </a:p>
          <a:p>
            <a:pPr marL="539749" lvl="1" indent="-269875" algn="l">
              <a:lnSpc>
                <a:spcPts val="3499"/>
              </a:lnSpc>
              <a:buFont typeface="Arial"/>
              <a:buChar char="•"/>
            </a:pPr>
            <a:r>
              <a:rPr lang="en-US" sz="2499" noProof="0" dirty="0" err="1">
                <a:solidFill>
                  <a:srgbClr val="FFFFFF"/>
                </a:solidFill>
                <a:latin typeface="Poppins"/>
                <a:ea typeface="Poppins"/>
                <a:cs typeface="Poppins"/>
                <a:sym typeface="Poppins"/>
              </a:rPr>
              <a:t>foglalas</a:t>
            </a:r>
            <a:endParaRPr lang="en-US" sz="2499" noProof="0" dirty="0">
              <a:solidFill>
                <a:srgbClr val="FFFFFF"/>
              </a:solidFill>
              <a:latin typeface="Poppins"/>
              <a:ea typeface="Poppins"/>
              <a:cs typeface="Poppins"/>
              <a:sym typeface="Poppins"/>
            </a:endParaRPr>
          </a:p>
          <a:p>
            <a:pPr marL="539749" lvl="1" indent="-269875" algn="l">
              <a:lnSpc>
                <a:spcPts val="3499"/>
              </a:lnSpc>
              <a:buFont typeface="Arial"/>
              <a:buChar char="•"/>
            </a:pPr>
            <a:r>
              <a:rPr lang="en-US" sz="2499" noProof="0" dirty="0" err="1">
                <a:solidFill>
                  <a:srgbClr val="FFFFFF"/>
                </a:solidFill>
                <a:latin typeface="Poppins"/>
                <a:ea typeface="Poppins"/>
                <a:cs typeface="Poppins"/>
                <a:sym typeface="Poppins"/>
              </a:rPr>
              <a:t>idopont</a:t>
            </a:r>
            <a:endParaRPr lang="en-US" sz="2499" noProof="0" dirty="0">
              <a:solidFill>
                <a:srgbClr val="FFFFFF"/>
              </a:solidFill>
              <a:latin typeface="Poppins"/>
              <a:ea typeface="Poppins"/>
              <a:cs typeface="Poppins"/>
              <a:sym typeface="Poppins"/>
            </a:endParaRPr>
          </a:p>
          <a:p>
            <a:pPr marL="539749" lvl="1" indent="-269875" algn="l">
              <a:lnSpc>
                <a:spcPts val="3499"/>
              </a:lnSpc>
              <a:buFont typeface="Arial"/>
              <a:buChar char="•"/>
            </a:pPr>
            <a:r>
              <a:rPr lang="en-US" sz="2499" noProof="0" dirty="0">
                <a:solidFill>
                  <a:srgbClr val="FFFFFF"/>
                </a:solidFill>
                <a:latin typeface="Poppins"/>
                <a:ea typeface="Poppins"/>
                <a:cs typeface="Poppins"/>
                <a:sym typeface="Poppins"/>
              </a:rPr>
              <a:t>log</a:t>
            </a:r>
          </a:p>
          <a:p>
            <a:pPr marL="539749" lvl="1" indent="-269875" algn="l">
              <a:lnSpc>
                <a:spcPts val="3499"/>
              </a:lnSpc>
              <a:buFont typeface="Arial"/>
              <a:buChar char="•"/>
            </a:pPr>
            <a:r>
              <a:rPr lang="en-US" sz="2499" noProof="0" dirty="0" err="1">
                <a:solidFill>
                  <a:srgbClr val="FFFFFF"/>
                </a:solidFill>
                <a:latin typeface="Poppins"/>
                <a:ea typeface="Poppins"/>
                <a:cs typeface="Poppins"/>
                <a:sym typeface="Poppins"/>
              </a:rPr>
              <a:t>mentor_ertekeles</a:t>
            </a:r>
            <a:endParaRPr lang="en-US" sz="2499" noProof="0" dirty="0">
              <a:solidFill>
                <a:srgbClr val="FFFFFF"/>
              </a:solidFill>
              <a:latin typeface="Poppins"/>
              <a:ea typeface="Poppins"/>
              <a:cs typeface="Poppins"/>
              <a:sym typeface="Poppins"/>
            </a:endParaRPr>
          </a:p>
          <a:p>
            <a:pPr marL="539749" lvl="1" indent="-269875" algn="l">
              <a:lnSpc>
                <a:spcPts val="3499"/>
              </a:lnSpc>
              <a:buFont typeface="Arial"/>
              <a:buChar char="•"/>
            </a:pPr>
            <a:r>
              <a:rPr lang="en-US" sz="2499" noProof="0" dirty="0" err="1">
                <a:solidFill>
                  <a:srgbClr val="FFFFFF"/>
                </a:solidFill>
                <a:latin typeface="Poppins"/>
                <a:ea typeface="Poppins"/>
                <a:cs typeface="Poppins"/>
                <a:sym typeface="Poppins"/>
              </a:rPr>
              <a:t>uzemelteto</a:t>
            </a:r>
            <a:endParaRPr lang="en-US" sz="2499" noProof="0" dirty="0">
              <a:solidFill>
                <a:srgbClr val="FFFFFF"/>
              </a:solidFill>
              <a:latin typeface="Poppins"/>
              <a:ea typeface="Poppins"/>
              <a:cs typeface="Poppins"/>
              <a:sym typeface="Poppins"/>
            </a:endParaRPr>
          </a:p>
        </p:txBody>
      </p:sp>
      <p:sp>
        <p:nvSpPr>
          <p:cNvPr id="14" name="TextBox 14"/>
          <p:cNvSpPr txBox="1">
            <a:spLocks noGrp="1"/>
          </p:cNvSpPr>
          <p:nvPr>
            <p:ph type="title" idx="4294967295"/>
          </p:nvPr>
        </p:nvSpPr>
        <p:spPr>
          <a:xfrm>
            <a:off x="350685" y="2147937"/>
            <a:ext cx="5816524" cy="180453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nSpc>
                <a:spcPts val="7037"/>
              </a:lnSpc>
              <a:spcBef>
                <a:spcPts val="0"/>
              </a:spcBef>
              <a:defRPr/>
            </a:pPr>
            <a:r>
              <a:rPr lang="en-US" sz="6899" b="1" spc="-310" noProof="0" dirty="0">
                <a:solidFill>
                  <a:srgbClr val="FFFFFF"/>
                </a:solidFill>
                <a:latin typeface="Telegraf Bold"/>
                <a:ea typeface="Telegraf Bold"/>
                <a:cs typeface="Telegraf Bold"/>
                <a:sym typeface="Telegraf Bold"/>
              </a:rPr>
              <a:t>Database Structure</a:t>
            </a:r>
            <a:endParaRPr kumimoji="0" lang="en-US" sz="6899" b="1" i="0" u="none" strike="noStrike" kern="1200" cap="none" spc="-310" normalizeH="0" baseline="0" noProof="0" dirty="0">
              <a:ln>
                <a:noFill/>
              </a:ln>
              <a:solidFill>
                <a:srgbClr val="FFFFFF"/>
              </a:solidFill>
              <a:effectLst/>
              <a:uLnTx/>
              <a:uFillTx/>
              <a:latin typeface="Telegraf Bold"/>
              <a:ea typeface="Telegraf Bold"/>
              <a:cs typeface="Telegraf Bold"/>
              <a:sym typeface="Telegraf Bold"/>
            </a:endParaRPr>
          </a:p>
        </p:txBody>
      </p:sp>
      <p:sp>
        <p:nvSpPr>
          <p:cNvPr id="21" name="TextBox 11">
            <a:extLst>
              <a:ext uri="{FF2B5EF4-FFF2-40B4-BE49-F238E27FC236}">
                <a16:creationId xmlns:a16="http://schemas.microsoft.com/office/drawing/2014/main" id="{56D2D3F0-0462-916F-EA1C-B64EB958FCAA}"/>
              </a:ext>
            </a:extLst>
          </p:cNvPr>
          <p:cNvSpPr txBox="1"/>
          <p:nvPr/>
        </p:nvSpPr>
        <p:spPr>
          <a:xfrm>
            <a:off x="9144000" y="841660"/>
            <a:ext cx="1662550" cy="388633"/>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Features</a:t>
            </a:r>
          </a:p>
        </p:txBody>
      </p:sp>
      <p:sp>
        <p:nvSpPr>
          <p:cNvPr id="22" name="TextBox 12">
            <a:extLst>
              <a:ext uri="{FF2B5EF4-FFF2-40B4-BE49-F238E27FC236}">
                <a16:creationId xmlns:a16="http://schemas.microsoft.com/office/drawing/2014/main" id="{7ED10E83-BD7C-4DA2-50B9-89AB6F79FF6E}"/>
              </a:ext>
            </a:extLst>
          </p:cNvPr>
          <p:cNvSpPr txBox="1"/>
          <p:nvPr/>
        </p:nvSpPr>
        <p:spPr>
          <a:xfrm>
            <a:off x="11417845" y="641635"/>
            <a:ext cx="1944558" cy="799001"/>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Backend technologies</a:t>
            </a:r>
          </a:p>
        </p:txBody>
      </p:sp>
      <p:sp>
        <p:nvSpPr>
          <p:cNvPr id="23" name="TextBox 13">
            <a:extLst>
              <a:ext uri="{FF2B5EF4-FFF2-40B4-BE49-F238E27FC236}">
                <a16:creationId xmlns:a16="http://schemas.microsoft.com/office/drawing/2014/main" id="{DAB6D730-7BEB-9E22-358B-9F58A1A2E648}"/>
              </a:ext>
            </a:extLst>
          </p:cNvPr>
          <p:cNvSpPr txBox="1"/>
          <p:nvPr/>
        </p:nvSpPr>
        <p:spPr>
          <a:xfrm>
            <a:off x="13726729" y="819695"/>
            <a:ext cx="1916881" cy="409541"/>
          </a:xfrm>
          <a:prstGeom prst="rect">
            <a:avLst/>
          </a:prstGeom>
        </p:spPr>
        <p:txBody>
          <a:bodyPr lIns="0" tIns="0" rIns="0" bIns="0" rtlCol="0" anchor="t">
            <a:spAutoFit/>
          </a:bodyPr>
          <a:lstStyle/>
          <a:p>
            <a:pPr marL="0" lvl="0" indent="0" algn="ctr">
              <a:lnSpc>
                <a:spcPts val="3151"/>
              </a:lnSpc>
              <a:spcBef>
                <a:spcPct val="0"/>
              </a:spcBef>
            </a:pPr>
            <a:r>
              <a:rPr lang="en-US" sz="2251" noProof="0" dirty="0">
                <a:solidFill>
                  <a:srgbClr val="FFFFFF"/>
                </a:solidFill>
                <a:latin typeface="Poppins"/>
                <a:ea typeface="Poppins"/>
                <a:cs typeface="Poppins"/>
                <a:sym typeface="Poppins"/>
              </a:rPr>
              <a:t>API</a:t>
            </a:r>
          </a:p>
        </p:txBody>
      </p:sp>
      <p:sp>
        <p:nvSpPr>
          <p:cNvPr id="24" name="TextBox 14">
            <a:extLst>
              <a:ext uri="{FF2B5EF4-FFF2-40B4-BE49-F238E27FC236}">
                <a16:creationId xmlns:a16="http://schemas.microsoft.com/office/drawing/2014/main" id="{1CBD1DCA-6262-5438-016A-E9FDC94B32EE}"/>
              </a:ext>
            </a:extLst>
          </p:cNvPr>
          <p:cNvSpPr txBox="1"/>
          <p:nvPr/>
        </p:nvSpPr>
        <p:spPr>
          <a:xfrm>
            <a:off x="15034325" y="841660"/>
            <a:ext cx="2224975" cy="388633"/>
          </a:xfrm>
          <a:prstGeom prst="rect">
            <a:avLst/>
          </a:prstGeom>
        </p:spPr>
        <p:txBody>
          <a:bodyPr lIns="0" tIns="0" rIns="0" bIns="0" rtlCol="0" anchor="t">
            <a:spAutoFit/>
          </a:bodyPr>
          <a:lstStyle/>
          <a:p>
            <a:pPr lvl="0" algn="r">
              <a:lnSpc>
                <a:spcPts val="3151"/>
              </a:lnSpc>
              <a:spcBef>
                <a:spcPct val="0"/>
              </a:spcBef>
            </a:pPr>
            <a:r>
              <a:rPr lang="en-US" sz="2251" b="1" noProof="0" dirty="0">
                <a:solidFill>
                  <a:srgbClr val="FFFFFF"/>
                </a:solidFill>
                <a:latin typeface="Poppins"/>
                <a:ea typeface="Poppins"/>
                <a:cs typeface="Poppins"/>
                <a:sym typeface="Poppins"/>
              </a:rPr>
              <a:t>Database</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4" name="Freeform 3">
            <a:extLst>
              <a:ext uri="{FF2B5EF4-FFF2-40B4-BE49-F238E27FC236}">
                <a16:creationId xmlns:a16="http://schemas.microsoft.com/office/drawing/2014/main" id="{5D276EF8-A18E-0682-AB9E-C6505145B8AB}"/>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grpSp>
        <p:nvGrpSpPr>
          <p:cNvPr id="2" name="Group 2">
            <a:extLst>
              <a:ext uri="{C183D7F6-B498-43B3-948B-1728B52AA6E4}">
                <adec:decorative xmlns:adec="http://schemas.microsoft.com/office/drawing/2017/decorative" val="1"/>
              </a:ext>
            </a:extLst>
          </p:cNvPr>
          <p:cNvGrpSpPr/>
          <p:nvPr/>
        </p:nvGrpSpPr>
        <p:grpSpPr>
          <a:xfrm>
            <a:off x="7810643" y="2923292"/>
            <a:ext cx="9783203" cy="5849788"/>
            <a:chOff x="0" y="0"/>
            <a:chExt cx="2576646" cy="1540685"/>
          </a:xfrm>
        </p:grpSpPr>
        <p:sp>
          <p:nvSpPr>
            <p:cNvPr id="3" name="Freeform 3"/>
            <p:cNvSpPr/>
            <p:nvPr/>
          </p:nvSpPr>
          <p:spPr>
            <a:xfrm>
              <a:off x="0" y="0"/>
              <a:ext cx="2576646" cy="1540685"/>
            </a:xfrm>
            <a:custGeom>
              <a:avLst/>
              <a:gdLst/>
              <a:ahLst/>
              <a:cxnLst/>
              <a:rect l="l" t="t" r="r" b="b"/>
              <a:pathLst>
                <a:path w="2576646" h="1540685">
                  <a:moveTo>
                    <a:pt x="44315" y="0"/>
                  </a:moveTo>
                  <a:lnTo>
                    <a:pt x="2532331" y="0"/>
                  </a:lnTo>
                  <a:cubicBezTo>
                    <a:pt x="2556806" y="0"/>
                    <a:pt x="2576646" y="19841"/>
                    <a:pt x="2576646" y="44315"/>
                  </a:cubicBezTo>
                  <a:lnTo>
                    <a:pt x="2576646" y="1496370"/>
                  </a:lnTo>
                  <a:cubicBezTo>
                    <a:pt x="2576646" y="1508123"/>
                    <a:pt x="2571977" y="1519395"/>
                    <a:pt x="2563667" y="1527705"/>
                  </a:cubicBezTo>
                  <a:cubicBezTo>
                    <a:pt x="2555356" y="1536016"/>
                    <a:pt x="2544084" y="1540685"/>
                    <a:pt x="2532331" y="1540685"/>
                  </a:cubicBezTo>
                  <a:lnTo>
                    <a:pt x="44315" y="1540685"/>
                  </a:lnTo>
                  <a:cubicBezTo>
                    <a:pt x="32562" y="1540685"/>
                    <a:pt x="21290" y="1536016"/>
                    <a:pt x="12980" y="1527705"/>
                  </a:cubicBezTo>
                  <a:cubicBezTo>
                    <a:pt x="4669" y="1519395"/>
                    <a:pt x="0" y="1508123"/>
                    <a:pt x="0" y="1496370"/>
                  </a:cubicBezTo>
                  <a:lnTo>
                    <a:pt x="0" y="44315"/>
                  </a:lnTo>
                  <a:cubicBezTo>
                    <a:pt x="0" y="32562"/>
                    <a:pt x="4669" y="21290"/>
                    <a:pt x="12980" y="12980"/>
                  </a:cubicBezTo>
                  <a:cubicBezTo>
                    <a:pt x="21290" y="4669"/>
                    <a:pt x="32562" y="0"/>
                    <a:pt x="44315" y="0"/>
                  </a:cubicBezTo>
                  <a:close/>
                </a:path>
              </a:pathLst>
            </a:custGeom>
            <a:gradFill rotWithShape="1">
              <a:gsLst>
                <a:gs pos="0">
                  <a:srgbClr val="1B1F45"/>
                </a:gs>
                <a:gs pos="69000">
                  <a:srgbClr val="00A8CC"/>
                </a:gs>
                <a:gs pos="100000">
                  <a:srgbClr val="6C63FF"/>
                </a:gs>
              </a:gsLst>
              <a:path path="circle">
                <a:fillToRect r="100000" b="100000"/>
              </a:path>
              <a:tileRect l="-100000" t="-100000"/>
            </a:gradFill>
          </p:spPr>
          <p:txBody>
            <a:bodyPr/>
            <a:lstStyle/>
            <a:p>
              <a:endParaRPr lang="en-US" noProof="0" dirty="0"/>
            </a:p>
          </p:txBody>
        </p:sp>
        <p:sp>
          <p:nvSpPr>
            <p:cNvPr id="4" name="TextBox 4"/>
            <p:cNvSpPr txBox="1"/>
            <p:nvPr/>
          </p:nvSpPr>
          <p:spPr>
            <a:xfrm>
              <a:off x="0" y="-66675"/>
              <a:ext cx="2576646" cy="1607360"/>
            </a:xfrm>
            <a:prstGeom prst="rect">
              <a:avLst/>
            </a:prstGeom>
          </p:spPr>
          <p:txBody>
            <a:bodyPr lIns="50800" tIns="50800" rIns="50800" bIns="50800" rtlCol="0" anchor="ctr"/>
            <a:lstStyle/>
            <a:p>
              <a:pPr algn="ctr">
                <a:lnSpc>
                  <a:spcPts val="3151"/>
                </a:lnSpc>
              </a:pPr>
              <a:endParaRPr lang="en-US" noProof="0" dirty="0"/>
            </a:p>
          </p:txBody>
        </p:sp>
      </p:grpSp>
      <p:sp>
        <p:nvSpPr>
          <p:cNvPr id="5" name="Freeform 5">
            <a:extLs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3"/>
            <a:stretch>
              <a:fillRect/>
            </a:stretch>
          </a:blipFill>
        </p:spPr>
        <p:txBody>
          <a:bodyPr/>
          <a:lstStyle/>
          <a:p>
            <a:endParaRPr lang="en-US" noProof="0" dirty="0"/>
          </a:p>
        </p:txBody>
      </p:sp>
      <p:grpSp>
        <p:nvGrpSpPr>
          <p:cNvPr id="6" name="Group 6" descr="Lock kép"/>
          <p:cNvGrpSpPr/>
          <p:nvPr/>
        </p:nvGrpSpPr>
        <p:grpSpPr>
          <a:xfrm>
            <a:off x="1096762" y="2923292"/>
            <a:ext cx="6270972" cy="5911234"/>
            <a:chOff x="0" y="0"/>
            <a:chExt cx="944436" cy="890258"/>
          </a:xfrm>
        </p:grpSpPr>
        <p:sp>
          <p:nvSpPr>
            <p:cNvPr id="7" name="Freeform 7"/>
            <p:cNvSpPr/>
            <p:nvPr/>
          </p:nvSpPr>
          <p:spPr>
            <a:xfrm>
              <a:off x="0" y="0"/>
              <a:ext cx="944436" cy="890258"/>
            </a:xfrm>
            <a:custGeom>
              <a:avLst/>
              <a:gdLst/>
              <a:ahLst/>
              <a:cxnLst/>
              <a:rect l="l" t="t" r="r" b="b"/>
              <a:pathLst>
                <a:path w="944436" h="890258">
                  <a:moveTo>
                    <a:pt x="69136" y="0"/>
                  </a:moveTo>
                  <a:lnTo>
                    <a:pt x="875301" y="0"/>
                  </a:lnTo>
                  <a:cubicBezTo>
                    <a:pt x="893636" y="0"/>
                    <a:pt x="911221" y="7284"/>
                    <a:pt x="924187" y="20249"/>
                  </a:cubicBezTo>
                  <a:cubicBezTo>
                    <a:pt x="937152" y="33215"/>
                    <a:pt x="944436" y="50800"/>
                    <a:pt x="944436" y="69136"/>
                  </a:cubicBezTo>
                  <a:lnTo>
                    <a:pt x="944436" y="821122"/>
                  </a:lnTo>
                  <a:cubicBezTo>
                    <a:pt x="944436" y="839458"/>
                    <a:pt x="937152" y="857043"/>
                    <a:pt x="924187" y="870009"/>
                  </a:cubicBezTo>
                  <a:cubicBezTo>
                    <a:pt x="911221" y="882974"/>
                    <a:pt x="893636" y="890258"/>
                    <a:pt x="875301" y="890258"/>
                  </a:cubicBezTo>
                  <a:lnTo>
                    <a:pt x="69136" y="890258"/>
                  </a:lnTo>
                  <a:cubicBezTo>
                    <a:pt x="30953" y="890258"/>
                    <a:pt x="0" y="859305"/>
                    <a:pt x="0" y="821122"/>
                  </a:cubicBezTo>
                  <a:lnTo>
                    <a:pt x="0" y="69136"/>
                  </a:lnTo>
                  <a:cubicBezTo>
                    <a:pt x="0" y="50800"/>
                    <a:pt x="7284" y="33215"/>
                    <a:pt x="20249" y="20249"/>
                  </a:cubicBezTo>
                  <a:cubicBezTo>
                    <a:pt x="33215" y="7284"/>
                    <a:pt x="50800" y="0"/>
                    <a:pt x="69136" y="0"/>
                  </a:cubicBezTo>
                  <a:close/>
                </a:path>
              </a:pathLst>
            </a:custGeom>
            <a:blipFill>
              <a:blip r:embed="rId4"/>
              <a:stretch>
                <a:fillRect t="-3042" b="-3042"/>
              </a:stretch>
            </a:blipFill>
          </p:spPr>
          <p:txBody>
            <a:bodyPr/>
            <a:lstStyle/>
            <a:p>
              <a:endParaRPr lang="en-US" noProof="0" dirty="0"/>
            </a:p>
          </p:txBody>
        </p:sp>
      </p:grpSp>
      <p:sp>
        <p:nvSpPr>
          <p:cNvPr id="8" name="TextBox 8"/>
          <p:cNvSpPr txBox="1"/>
          <p:nvPr/>
        </p:nvSpPr>
        <p:spPr>
          <a:xfrm>
            <a:off x="8567686" y="5533250"/>
            <a:ext cx="8269119" cy="2533707"/>
          </a:xfrm>
          <a:prstGeom prst="rect">
            <a:avLst/>
          </a:prstGeom>
        </p:spPr>
        <p:txBody>
          <a:bodyPr lIns="0" tIns="0" rIns="0" bIns="0" rtlCol="0" anchor="t">
            <a:spAutoFit/>
          </a:bodyPr>
          <a:lstStyle/>
          <a:p>
            <a:pPr marL="777234" lvl="1" indent="-388617">
              <a:lnSpc>
                <a:spcPts val="5039"/>
              </a:lnSpc>
              <a:buFont typeface="Arial"/>
              <a:buChar char="•"/>
            </a:pPr>
            <a:r>
              <a:rPr lang="en-US" sz="3599" noProof="0" dirty="0">
                <a:solidFill>
                  <a:srgbClr val="FFFFFF"/>
                </a:solidFill>
                <a:latin typeface="Poppins"/>
                <a:ea typeface="Poppins"/>
                <a:cs typeface="Poppins"/>
                <a:sym typeface="Poppins"/>
              </a:rPr>
              <a:t>JWT token-based authentication</a:t>
            </a:r>
          </a:p>
          <a:p>
            <a:pPr marL="777234" lvl="1" indent="-388617">
              <a:lnSpc>
                <a:spcPts val="5039"/>
              </a:lnSpc>
              <a:buFont typeface="Arial"/>
              <a:buChar char="•"/>
            </a:pPr>
            <a:r>
              <a:rPr lang="en-US" sz="3599" noProof="0" dirty="0">
                <a:solidFill>
                  <a:srgbClr val="FFFFFF"/>
                </a:solidFill>
                <a:latin typeface="Poppins"/>
                <a:ea typeface="Poppins"/>
                <a:cs typeface="Poppins"/>
                <a:sym typeface="Poppins"/>
              </a:rPr>
              <a:t>Admin vs. user </a:t>
            </a:r>
            <a:r>
              <a:rPr lang="en-US" sz="3599" noProof="0" dirty="0" err="1">
                <a:solidFill>
                  <a:srgbClr val="FFFFFF"/>
                </a:solidFill>
                <a:latin typeface="Poppins"/>
                <a:ea typeface="Poppins"/>
                <a:cs typeface="Poppins"/>
                <a:sym typeface="Poppins"/>
              </a:rPr>
              <a:t>endpointsMiddleware</a:t>
            </a:r>
            <a:r>
              <a:rPr lang="en-US" sz="3599" noProof="0" dirty="0">
                <a:solidFill>
                  <a:srgbClr val="FFFFFF"/>
                </a:solidFill>
                <a:latin typeface="Poppins"/>
                <a:ea typeface="Poppins"/>
                <a:cs typeface="Poppins"/>
                <a:sym typeface="Poppins"/>
              </a:rPr>
              <a:t> validation</a:t>
            </a:r>
          </a:p>
        </p:txBody>
      </p:sp>
      <p:sp>
        <p:nvSpPr>
          <p:cNvPr id="9" name="TextBox 9"/>
          <p:cNvSpPr txBox="1">
            <a:spLocks noGrp="1"/>
          </p:cNvSpPr>
          <p:nvPr>
            <p:ph type="title" idx="4294967295"/>
          </p:nvPr>
        </p:nvSpPr>
        <p:spPr>
          <a:xfrm>
            <a:off x="8567686" y="3701917"/>
            <a:ext cx="8656428" cy="99514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gn="l">
              <a:lnSpc>
                <a:spcPts val="7669"/>
              </a:lnSpc>
              <a:spcBef>
                <a:spcPts val="0"/>
              </a:spcBef>
              <a:defRPr/>
            </a:pPr>
            <a:r>
              <a:rPr lang="en-US" sz="7519" b="1" spc="-338" noProof="0" dirty="0">
                <a:solidFill>
                  <a:srgbClr val="FFFFFF"/>
                </a:solidFill>
                <a:latin typeface="Telegraf Bold"/>
                <a:ea typeface="Telegraf Bold"/>
                <a:cs typeface="Telegraf Bold"/>
                <a:sym typeface="Telegraf Bold"/>
              </a:rPr>
              <a:t>Access Control</a:t>
            </a:r>
            <a:endParaRPr kumimoji="0" lang="en-US" sz="7519" b="1" i="0" u="none" strike="noStrike" kern="1200" cap="none" spc="-338" normalizeH="0" baseline="0" noProof="0" dirty="0">
              <a:ln>
                <a:noFill/>
              </a:ln>
              <a:solidFill>
                <a:srgbClr val="FFFFFF"/>
              </a:solidFill>
              <a:effectLst/>
              <a:uLnTx/>
              <a:uFillTx/>
              <a:latin typeface="Telegraf Bold"/>
              <a:ea typeface="Telegraf Bold"/>
              <a:cs typeface="Telegraf Bold"/>
              <a:sym typeface="Telegraf Bold"/>
            </a:endParaRPr>
          </a:p>
        </p:txBody>
      </p:sp>
      <p:sp>
        <p:nvSpPr>
          <p:cNvPr id="10" name="TextBox 10"/>
          <p:cNvSpPr txBox="1"/>
          <p:nvPr/>
        </p:nvSpPr>
        <p:spPr>
          <a:xfrm>
            <a:off x="8753475" y="879760"/>
            <a:ext cx="2197322" cy="388633"/>
          </a:xfrm>
          <a:prstGeom prst="rect">
            <a:avLst/>
          </a:prstGeom>
        </p:spPr>
        <p:txBody>
          <a:bodyPr lIns="0" tIns="0" rIns="0" bIns="0" rtlCol="0" anchor="t">
            <a:spAutoFit/>
          </a:bodyPr>
          <a:lstStyle/>
          <a:p>
            <a:pPr lvl="0" algn="r">
              <a:lnSpc>
                <a:spcPts val="3151"/>
              </a:lnSpc>
              <a:spcBef>
                <a:spcPct val="0"/>
              </a:spcBef>
            </a:pPr>
            <a:r>
              <a:rPr lang="en-US" sz="2251" b="1" noProof="0" dirty="0">
                <a:solidFill>
                  <a:srgbClr val="FFFFFF"/>
                </a:solidFill>
                <a:latin typeface="Poppins Bold"/>
                <a:ea typeface="Poppins Bold"/>
                <a:cs typeface="Poppins Bold"/>
                <a:sym typeface="Poppins Bold"/>
              </a:rPr>
              <a:t>Permissions</a:t>
            </a:r>
          </a:p>
        </p:txBody>
      </p:sp>
      <p:sp>
        <p:nvSpPr>
          <p:cNvPr id="11" name="TextBox 11"/>
          <p:cNvSpPr txBox="1"/>
          <p:nvPr/>
        </p:nvSpPr>
        <p:spPr>
          <a:xfrm>
            <a:off x="10950797" y="700844"/>
            <a:ext cx="1907082" cy="809591"/>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Booking Process</a:t>
            </a:r>
          </a:p>
        </p:txBody>
      </p:sp>
      <p:sp>
        <p:nvSpPr>
          <p:cNvPr id="12" name="TextBox 12"/>
          <p:cNvSpPr txBox="1"/>
          <p:nvPr/>
        </p:nvSpPr>
        <p:spPr>
          <a:xfrm>
            <a:off x="12954000" y="700844"/>
            <a:ext cx="1981200" cy="809591"/>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Development structure</a:t>
            </a:r>
          </a:p>
        </p:txBody>
      </p:sp>
      <p:sp>
        <p:nvSpPr>
          <p:cNvPr id="13" name="TextBox 13"/>
          <p:cNvSpPr txBox="1"/>
          <p:nvPr/>
        </p:nvSpPr>
        <p:spPr>
          <a:xfrm>
            <a:off x="14944725" y="700844"/>
            <a:ext cx="2506246" cy="799001"/>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Testing and Troubleshooting</a:t>
            </a:r>
          </a:p>
        </p:txBody>
      </p:sp>
      <p:sp>
        <p:nvSpPr>
          <p:cNvPr id="15" name="Freeform 3">
            <a:extLst>
              <a:ext uri="{FF2B5EF4-FFF2-40B4-BE49-F238E27FC236}">
                <a16:creationId xmlns:a16="http://schemas.microsoft.com/office/drawing/2014/main" id="{7389612D-F072-DEEB-B491-F83A21F23AED}"/>
              </a:ext>
              <a:ext uri="{C183D7F6-B498-43B3-948B-1728B52AA6E4}">
                <adec:decorative xmlns:adec="http://schemas.microsoft.com/office/drawing/2017/decorative" val="1"/>
              </a:ext>
            </a:extLst>
          </p:cNvPr>
          <p:cNvSpPr/>
          <p:nvPr/>
        </p:nvSpPr>
        <p:spPr>
          <a:xfrm>
            <a:off x="828446" y="777583"/>
            <a:ext cx="1111777" cy="1060162"/>
          </a:xfrm>
          <a:prstGeom prst="ellipse">
            <a:avLst/>
          </a:prstGeom>
          <a:solidFill>
            <a:srgbClr val="00A8CC">
              <a:alpha val="20000"/>
            </a:srgbClr>
          </a:solidFill>
          <a:effectLst>
            <a:softEdge rad="0"/>
          </a:effectLst>
        </p:spPr>
        <p:txBody>
          <a:bodyPr/>
          <a:lstStyle/>
          <a:p>
            <a:endParaRPr lang="en-US" noProof="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8" name="Freeform 3">
            <a:extLst>
              <a:ext uri="{FF2B5EF4-FFF2-40B4-BE49-F238E27FC236}">
                <a16:creationId xmlns:a16="http://schemas.microsoft.com/office/drawing/2014/main" id="{070CD530-38B6-3DDA-9D00-3435B2813BA2}"/>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grpSp>
        <p:nvGrpSpPr>
          <p:cNvPr id="2" name="Group 2" descr="foglalasi folyamat 1."/>
          <p:cNvGrpSpPr/>
          <p:nvPr/>
        </p:nvGrpSpPr>
        <p:grpSpPr>
          <a:xfrm>
            <a:off x="7067353" y="1894724"/>
            <a:ext cx="8252914" cy="7599868"/>
            <a:chOff x="0" y="0"/>
            <a:chExt cx="1278592" cy="1177418"/>
          </a:xfrm>
        </p:grpSpPr>
        <p:sp>
          <p:nvSpPr>
            <p:cNvPr id="3" name="Freeform 3"/>
            <p:cNvSpPr/>
            <p:nvPr/>
          </p:nvSpPr>
          <p:spPr>
            <a:xfrm>
              <a:off x="0" y="0"/>
              <a:ext cx="1278592" cy="1177418"/>
            </a:xfrm>
            <a:custGeom>
              <a:avLst/>
              <a:gdLst/>
              <a:ahLst/>
              <a:cxnLst/>
              <a:rect l="l" t="t" r="r" b="b"/>
              <a:pathLst>
                <a:path w="1278592" h="1177418">
                  <a:moveTo>
                    <a:pt x="52533" y="0"/>
                  </a:moveTo>
                  <a:lnTo>
                    <a:pt x="1226060" y="0"/>
                  </a:lnTo>
                  <a:cubicBezTo>
                    <a:pt x="1239992" y="0"/>
                    <a:pt x="1253354" y="5535"/>
                    <a:pt x="1263206" y="15386"/>
                  </a:cubicBezTo>
                  <a:cubicBezTo>
                    <a:pt x="1273058" y="25238"/>
                    <a:pt x="1278592" y="38600"/>
                    <a:pt x="1278592" y="52533"/>
                  </a:cubicBezTo>
                  <a:lnTo>
                    <a:pt x="1278592" y="1124886"/>
                  </a:lnTo>
                  <a:cubicBezTo>
                    <a:pt x="1278592" y="1138818"/>
                    <a:pt x="1273058" y="1152180"/>
                    <a:pt x="1263206" y="1162032"/>
                  </a:cubicBezTo>
                  <a:cubicBezTo>
                    <a:pt x="1253354" y="1171884"/>
                    <a:pt x="1239992" y="1177418"/>
                    <a:pt x="1226060" y="1177418"/>
                  </a:cubicBezTo>
                  <a:lnTo>
                    <a:pt x="52533" y="1177418"/>
                  </a:lnTo>
                  <a:cubicBezTo>
                    <a:pt x="38600" y="1177418"/>
                    <a:pt x="25238" y="1171884"/>
                    <a:pt x="15386" y="1162032"/>
                  </a:cubicBezTo>
                  <a:cubicBezTo>
                    <a:pt x="5535" y="1152180"/>
                    <a:pt x="0" y="1138818"/>
                    <a:pt x="0" y="1124886"/>
                  </a:cubicBezTo>
                  <a:lnTo>
                    <a:pt x="0" y="52533"/>
                  </a:lnTo>
                  <a:cubicBezTo>
                    <a:pt x="0" y="38600"/>
                    <a:pt x="5535" y="25238"/>
                    <a:pt x="15386" y="15386"/>
                  </a:cubicBezTo>
                  <a:cubicBezTo>
                    <a:pt x="25238" y="5535"/>
                    <a:pt x="38600" y="0"/>
                    <a:pt x="52533" y="0"/>
                  </a:cubicBezTo>
                  <a:close/>
                </a:path>
              </a:pathLst>
            </a:custGeom>
            <a:blipFill>
              <a:blip r:embed="rId3"/>
              <a:stretch>
                <a:fillRect l="-389" r="-389"/>
              </a:stretch>
            </a:blipFill>
          </p:spPr>
          <p:txBody>
            <a:bodyPr/>
            <a:lstStyle/>
            <a:p>
              <a:endParaRPr lang="en-US" noProof="0" dirty="0"/>
            </a:p>
          </p:txBody>
        </p:sp>
      </p:grpSp>
      <p:grpSp>
        <p:nvGrpSpPr>
          <p:cNvPr id="4" name="Group 4">
            <a:extLst>
              <a:ext uri="{C183D7F6-B498-43B3-948B-1728B52AA6E4}">
                <adec:decorative xmlns:adec="http://schemas.microsoft.com/office/drawing/2017/decorative" val="1"/>
              </a:ext>
            </a:extLst>
          </p:cNvPr>
          <p:cNvGrpSpPr/>
          <p:nvPr/>
        </p:nvGrpSpPr>
        <p:grpSpPr>
          <a:xfrm>
            <a:off x="803986" y="1894724"/>
            <a:ext cx="5327282" cy="2477588"/>
            <a:chOff x="0" y="0"/>
            <a:chExt cx="1403070" cy="652533"/>
          </a:xfrm>
        </p:grpSpPr>
        <p:sp>
          <p:nvSpPr>
            <p:cNvPr id="5" name="Freeform 5"/>
            <p:cNvSpPr/>
            <p:nvPr/>
          </p:nvSpPr>
          <p:spPr>
            <a:xfrm>
              <a:off x="0" y="0"/>
              <a:ext cx="1403070" cy="652533"/>
            </a:xfrm>
            <a:custGeom>
              <a:avLst/>
              <a:gdLst/>
              <a:ahLst/>
              <a:cxnLst/>
              <a:rect l="l" t="t" r="r" b="b"/>
              <a:pathLst>
                <a:path w="1403070" h="652533">
                  <a:moveTo>
                    <a:pt x="81383" y="0"/>
                  </a:moveTo>
                  <a:lnTo>
                    <a:pt x="1321688" y="0"/>
                  </a:lnTo>
                  <a:cubicBezTo>
                    <a:pt x="1366634" y="0"/>
                    <a:pt x="1403070" y="36436"/>
                    <a:pt x="1403070" y="81383"/>
                  </a:cubicBezTo>
                  <a:lnTo>
                    <a:pt x="1403070" y="571151"/>
                  </a:lnTo>
                  <a:cubicBezTo>
                    <a:pt x="1403070" y="616097"/>
                    <a:pt x="1366634" y="652533"/>
                    <a:pt x="1321688" y="652533"/>
                  </a:cubicBezTo>
                  <a:lnTo>
                    <a:pt x="81383" y="652533"/>
                  </a:lnTo>
                  <a:cubicBezTo>
                    <a:pt x="36436" y="652533"/>
                    <a:pt x="0" y="616097"/>
                    <a:pt x="0" y="571151"/>
                  </a:cubicBezTo>
                  <a:lnTo>
                    <a:pt x="0" y="81383"/>
                  </a:lnTo>
                  <a:cubicBezTo>
                    <a:pt x="0" y="36436"/>
                    <a:pt x="36436" y="0"/>
                    <a:pt x="81383" y="0"/>
                  </a:cubicBezTo>
                  <a:close/>
                </a:path>
              </a:pathLst>
            </a:custGeom>
            <a:gradFill rotWithShape="1">
              <a:gsLst>
                <a:gs pos="0">
                  <a:srgbClr val="000000">
                    <a:alpha val="78000"/>
                  </a:srgbClr>
                </a:gs>
                <a:gs pos="100000">
                  <a:srgbClr val="DDDDDD">
                    <a:alpha val="14820"/>
                  </a:srgbClr>
                </a:gs>
              </a:gsLst>
              <a:lin ang="2700000"/>
            </a:gradFill>
          </p:spPr>
          <p:txBody>
            <a:bodyPr/>
            <a:lstStyle/>
            <a:p>
              <a:endParaRPr lang="en-US" noProof="0" dirty="0"/>
            </a:p>
          </p:txBody>
        </p:sp>
        <p:sp>
          <p:nvSpPr>
            <p:cNvPr id="6" name="TextBox 6"/>
            <p:cNvSpPr txBox="1"/>
            <p:nvPr/>
          </p:nvSpPr>
          <p:spPr>
            <a:xfrm>
              <a:off x="0" y="-66675"/>
              <a:ext cx="1403070" cy="719208"/>
            </a:xfrm>
            <a:prstGeom prst="rect">
              <a:avLst/>
            </a:prstGeom>
          </p:spPr>
          <p:txBody>
            <a:bodyPr lIns="50800" tIns="50800" rIns="50800" bIns="50800" rtlCol="0" anchor="ctr"/>
            <a:lstStyle/>
            <a:p>
              <a:pPr algn="ctr">
                <a:lnSpc>
                  <a:spcPts val="3151"/>
                </a:lnSpc>
              </a:pPr>
              <a:endParaRPr lang="en-US" noProof="0" dirty="0"/>
            </a:p>
          </p:txBody>
        </p:sp>
      </p:grpSp>
      <p:grpSp>
        <p:nvGrpSpPr>
          <p:cNvPr id="7" name="Group 7">
            <a:extLst>
              <a:ext uri="{C183D7F6-B498-43B3-948B-1728B52AA6E4}">
                <adec:decorative xmlns:adec="http://schemas.microsoft.com/office/drawing/2017/decorative" val="1"/>
              </a:ext>
            </a:extLst>
          </p:cNvPr>
          <p:cNvGrpSpPr/>
          <p:nvPr/>
        </p:nvGrpSpPr>
        <p:grpSpPr>
          <a:xfrm>
            <a:off x="803986" y="4883665"/>
            <a:ext cx="5327282" cy="4610927"/>
            <a:chOff x="0" y="0"/>
            <a:chExt cx="1403070" cy="1214401"/>
          </a:xfrm>
        </p:grpSpPr>
        <p:sp>
          <p:nvSpPr>
            <p:cNvPr id="8" name="Freeform 8"/>
            <p:cNvSpPr/>
            <p:nvPr/>
          </p:nvSpPr>
          <p:spPr>
            <a:xfrm>
              <a:off x="0" y="0"/>
              <a:ext cx="1403070" cy="1214401"/>
            </a:xfrm>
            <a:custGeom>
              <a:avLst/>
              <a:gdLst/>
              <a:ahLst/>
              <a:cxnLst/>
              <a:rect l="l" t="t" r="r" b="b"/>
              <a:pathLst>
                <a:path w="1403070" h="1214401">
                  <a:moveTo>
                    <a:pt x="81383" y="0"/>
                  </a:moveTo>
                  <a:lnTo>
                    <a:pt x="1321688" y="0"/>
                  </a:lnTo>
                  <a:cubicBezTo>
                    <a:pt x="1366634" y="0"/>
                    <a:pt x="1403070" y="36436"/>
                    <a:pt x="1403070" y="81383"/>
                  </a:cubicBezTo>
                  <a:lnTo>
                    <a:pt x="1403070" y="1133018"/>
                  </a:lnTo>
                  <a:cubicBezTo>
                    <a:pt x="1403070" y="1177964"/>
                    <a:pt x="1366634" y="1214401"/>
                    <a:pt x="1321688" y="1214401"/>
                  </a:cubicBezTo>
                  <a:lnTo>
                    <a:pt x="81383" y="1214401"/>
                  </a:lnTo>
                  <a:cubicBezTo>
                    <a:pt x="36436" y="1214401"/>
                    <a:pt x="0" y="1177964"/>
                    <a:pt x="0" y="1133018"/>
                  </a:cubicBezTo>
                  <a:lnTo>
                    <a:pt x="0" y="81383"/>
                  </a:lnTo>
                  <a:cubicBezTo>
                    <a:pt x="0" y="36436"/>
                    <a:pt x="36436" y="0"/>
                    <a:pt x="81383" y="0"/>
                  </a:cubicBezTo>
                  <a:close/>
                </a:path>
              </a:pathLst>
            </a:custGeom>
            <a:gradFill rotWithShape="1">
              <a:gsLst>
                <a:gs pos="0">
                  <a:srgbClr val="1B1F45"/>
                </a:gs>
                <a:gs pos="58000">
                  <a:srgbClr val="00A8CC"/>
                </a:gs>
                <a:gs pos="100000">
                  <a:srgbClr val="6C63FF"/>
                </a:gs>
              </a:gsLst>
              <a:path path="circle">
                <a:fillToRect r="100000" b="100000"/>
              </a:path>
              <a:tileRect l="-100000" t="-100000"/>
            </a:gradFill>
          </p:spPr>
          <p:txBody>
            <a:bodyPr/>
            <a:lstStyle/>
            <a:p>
              <a:endParaRPr lang="en-US" noProof="0" dirty="0"/>
            </a:p>
          </p:txBody>
        </p:sp>
        <p:sp>
          <p:nvSpPr>
            <p:cNvPr id="9" name="TextBox 9"/>
            <p:cNvSpPr txBox="1"/>
            <p:nvPr/>
          </p:nvSpPr>
          <p:spPr>
            <a:xfrm>
              <a:off x="0" y="-66675"/>
              <a:ext cx="1403070" cy="1281076"/>
            </a:xfrm>
            <a:prstGeom prst="rect">
              <a:avLst/>
            </a:prstGeom>
          </p:spPr>
          <p:txBody>
            <a:bodyPr lIns="50800" tIns="50800" rIns="50800" bIns="50800" rtlCol="0" anchor="ctr"/>
            <a:lstStyle/>
            <a:p>
              <a:pPr algn="ctr">
                <a:lnSpc>
                  <a:spcPts val="3151"/>
                </a:lnSpc>
              </a:pPr>
              <a:endParaRPr lang="en-US" noProof="0" dirty="0"/>
            </a:p>
          </p:txBody>
        </p:sp>
      </p:grpSp>
      <p:sp>
        <p:nvSpPr>
          <p:cNvPr id="10" name="Freeform 10">
            <a:extLs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4"/>
            <a:stretch>
              <a:fillRect/>
            </a:stretch>
          </a:blipFill>
        </p:spPr>
        <p:txBody>
          <a:bodyPr/>
          <a:lstStyle/>
          <a:p>
            <a:endParaRPr lang="en-US" noProof="0" dirty="0"/>
          </a:p>
        </p:txBody>
      </p:sp>
      <p:sp>
        <p:nvSpPr>
          <p:cNvPr id="11" name="TextBox 11"/>
          <p:cNvSpPr txBox="1"/>
          <p:nvPr/>
        </p:nvSpPr>
        <p:spPr>
          <a:xfrm>
            <a:off x="1515543" y="6241073"/>
            <a:ext cx="3904167" cy="2286203"/>
          </a:xfrm>
          <a:prstGeom prst="rect">
            <a:avLst/>
          </a:prstGeom>
        </p:spPr>
        <p:txBody>
          <a:bodyPr lIns="0" tIns="0" rIns="0" bIns="0" rtlCol="0" anchor="t">
            <a:spAutoFit/>
          </a:bodyPr>
          <a:lstStyle/>
          <a:p>
            <a:pPr marL="561339" lvl="1" indent="-280669">
              <a:lnSpc>
                <a:spcPts val="3639"/>
              </a:lnSpc>
              <a:buFont typeface="Arial"/>
              <a:buChar char="•"/>
            </a:pPr>
            <a:r>
              <a:rPr lang="en-US" sz="2599" noProof="0" dirty="0">
                <a:solidFill>
                  <a:srgbClr val="FFFFFF"/>
                </a:solidFill>
                <a:latin typeface="Poppins"/>
                <a:ea typeface="Poppins"/>
                <a:cs typeface="Poppins"/>
                <a:sym typeface="Poppins"/>
              </a:rPr>
              <a:t>Select a device</a:t>
            </a:r>
          </a:p>
          <a:p>
            <a:pPr marL="561339" lvl="1" indent="-280669">
              <a:lnSpc>
                <a:spcPts val="3639"/>
              </a:lnSpc>
              <a:buFont typeface="Arial"/>
              <a:buChar char="•"/>
            </a:pPr>
            <a:r>
              <a:rPr lang="en-US" sz="2599" noProof="0" dirty="0">
                <a:solidFill>
                  <a:srgbClr val="FFFFFF"/>
                </a:solidFill>
                <a:latin typeface="Poppins"/>
                <a:ea typeface="Poppins"/>
                <a:cs typeface="Poppins"/>
                <a:sym typeface="Poppins"/>
              </a:rPr>
              <a:t>Select a date</a:t>
            </a:r>
          </a:p>
          <a:p>
            <a:pPr marL="561339" lvl="1" indent="-280669">
              <a:lnSpc>
                <a:spcPts val="3639"/>
              </a:lnSpc>
              <a:buFont typeface="Arial"/>
              <a:buChar char="•"/>
            </a:pPr>
            <a:r>
              <a:rPr lang="en-US" sz="2599" noProof="0" dirty="0">
                <a:solidFill>
                  <a:srgbClr val="FFFFFF"/>
                </a:solidFill>
                <a:latin typeface="Poppins"/>
                <a:ea typeface="Poppins"/>
                <a:cs typeface="Poppins"/>
                <a:sym typeface="Poppins"/>
              </a:rPr>
              <a:t>Enter your information</a:t>
            </a:r>
          </a:p>
          <a:p>
            <a:pPr marL="561339" lvl="1" indent="-280669">
              <a:lnSpc>
                <a:spcPts val="3639"/>
              </a:lnSpc>
              <a:buFont typeface="Arial"/>
              <a:buChar char="•"/>
            </a:pPr>
            <a:r>
              <a:rPr lang="en-US" sz="2599" noProof="0" dirty="0">
                <a:solidFill>
                  <a:srgbClr val="FFFFFF"/>
                </a:solidFill>
                <a:latin typeface="Poppins"/>
                <a:ea typeface="Poppins"/>
                <a:cs typeface="Poppins"/>
                <a:sym typeface="Poppins"/>
              </a:rPr>
              <a:t>Confirm</a:t>
            </a:r>
          </a:p>
        </p:txBody>
      </p:sp>
      <p:sp>
        <p:nvSpPr>
          <p:cNvPr id="12" name="TextBox 12"/>
          <p:cNvSpPr txBox="1">
            <a:spLocks noGrp="1"/>
          </p:cNvSpPr>
          <p:nvPr>
            <p:ph type="title" idx="4294967295"/>
          </p:nvPr>
        </p:nvSpPr>
        <p:spPr>
          <a:xfrm>
            <a:off x="1328945" y="2372902"/>
            <a:ext cx="4277362" cy="149502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gn="l">
              <a:lnSpc>
                <a:spcPts val="5826"/>
              </a:lnSpc>
              <a:spcBef>
                <a:spcPts val="0"/>
              </a:spcBef>
              <a:defRPr/>
            </a:pPr>
            <a:r>
              <a:rPr lang="en-US" sz="5712" b="1" spc="-257" noProof="0" dirty="0">
                <a:solidFill>
                  <a:srgbClr val="FFFFFF"/>
                </a:solidFill>
                <a:latin typeface="Telegraf Bold"/>
                <a:ea typeface="Telegraf Bold"/>
                <a:cs typeface="Telegraf Bold"/>
                <a:sym typeface="Telegraf Bold"/>
              </a:rPr>
              <a:t>Booking Process</a:t>
            </a:r>
            <a:endParaRPr kumimoji="0" lang="en-US" sz="5712" b="1" i="0" u="none" strike="noStrike" kern="1200" cap="none" spc="-257" normalizeH="0" baseline="0" noProof="0" dirty="0">
              <a:ln>
                <a:noFill/>
              </a:ln>
              <a:solidFill>
                <a:srgbClr val="FFFFFF"/>
              </a:solidFill>
              <a:effectLst/>
              <a:uLnTx/>
              <a:uFillTx/>
              <a:latin typeface="Telegraf Bold"/>
              <a:ea typeface="Telegraf Bold"/>
              <a:cs typeface="Telegraf Bold"/>
              <a:sym typeface="Telegraf Bold"/>
            </a:endParaRPr>
          </a:p>
        </p:txBody>
      </p:sp>
      <p:sp>
        <p:nvSpPr>
          <p:cNvPr id="13" name="AutoShape 13">
            <a:extLst>
              <a:ext uri="{C183D7F6-B498-43B3-948B-1728B52AA6E4}">
                <adec:decorative xmlns:adec="http://schemas.microsoft.com/office/drawing/2017/decorative" val="1"/>
              </a:ext>
            </a:extLst>
          </p:cNvPr>
          <p:cNvSpPr/>
          <p:nvPr/>
        </p:nvSpPr>
        <p:spPr>
          <a:xfrm>
            <a:off x="16078001" y="5694658"/>
            <a:ext cx="1630673" cy="0"/>
          </a:xfrm>
          <a:prstGeom prst="line">
            <a:avLst/>
          </a:prstGeom>
          <a:ln w="38100" cap="flat">
            <a:solidFill>
              <a:srgbClr val="FFFFFF"/>
            </a:solidFill>
            <a:prstDash val="solid"/>
            <a:headEnd type="none" w="sm" len="sm"/>
            <a:tailEnd type="triangle" w="lg" len="med"/>
          </a:ln>
        </p:spPr>
        <p:txBody>
          <a:bodyPr/>
          <a:lstStyle/>
          <a:p>
            <a:endParaRPr lang="en-US" noProof="0" dirty="0"/>
          </a:p>
        </p:txBody>
      </p:sp>
      <p:sp>
        <p:nvSpPr>
          <p:cNvPr id="19" name="Freeform 3">
            <a:extLst>
              <a:ext uri="{FF2B5EF4-FFF2-40B4-BE49-F238E27FC236}">
                <a16:creationId xmlns:a16="http://schemas.microsoft.com/office/drawing/2014/main" id="{61013CDC-1459-E48A-F427-E3C3EF2A690D}"/>
              </a:ext>
              <a:ext uri="{C183D7F6-B498-43B3-948B-1728B52AA6E4}">
                <adec:decorative xmlns:adec="http://schemas.microsoft.com/office/drawing/2017/decorative" val="1"/>
              </a:ext>
            </a:extLst>
          </p:cNvPr>
          <p:cNvSpPr/>
          <p:nvPr/>
        </p:nvSpPr>
        <p:spPr>
          <a:xfrm>
            <a:off x="828446" y="777583"/>
            <a:ext cx="1111777" cy="1060162"/>
          </a:xfrm>
          <a:prstGeom prst="ellipse">
            <a:avLst/>
          </a:prstGeom>
          <a:solidFill>
            <a:srgbClr val="00A8CC">
              <a:alpha val="20000"/>
            </a:srgbClr>
          </a:solidFill>
          <a:effectLst>
            <a:softEdge rad="0"/>
          </a:effectLst>
        </p:spPr>
        <p:txBody>
          <a:bodyPr/>
          <a:lstStyle/>
          <a:p>
            <a:endParaRPr lang="en-US" noProof="0" dirty="0"/>
          </a:p>
        </p:txBody>
      </p:sp>
      <p:sp>
        <p:nvSpPr>
          <p:cNvPr id="20" name="TextBox 10">
            <a:extLst>
              <a:ext uri="{FF2B5EF4-FFF2-40B4-BE49-F238E27FC236}">
                <a16:creationId xmlns:a16="http://schemas.microsoft.com/office/drawing/2014/main" id="{D672D441-ABCC-8E58-A55D-B4B242121801}"/>
              </a:ext>
            </a:extLst>
          </p:cNvPr>
          <p:cNvSpPr txBox="1"/>
          <p:nvPr/>
        </p:nvSpPr>
        <p:spPr>
          <a:xfrm>
            <a:off x="8753475" y="879760"/>
            <a:ext cx="2197322" cy="388633"/>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Permissions</a:t>
            </a:r>
          </a:p>
        </p:txBody>
      </p:sp>
      <p:sp>
        <p:nvSpPr>
          <p:cNvPr id="21" name="TextBox 11">
            <a:extLst>
              <a:ext uri="{FF2B5EF4-FFF2-40B4-BE49-F238E27FC236}">
                <a16:creationId xmlns:a16="http://schemas.microsoft.com/office/drawing/2014/main" id="{EF93F3B5-0224-9A4D-FE59-B7B6823DD7F4}"/>
              </a:ext>
            </a:extLst>
          </p:cNvPr>
          <p:cNvSpPr txBox="1"/>
          <p:nvPr/>
        </p:nvSpPr>
        <p:spPr>
          <a:xfrm>
            <a:off x="10950797" y="700844"/>
            <a:ext cx="1907082" cy="809591"/>
          </a:xfrm>
          <a:prstGeom prst="rect">
            <a:avLst/>
          </a:prstGeom>
        </p:spPr>
        <p:txBody>
          <a:bodyPr lIns="0" tIns="0" rIns="0" bIns="0" rtlCol="0" anchor="t">
            <a:spAutoFit/>
          </a:bodyPr>
          <a:lstStyle/>
          <a:p>
            <a:pPr lvl="0" algn="ctr">
              <a:lnSpc>
                <a:spcPts val="3151"/>
              </a:lnSpc>
              <a:spcBef>
                <a:spcPct val="0"/>
              </a:spcBef>
            </a:pPr>
            <a:r>
              <a:rPr lang="en-US" sz="2251" b="1" noProof="0" dirty="0">
                <a:solidFill>
                  <a:srgbClr val="FFFFFF"/>
                </a:solidFill>
                <a:latin typeface="Poppins"/>
                <a:ea typeface="Poppins"/>
                <a:cs typeface="Poppins"/>
                <a:sym typeface="Poppins"/>
              </a:rPr>
              <a:t>Booking Process</a:t>
            </a:r>
          </a:p>
        </p:txBody>
      </p:sp>
      <p:sp>
        <p:nvSpPr>
          <p:cNvPr id="22" name="TextBox 12">
            <a:extLst>
              <a:ext uri="{FF2B5EF4-FFF2-40B4-BE49-F238E27FC236}">
                <a16:creationId xmlns:a16="http://schemas.microsoft.com/office/drawing/2014/main" id="{71D5C585-075B-2312-E891-934544B182C8}"/>
              </a:ext>
            </a:extLst>
          </p:cNvPr>
          <p:cNvSpPr txBox="1"/>
          <p:nvPr/>
        </p:nvSpPr>
        <p:spPr>
          <a:xfrm>
            <a:off x="12954000" y="700844"/>
            <a:ext cx="1981200" cy="809591"/>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Development structure</a:t>
            </a:r>
          </a:p>
        </p:txBody>
      </p:sp>
      <p:sp>
        <p:nvSpPr>
          <p:cNvPr id="23" name="TextBox 13">
            <a:extLst>
              <a:ext uri="{FF2B5EF4-FFF2-40B4-BE49-F238E27FC236}">
                <a16:creationId xmlns:a16="http://schemas.microsoft.com/office/drawing/2014/main" id="{81DD9A46-60FE-F767-4D20-9CDDF063C480}"/>
              </a:ext>
            </a:extLst>
          </p:cNvPr>
          <p:cNvSpPr txBox="1"/>
          <p:nvPr/>
        </p:nvSpPr>
        <p:spPr>
          <a:xfrm>
            <a:off x="14944725" y="700844"/>
            <a:ext cx="2506246" cy="799001"/>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Testing and Troubleshooting</a:t>
            </a: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0" name="Freeform 3">
            <a:extLst>
              <a:ext uri="{FF2B5EF4-FFF2-40B4-BE49-F238E27FC236}">
                <a16:creationId xmlns:a16="http://schemas.microsoft.com/office/drawing/2014/main" id="{C3E9BA85-2E25-3364-688B-0656811FEC73}"/>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sp>
        <p:nvSpPr>
          <p:cNvPr id="2" name="Freeform 2">
            <a:extLst>
              <a:ext uri="{C183D7F6-B498-43B3-948B-1728B52AA6E4}">
                <adec:decorative xmlns:adec="http://schemas.microsoft.com/office/drawing/2017/decorative" val="1"/>
              </a:ext>
            </a:extLst>
          </p:cNvPr>
          <p:cNvSpPr/>
          <p:nvPr/>
        </p:nvSpPr>
        <p:spPr>
          <a:xfrm>
            <a:off x="272809" y="1748522"/>
            <a:ext cx="8606805" cy="8208740"/>
          </a:xfrm>
          <a:custGeom>
            <a:avLst/>
            <a:gdLst/>
            <a:ahLst/>
            <a:cxnLst/>
            <a:rect l="l" t="t" r="r" b="b"/>
            <a:pathLst>
              <a:path w="8606805" h="8208740">
                <a:moveTo>
                  <a:pt x="0" y="0"/>
                </a:moveTo>
                <a:lnTo>
                  <a:pt x="8606805" y="0"/>
                </a:lnTo>
                <a:lnTo>
                  <a:pt x="8606805" y="8208741"/>
                </a:lnTo>
                <a:lnTo>
                  <a:pt x="0" y="8208741"/>
                </a:lnTo>
                <a:lnTo>
                  <a:pt x="0" y="0"/>
                </a:lnTo>
                <a:close/>
              </a:path>
            </a:pathLst>
          </a:custGeom>
          <a:blipFill>
            <a:blip r:embed="rId3"/>
            <a:stretch>
              <a:fillRect/>
            </a:stretch>
          </a:blipFill>
        </p:spPr>
        <p:txBody>
          <a:bodyPr/>
          <a:lstStyle/>
          <a:p>
            <a:endParaRPr lang="en-US" noProof="0" dirty="0"/>
          </a:p>
        </p:txBody>
      </p:sp>
      <p:sp>
        <p:nvSpPr>
          <p:cNvPr id="3" name="Freeform 3">
            <a:extLst>
              <a:ext uri="{C183D7F6-B498-43B3-948B-1728B52AA6E4}">
                <adec:decorative xmlns:adec="http://schemas.microsoft.com/office/drawing/2017/decorative" val="1"/>
              </a:ext>
            </a:extLst>
          </p:cNvPr>
          <p:cNvSpPr/>
          <p:nvPr/>
        </p:nvSpPr>
        <p:spPr>
          <a:xfrm>
            <a:off x="9397091" y="1767572"/>
            <a:ext cx="8618100" cy="8208740"/>
          </a:xfrm>
          <a:custGeom>
            <a:avLst/>
            <a:gdLst/>
            <a:ahLst/>
            <a:cxnLst/>
            <a:rect l="l" t="t" r="r" b="b"/>
            <a:pathLst>
              <a:path w="8618100" h="8208740">
                <a:moveTo>
                  <a:pt x="0" y="0"/>
                </a:moveTo>
                <a:lnTo>
                  <a:pt x="8618100" y="0"/>
                </a:lnTo>
                <a:lnTo>
                  <a:pt x="8618100" y="8208741"/>
                </a:lnTo>
                <a:lnTo>
                  <a:pt x="0" y="8208741"/>
                </a:lnTo>
                <a:lnTo>
                  <a:pt x="0" y="0"/>
                </a:lnTo>
                <a:close/>
              </a:path>
            </a:pathLst>
          </a:custGeom>
          <a:blipFill>
            <a:blip r:embed="rId4"/>
            <a:stretch>
              <a:fillRect/>
            </a:stretch>
          </a:blipFill>
        </p:spPr>
        <p:txBody>
          <a:bodyPr/>
          <a:lstStyle/>
          <a:p>
            <a:endParaRPr lang="en-US" noProof="0" dirty="0"/>
          </a:p>
        </p:txBody>
      </p:sp>
      <p:sp>
        <p:nvSpPr>
          <p:cNvPr id="4" name="AutoShape 4">
            <a:extLst>
              <a:ext uri="{C183D7F6-B498-43B3-948B-1728B52AA6E4}">
                <adec:decorative xmlns:adec="http://schemas.microsoft.com/office/drawing/2017/decorative" val="1"/>
              </a:ext>
            </a:extLst>
          </p:cNvPr>
          <p:cNvSpPr/>
          <p:nvPr/>
        </p:nvSpPr>
        <p:spPr>
          <a:xfrm flipV="1">
            <a:off x="8646259" y="5871943"/>
            <a:ext cx="930689" cy="0"/>
          </a:xfrm>
          <a:prstGeom prst="line">
            <a:avLst/>
          </a:prstGeom>
          <a:ln w="38100" cap="flat">
            <a:solidFill>
              <a:srgbClr val="FFFFFF"/>
            </a:solidFill>
            <a:prstDash val="solid"/>
            <a:headEnd type="none" w="sm" len="sm"/>
            <a:tailEnd type="triangle" w="lg" len="med"/>
          </a:ln>
        </p:spPr>
        <p:txBody>
          <a:bodyPr/>
          <a:lstStyle/>
          <a:p>
            <a:endParaRPr lang="en-US" noProof="0" dirty="0"/>
          </a:p>
        </p:txBody>
      </p:sp>
      <p:sp>
        <p:nvSpPr>
          <p:cNvPr id="9" name="Freeform 9">
            <a:extLst>
              <a:ext uri="{C183D7F6-B498-43B3-948B-1728B52AA6E4}">
                <adec:decorative xmlns:adec="http://schemas.microsoft.com/office/drawing/2017/decorative" val="1"/>
              </a:ext>
            </a:extLst>
          </p:cNvPr>
          <p:cNvSpPr/>
          <p:nvPr/>
        </p:nvSpPr>
        <p:spPr>
          <a:xfrm>
            <a:off x="914400" y="703564"/>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5"/>
            <a:stretch>
              <a:fillRect/>
            </a:stretch>
          </a:blipFill>
        </p:spPr>
        <p:txBody>
          <a:bodyPr/>
          <a:lstStyle/>
          <a:p>
            <a:endParaRPr lang="en-US" noProof="0" dirty="0"/>
          </a:p>
        </p:txBody>
      </p:sp>
      <p:sp>
        <p:nvSpPr>
          <p:cNvPr id="11" name="Freeform 3">
            <a:extLst>
              <a:ext uri="{FF2B5EF4-FFF2-40B4-BE49-F238E27FC236}">
                <a16:creationId xmlns:a16="http://schemas.microsoft.com/office/drawing/2014/main" id="{B2E08B98-0EA0-98D9-2ED7-3DDBDFF97418}"/>
              </a:ext>
              <a:ext uri="{C183D7F6-B498-43B3-948B-1728B52AA6E4}">
                <adec:decorative xmlns:adec="http://schemas.microsoft.com/office/drawing/2017/decorative" val="1"/>
              </a:ext>
            </a:extLst>
          </p:cNvPr>
          <p:cNvSpPr/>
          <p:nvPr/>
        </p:nvSpPr>
        <p:spPr>
          <a:xfrm>
            <a:off x="737357" y="575559"/>
            <a:ext cx="1111777" cy="1060162"/>
          </a:xfrm>
          <a:prstGeom prst="ellipse">
            <a:avLst/>
          </a:prstGeom>
          <a:solidFill>
            <a:srgbClr val="00A8CC">
              <a:alpha val="20000"/>
            </a:srgbClr>
          </a:solidFill>
          <a:effectLst>
            <a:softEdge rad="0"/>
          </a:effectLst>
        </p:spPr>
        <p:txBody>
          <a:bodyPr/>
          <a:lstStyle/>
          <a:p>
            <a:endParaRPr lang="en-US" noProof="0" dirty="0"/>
          </a:p>
        </p:txBody>
      </p:sp>
      <p:sp>
        <p:nvSpPr>
          <p:cNvPr id="12" name="TextBox 10">
            <a:extLst>
              <a:ext uri="{FF2B5EF4-FFF2-40B4-BE49-F238E27FC236}">
                <a16:creationId xmlns:a16="http://schemas.microsoft.com/office/drawing/2014/main" id="{56CC3EC2-F2E0-28D8-0F94-6E79BB53DD5A}"/>
              </a:ext>
            </a:extLst>
          </p:cNvPr>
          <p:cNvSpPr txBox="1"/>
          <p:nvPr/>
        </p:nvSpPr>
        <p:spPr>
          <a:xfrm>
            <a:off x="8753475" y="879760"/>
            <a:ext cx="2197322" cy="388633"/>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Permissions</a:t>
            </a:r>
          </a:p>
        </p:txBody>
      </p:sp>
      <p:sp>
        <p:nvSpPr>
          <p:cNvPr id="13" name="TextBox 11">
            <a:extLst>
              <a:ext uri="{FF2B5EF4-FFF2-40B4-BE49-F238E27FC236}">
                <a16:creationId xmlns:a16="http://schemas.microsoft.com/office/drawing/2014/main" id="{5B8B02CD-0BAF-A8E4-3E35-322EB59C9295}"/>
              </a:ext>
            </a:extLst>
          </p:cNvPr>
          <p:cNvSpPr txBox="1">
            <a:spLocks noGrp="1"/>
          </p:cNvSpPr>
          <p:nvPr>
            <p:ph type="title" idx="4294967295"/>
          </p:nvPr>
        </p:nvSpPr>
        <p:spPr>
          <a:xfrm>
            <a:off x="10950797" y="700844"/>
            <a:ext cx="1907082" cy="809591"/>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ts val="3151"/>
              </a:lnSpc>
              <a:spcBef>
                <a:spcPct val="0"/>
              </a:spcBef>
              <a:spcAft>
                <a:spcPts val="0"/>
              </a:spcAft>
              <a:buClrTx/>
              <a:buSzTx/>
              <a:buFontTx/>
              <a:buNone/>
              <a:tabLst/>
              <a:defRPr/>
            </a:pPr>
            <a:r>
              <a:rPr kumimoji="0" lang="en-US" sz="2251" b="1" i="0" u="none" strike="noStrike" kern="1200" cap="none" spc="0" normalizeH="0" baseline="0" noProof="0" dirty="0">
                <a:ln>
                  <a:noFill/>
                </a:ln>
                <a:solidFill>
                  <a:srgbClr val="FFFFFF"/>
                </a:solidFill>
                <a:effectLst/>
                <a:uLnTx/>
                <a:uFillTx/>
                <a:latin typeface="Poppins"/>
                <a:ea typeface="Poppins"/>
                <a:cs typeface="Poppins"/>
                <a:sym typeface="Poppins"/>
              </a:rPr>
              <a:t>Booking Process</a:t>
            </a:r>
          </a:p>
        </p:txBody>
      </p:sp>
      <p:sp>
        <p:nvSpPr>
          <p:cNvPr id="14" name="TextBox 12">
            <a:extLst>
              <a:ext uri="{FF2B5EF4-FFF2-40B4-BE49-F238E27FC236}">
                <a16:creationId xmlns:a16="http://schemas.microsoft.com/office/drawing/2014/main" id="{91F9FC46-194C-FF65-D036-D3495DB19B0B}"/>
              </a:ext>
            </a:extLst>
          </p:cNvPr>
          <p:cNvSpPr txBox="1"/>
          <p:nvPr/>
        </p:nvSpPr>
        <p:spPr>
          <a:xfrm>
            <a:off x="12954000" y="700844"/>
            <a:ext cx="1981200" cy="809591"/>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Development structure</a:t>
            </a:r>
          </a:p>
        </p:txBody>
      </p:sp>
      <p:sp>
        <p:nvSpPr>
          <p:cNvPr id="15" name="TextBox 13">
            <a:extLst>
              <a:ext uri="{FF2B5EF4-FFF2-40B4-BE49-F238E27FC236}">
                <a16:creationId xmlns:a16="http://schemas.microsoft.com/office/drawing/2014/main" id="{418EB611-6524-A1F5-70BB-3AAA84C75F06}"/>
              </a:ext>
            </a:extLst>
          </p:cNvPr>
          <p:cNvSpPr txBox="1"/>
          <p:nvPr/>
        </p:nvSpPr>
        <p:spPr>
          <a:xfrm>
            <a:off x="14944725" y="700844"/>
            <a:ext cx="2506246" cy="799001"/>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Testing and Troubleshooting</a:t>
            </a:r>
          </a:p>
        </p:txBody>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0" name="Freeform 3">
            <a:extLst>
              <a:ext uri="{FF2B5EF4-FFF2-40B4-BE49-F238E27FC236}">
                <a16:creationId xmlns:a16="http://schemas.microsoft.com/office/drawing/2014/main" id="{1137B677-B30D-CCC0-1565-23213322842E}"/>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sp>
        <p:nvSpPr>
          <p:cNvPr id="2" name="Freeform 2">
            <a:extLst>
              <a:ext uri="{C183D7F6-B498-43B3-948B-1728B52AA6E4}">
                <adec:decorative xmlns:adec="http://schemas.microsoft.com/office/drawing/2017/decorative" val="1"/>
              </a:ext>
            </a:extLst>
          </p:cNvPr>
          <p:cNvSpPr/>
          <p:nvPr/>
        </p:nvSpPr>
        <p:spPr>
          <a:xfrm>
            <a:off x="288326" y="1652394"/>
            <a:ext cx="8584304" cy="8208740"/>
          </a:xfrm>
          <a:custGeom>
            <a:avLst/>
            <a:gdLst/>
            <a:ahLst/>
            <a:cxnLst/>
            <a:rect l="l" t="t" r="r" b="b"/>
            <a:pathLst>
              <a:path w="8584304" h="8208740">
                <a:moveTo>
                  <a:pt x="0" y="0"/>
                </a:moveTo>
                <a:lnTo>
                  <a:pt x="8584303" y="0"/>
                </a:lnTo>
                <a:lnTo>
                  <a:pt x="8584303" y="8208740"/>
                </a:lnTo>
                <a:lnTo>
                  <a:pt x="0" y="8208740"/>
                </a:lnTo>
                <a:lnTo>
                  <a:pt x="0" y="0"/>
                </a:lnTo>
                <a:close/>
              </a:path>
            </a:pathLst>
          </a:custGeom>
          <a:blipFill>
            <a:blip r:embed="rId3"/>
            <a:stretch>
              <a:fillRect/>
            </a:stretch>
          </a:blipFill>
        </p:spPr>
        <p:txBody>
          <a:bodyPr/>
          <a:lstStyle/>
          <a:p>
            <a:endParaRPr lang="en-US" noProof="0" dirty="0"/>
          </a:p>
        </p:txBody>
      </p:sp>
      <p:sp>
        <p:nvSpPr>
          <p:cNvPr id="3" name="Freeform 3">
            <a:extLst>
              <a:ext uri="{C183D7F6-B498-43B3-948B-1728B52AA6E4}">
                <adec:decorative xmlns:adec="http://schemas.microsoft.com/office/drawing/2017/decorative" val="1"/>
              </a:ext>
            </a:extLst>
          </p:cNvPr>
          <p:cNvSpPr/>
          <p:nvPr/>
        </p:nvSpPr>
        <p:spPr>
          <a:xfrm>
            <a:off x="9301671" y="1652394"/>
            <a:ext cx="8698003" cy="8208740"/>
          </a:xfrm>
          <a:custGeom>
            <a:avLst/>
            <a:gdLst/>
            <a:ahLst/>
            <a:cxnLst/>
            <a:rect l="l" t="t" r="r" b="b"/>
            <a:pathLst>
              <a:path w="8698003" h="8208740">
                <a:moveTo>
                  <a:pt x="0" y="0"/>
                </a:moveTo>
                <a:lnTo>
                  <a:pt x="8698003" y="0"/>
                </a:lnTo>
                <a:lnTo>
                  <a:pt x="8698003" y="8208740"/>
                </a:lnTo>
                <a:lnTo>
                  <a:pt x="0" y="8208740"/>
                </a:lnTo>
                <a:lnTo>
                  <a:pt x="0" y="0"/>
                </a:lnTo>
                <a:close/>
              </a:path>
            </a:pathLst>
          </a:custGeom>
          <a:blipFill>
            <a:blip r:embed="rId4"/>
            <a:stretch>
              <a:fillRect/>
            </a:stretch>
          </a:blipFill>
        </p:spPr>
        <p:txBody>
          <a:bodyPr/>
          <a:lstStyle/>
          <a:p>
            <a:endParaRPr lang="en-US" noProof="0" dirty="0"/>
          </a:p>
        </p:txBody>
      </p:sp>
      <p:sp>
        <p:nvSpPr>
          <p:cNvPr id="4" name="AutoShape 4">
            <a:extLst>
              <a:ext uri="{C183D7F6-B498-43B3-948B-1728B52AA6E4}">
                <adec:decorative xmlns:adec="http://schemas.microsoft.com/office/drawing/2017/decorative" val="1"/>
              </a:ext>
            </a:extLst>
          </p:cNvPr>
          <p:cNvSpPr/>
          <p:nvPr/>
        </p:nvSpPr>
        <p:spPr>
          <a:xfrm>
            <a:off x="8594593" y="5742024"/>
            <a:ext cx="901519" cy="8620"/>
          </a:xfrm>
          <a:prstGeom prst="line">
            <a:avLst/>
          </a:prstGeom>
          <a:ln w="38100" cap="flat">
            <a:solidFill>
              <a:srgbClr val="FFFFFF"/>
            </a:solidFill>
            <a:prstDash val="solid"/>
            <a:headEnd type="none" w="sm" len="sm"/>
            <a:tailEnd type="triangle" w="lg" len="med"/>
          </a:ln>
        </p:spPr>
        <p:txBody>
          <a:bodyPr/>
          <a:lstStyle/>
          <a:p>
            <a:endParaRPr lang="en-US" noProof="0" dirty="0"/>
          </a:p>
        </p:txBody>
      </p:sp>
      <p:sp>
        <p:nvSpPr>
          <p:cNvPr id="9" name="Freeform 9">
            <a:extLst>
              <a:ext uri="{C183D7F6-B498-43B3-948B-1728B52AA6E4}">
                <adec:decorative xmlns:adec="http://schemas.microsoft.com/office/drawing/2017/decorative" val="1"/>
              </a:ext>
            </a:extLst>
          </p:cNvPr>
          <p:cNvSpPr/>
          <p:nvPr/>
        </p:nvSpPr>
        <p:spPr>
          <a:xfrm>
            <a:off x="838200" y="662462"/>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5"/>
            <a:stretch>
              <a:fillRect/>
            </a:stretch>
          </a:blipFill>
        </p:spPr>
        <p:txBody>
          <a:bodyPr/>
          <a:lstStyle/>
          <a:p>
            <a:endParaRPr lang="en-US" noProof="0" dirty="0"/>
          </a:p>
        </p:txBody>
      </p:sp>
      <p:sp>
        <p:nvSpPr>
          <p:cNvPr id="11" name="Freeform 3">
            <a:extLst>
              <a:ext uri="{FF2B5EF4-FFF2-40B4-BE49-F238E27FC236}">
                <a16:creationId xmlns:a16="http://schemas.microsoft.com/office/drawing/2014/main" id="{F5CF58B6-DB05-6C51-2281-89FDEB9BA6A4}"/>
              </a:ext>
              <a:ext uri="{C183D7F6-B498-43B3-948B-1728B52AA6E4}">
                <adec:decorative xmlns:adec="http://schemas.microsoft.com/office/drawing/2017/decorative" val="1"/>
              </a:ext>
            </a:extLst>
          </p:cNvPr>
          <p:cNvSpPr/>
          <p:nvPr/>
        </p:nvSpPr>
        <p:spPr>
          <a:xfrm>
            <a:off x="661157" y="516349"/>
            <a:ext cx="1111777" cy="1060162"/>
          </a:xfrm>
          <a:prstGeom prst="ellipse">
            <a:avLst/>
          </a:prstGeom>
          <a:solidFill>
            <a:srgbClr val="00A8CC">
              <a:alpha val="20000"/>
            </a:srgbClr>
          </a:solidFill>
          <a:effectLst>
            <a:softEdge rad="0"/>
          </a:effectLst>
        </p:spPr>
        <p:txBody>
          <a:bodyPr/>
          <a:lstStyle/>
          <a:p>
            <a:endParaRPr lang="en-US" noProof="0" dirty="0"/>
          </a:p>
        </p:txBody>
      </p:sp>
      <p:sp>
        <p:nvSpPr>
          <p:cNvPr id="12" name="TextBox 10">
            <a:extLst>
              <a:ext uri="{FF2B5EF4-FFF2-40B4-BE49-F238E27FC236}">
                <a16:creationId xmlns:a16="http://schemas.microsoft.com/office/drawing/2014/main" id="{6C38AFF5-FAF5-E181-B0F3-B02BEE7B2E26}"/>
              </a:ext>
            </a:extLst>
          </p:cNvPr>
          <p:cNvSpPr txBox="1"/>
          <p:nvPr/>
        </p:nvSpPr>
        <p:spPr>
          <a:xfrm>
            <a:off x="8753475" y="879760"/>
            <a:ext cx="2197322" cy="388633"/>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Permissions</a:t>
            </a:r>
          </a:p>
        </p:txBody>
      </p:sp>
      <p:sp>
        <p:nvSpPr>
          <p:cNvPr id="13" name="TextBox 11">
            <a:extLst>
              <a:ext uri="{FF2B5EF4-FFF2-40B4-BE49-F238E27FC236}">
                <a16:creationId xmlns:a16="http://schemas.microsoft.com/office/drawing/2014/main" id="{50F44C14-21DD-1C4B-AA40-A792020A0CEA}"/>
              </a:ext>
            </a:extLst>
          </p:cNvPr>
          <p:cNvSpPr txBox="1">
            <a:spLocks noGrp="1"/>
          </p:cNvSpPr>
          <p:nvPr>
            <p:ph type="title" idx="4294967295"/>
          </p:nvPr>
        </p:nvSpPr>
        <p:spPr>
          <a:xfrm>
            <a:off x="10950797" y="700844"/>
            <a:ext cx="1907082" cy="809591"/>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ts val="3151"/>
              </a:lnSpc>
              <a:spcBef>
                <a:spcPct val="0"/>
              </a:spcBef>
              <a:spcAft>
                <a:spcPts val="0"/>
              </a:spcAft>
              <a:buClrTx/>
              <a:buSzTx/>
              <a:buFontTx/>
              <a:buNone/>
              <a:tabLst/>
              <a:defRPr/>
            </a:pPr>
            <a:r>
              <a:rPr kumimoji="0" lang="en-US" sz="2251" b="1" i="0" u="none" strike="noStrike" kern="1200" cap="none" spc="0" normalizeH="0" baseline="0" noProof="0" dirty="0">
                <a:ln>
                  <a:noFill/>
                </a:ln>
                <a:solidFill>
                  <a:srgbClr val="FFFFFF"/>
                </a:solidFill>
                <a:effectLst/>
                <a:uLnTx/>
                <a:uFillTx/>
                <a:latin typeface="Poppins"/>
                <a:ea typeface="Poppins"/>
                <a:cs typeface="Poppins"/>
                <a:sym typeface="Poppins"/>
              </a:rPr>
              <a:t>Booking Process</a:t>
            </a:r>
          </a:p>
        </p:txBody>
      </p:sp>
      <p:sp>
        <p:nvSpPr>
          <p:cNvPr id="14" name="TextBox 12">
            <a:extLst>
              <a:ext uri="{FF2B5EF4-FFF2-40B4-BE49-F238E27FC236}">
                <a16:creationId xmlns:a16="http://schemas.microsoft.com/office/drawing/2014/main" id="{471F52D5-CB83-EB90-D3F4-98EBCE17C9CD}"/>
              </a:ext>
            </a:extLst>
          </p:cNvPr>
          <p:cNvSpPr txBox="1"/>
          <p:nvPr/>
        </p:nvSpPr>
        <p:spPr>
          <a:xfrm>
            <a:off x="12954000" y="700844"/>
            <a:ext cx="1981200" cy="809591"/>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Development structure</a:t>
            </a:r>
          </a:p>
        </p:txBody>
      </p:sp>
      <p:sp>
        <p:nvSpPr>
          <p:cNvPr id="15" name="TextBox 13">
            <a:extLst>
              <a:ext uri="{FF2B5EF4-FFF2-40B4-BE49-F238E27FC236}">
                <a16:creationId xmlns:a16="http://schemas.microsoft.com/office/drawing/2014/main" id="{6E8C2932-D537-BF40-B63F-9C6B04CAB13A}"/>
              </a:ext>
            </a:extLst>
          </p:cNvPr>
          <p:cNvSpPr txBox="1"/>
          <p:nvPr/>
        </p:nvSpPr>
        <p:spPr>
          <a:xfrm>
            <a:off x="14944725" y="700844"/>
            <a:ext cx="2506246" cy="799001"/>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Testing and Troubleshooting</a:t>
            </a:r>
          </a:p>
        </p:txBody>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9" name="Freeform 3">
            <a:extLst>
              <a:ext uri="{FF2B5EF4-FFF2-40B4-BE49-F238E27FC236}">
                <a16:creationId xmlns:a16="http://schemas.microsoft.com/office/drawing/2014/main" id="{9BE1B429-A336-5E71-961E-3018908C3105}"/>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grpSp>
        <p:nvGrpSpPr>
          <p:cNvPr id="2" name="Group 2">
            <a:extLst>
              <a:ext uri="{C183D7F6-B498-43B3-948B-1728B52AA6E4}">
                <adec:decorative xmlns:adec="http://schemas.microsoft.com/office/drawing/2017/decorative" val="1"/>
              </a:ext>
            </a:extLst>
          </p:cNvPr>
          <p:cNvGrpSpPr/>
          <p:nvPr/>
        </p:nvGrpSpPr>
        <p:grpSpPr>
          <a:xfrm>
            <a:off x="8661704" y="1635721"/>
            <a:ext cx="8597596" cy="2790475"/>
            <a:chOff x="0" y="0"/>
            <a:chExt cx="2937671" cy="953464"/>
          </a:xfrm>
        </p:grpSpPr>
        <p:sp>
          <p:nvSpPr>
            <p:cNvPr id="3" name="Freeform 3"/>
            <p:cNvSpPr/>
            <p:nvPr/>
          </p:nvSpPr>
          <p:spPr>
            <a:xfrm>
              <a:off x="0" y="0"/>
              <a:ext cx="2937671" cy="953464"/>
            </a:xfrm>
            <a:custGeom>
              <a:avLst/>
              <a:gdLst/>
              <a:ahLst/>
              <a:cxnLst/>
              <a:rect l="l" t="t" r="r" b="b"/>
              <a:pathLst>
                <a:path w="2937671" h="953464">
                  <a:moveTo>
                    <a:pt x="50427" y="0"/>
                  </a:moveTo>
                  <a:lnTo>
                    <a:pt x="2887244" y="0"/>
                  </a:lnTo>
                  <a:cubicBezTo>
                    <a:pt x="2915094" y="0"/>
                    <a:pt x="2937671" y="22577"/>
                    <a:pt x="2937671" y="50427"/>
                  </a:cubicBezTo>
                  <a:lnTo>
                    <a:pt x="2937671" y="903038"/>
                  </a:lnTo>
                  <a:cubicBezTo>
                    <a:pt x="2937671" y="930887"/>
                    <a:pt x="2915094" y="953464"/>
                    <a:pt x="2887244" y="953464"/>
                  </a:cubicBezTo>
                  <a:lnTo>
                    <a:pt x="50427" y="953464"/>
                  </a:lnTo>
                  <a:cubicBezTo>
                    <a:pt x="22577" y="953464"/>
                    <a:pt x="0" y="930887"/>
                    <a:pt x="0" y="903038"/>
                  </a:cubicBezTo>
                  <a:lnTo>
                    <a:pt x="0" y="50427"/>
                  </a:lnTo>
                  <a:cubicBezTo>
                    <a:pt x="0" y="22577"/>
                    <a:pt x="22577" y="0"/>
                    <a:pt x="50427" y="0"/>
                  </a:cubicBezTo>
                  <a:close/>
                </a:path>
              </a:pathLst>
            </a:custGeom>
            <a:gradFill rotWithShape="1">
              <a:gsLst>
                <a:gs pos="0">
                  <a:srgbClr val="000000">
                    <a:alpha val="78000"/>
                  </a:srgbClr>
                </a:gs>
                <a:gs pos="100000">
                  <a:srgbClr val="DDDDDD">
                    <a:alpha val="14820"/>
                  </a:srgbClr>
                </a:gs>
              </a:gsLst>
              <a:lin ang="2700000"/>
            </a:gradFill>
          </p:spPr>
          <p:txBody>
            <a:bodyPr/>
            <a:lstStyle/>
            <a:p>
              <a:endParaRPr lang="en-US" noProof="0" dirty="0"/>
            </a:p>
          </p:txBody>
        </p:sp>
        <p:sp>
          <p:nvSpPr>
            <p:cNvPr id="4" name="TextBox 4"/>
            <p:cNvSpPr txBox="1"/>
            <p:nvPr/>
          </p:nvSpPr>
          <p:spPr>
            <a:xfrm>
              <a:off x="0" y="-66675"/>
              <a:ext cx="2937671" cy="1020139"/>
            </a:xfrm>
            <a:prstGeom prst="rect">
              <a:avLst/>
            </a:prstGeom>
          </p:spPr>
          <p:txBody>
            <a:bodyPr lIns="50800" tIns="50800" rIns="50800" bIns="50800" rtlCol="0" anchor="ctr"/>
            <a:lstStyle/>
            <a:p>
              <a:pPr algn="ctr">
                <a:lnSpc>
                  <a:spcPts val="3151"/>
                </a:lnSpc>
              </a:pPr>
              <a:endParaRPr lang="en-US" noProof="0" dirty="0"/>
            </a:p>
          </p:txBody>
        </p:sp>
      </p:grpSp>
      <p:grpSp>
        <p:nvGrpSpPr>
          <p:cNvPr id="5" name="Group 5">
            <a:extLst>
              <a:ext uri="{C183D7F6-B498-43B3-948B-1728B52AA6E4}">
                <adec:decorative xmlns:adec="http://schemas.microsoft.com/office/drawing/2017/decorative" val="1"/>
              </a:ext>
            </a:extLst>
          </p:cNvPr>
          <p:cNvGrpSpPr/>
          <p:nvPr/>
        </p:nvGrpSpPr>
        <p:grpSpPr>
          <a:xfrm>
            <a:off x="8661704" y="4884497"/>
            <a:ext cx="8597596" cy="4407758"/>
            <a:chOff x="0" y="0"/>
            <a:chExt cx="2264387" cy="1160891"/>
          </a:xfrm>
        </p:grpSpPr>
        <p:sp>
          <p:nvSpPr>
            <p:cNvPr id="6" name="Freeform 6"/>
            <p:cNvSpPr/>
            <p:nvPr/>
          </p:nvSpPr>
          <p:spPr>
            <a:xfrm>
              <a:off x="0" y="0"/>
              <a:ext cx="2264387" cy="1160891"/>
            </a:xfrm>
            <a:custGeom>
              <a:avLst/>
              <a:gdLst/>
              <a:ahLst/>
              <a:cxnLst/>
              <a:rect l="l" t="t" r="r" b="b"/>
              <a:pathLst>
                <a:path w="2264387" h="1160891">
                  <a:moveTo>
                    <a:pt x="50427" y="0"/>
                  </a:moveTo>
                  <a:lnTo>
                    <a:pt x="2213961" y="0"/>
                  </a:lnTo>
                  <a:cubicBezTo>
                    <a:pt x="2241811" y="0"/>
                    <a:pt x="2264387" y="22577"/>
                    <a:pt x="2264387" y="50427"/>
                  </a:cubicBezTo>
                  <a:lnTo>
                    <a:pt x="2264387" y="1110464"/>
                  </a:lnTo>
                  <a:cubicBezTo>
                    <a:pt x="2264387" y="1138314"/>
                    <a:pt x="2241811" y="1160891"/>
                    <a:pt x="2213961" y="1160891"/>
                  </a:cubicBezTo>
                  <a:lnTo>
                    <a:pt x="50427" y="1160891"/>
                  </a:lnTo>
                  <a:cubicBezTo>
                    <a:pt x="22577" y="1160891"/>
                    <a:pt x="0" y="1138314"/>
                    <a:pt x="0" y="1110464"/>
                  </a:cubicBezTo>
                  <a:lnTo>
                    <a:pt x="0" y="50427"/>
                  </a:lnTo>
                  <a:cubicBezTo>
                    <a:pt x="0" y="22577"/>
                    <a:pt x="22577" y="0"/>
                    <a:pt x="50427" y="0"/>
                  </a:cubicBezTo>
                  <a:close/>
                </a:path>
              </a:pathLst>
            </a:custGeom>
            <a:ln w="28575" cap="rnd">
              <a:solidFill>
                <a:srgbClr val="FFFFFF"/>
              </a:solidFill>
              <a:prstDash val="solid"/>
              <a:round/>
            </a:ln>
          </p:spPr>
          <p:txBody>
            <a:bodyPr/>
            <a:lstStyle/>
            <a:p>
              <a:endParaRPr lang="en-US" noProof="0" dirty="0"/>
            </a:p>
          </p:txBody>
        </p:sp>
        <p:sp>
          <p:nvSpPr>
            <p:cNvPr id="7" name="TextBox 7"/>
            <p:cNvSpPr txBox="1"/>
            <p:nvPr/>
          </p:nvSpPr>
          <p:spPr>
            <a:xfrm>
              <a:off x="0" y="-66675"/>
              <a:ext cx="2264387" cy="1227566"/>
            </a:xfrm>
            <a:prstGeom prst="rect">
              <a:avLst/>
            </a:prstGeom>
          </p:spPr>
          <p:txBody>
            <a:bodyPr lIns="50800" tIns="50800" rIns="50800" bIns="50800" rtlCol="0" anchor="ctr"/>
            <a:lstStyle/>
            <a:p>
              <a:pPr algn="ctr">
                <a:lnSpc>
                  <a:spcPts val="3151"/>
                </a:lnSpc>
              </a:pPr>
              <a:endParaRPr lang="en-US" noProof="0" dirty="0"/>
            </a:p>
          </p:txBody>
        </p:sp>
      </p:grpSp>
      <p:sp>
        <p:nvSpPr>
          <p:cNvPr id="10" name="Freeform 10">
            <a:extLs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3"/>
            <a:stretch>
              <a:fillRect/>
            </a:stretch>
          </a:blipFill>
        </p:spPr>
        <p:txBody>
          <a:bodyPr/>
          <a:lstStyle/>
          <a:p>
            <a:endParaRPr lang="en-US" noProof="0" dirty="0"/>
          </a:p>
        </p:txBody>
      </p:sp>
      <p:sp>
        <p:nvSpPr>
          <p:cNvPr id="11" name="TextBox 11"/>
          <p:cNvSpPr txBox="1"/>
          <p:nvPr/>
        </p:nvSpPr>
        <p:spPr>
          <a:xfrm>
            <a:off x="9063064" y="5752971"/>
            <a:ext cx="7697643" cy="2566036"/>
          </a:xfrm>
          <a:prstGeom prst="rect">
            <a:avLst/>
          </a:prstGeom>
        </p:spPr>
        <p:txBody>
          <a:bodyPr lIns="0" tIns="0" rIns="0" bIns="0" rtlCol="0" anchor="t">
            <a:spAutoFit/>
          </a:bodyPr>
          <a:lstStyle/>
          <a:p>
            <a:pPr marL="777234" lvl="1" indent="-388617" algn="l">
              <a:lnSpc>
                <a:spcPts val="5039"/>
              </a:lnSpc>
              <a:buFont typeface="Arial"/>
              <a:buChar char="•"/>
            </a:pPr>
            <a:r>
              <a:rPr lang="en-US" sz="3599" noProof="0" dirty="0">
                <a:solidFill>
                  <a:srgbClr val="FFFFFF"/>
                </a:solidFill>
                <a:latin typeface="Poppins"/>
                <a:ea typeface="Poppins"/>
                <a:cs typeface="Poppins"/>
                <a:sym typeface="Poppins"/>
              </a:rPr>
              <a:t>frontend/ </a:t>
            </a:r>
          </a:p>
          <a:p>
            <a:pPr marL="777234" lvl="1" indent="-388617" algn="l">
              <a:lnSpc>
                <a:spcPts val="5039"/>
              </a:lnSpc>
              <a:buFont typeface="Arial"/>
              <a:buChar char="•"/>
            </a:pPr>
            <a:r>
              <a:rPr lang="en-US" sz="3599" noProof="0" dirty="0">
                <a:solidFill>
                  <a:srgbClr val="FFFFFF"/>
                </a:solidFill>
                <a:latin typeface="Poppins"/>
                <a:ea typeface="Poppins"/>
                <a:cs typeface="Poppins"/>
                <a:sym typeface="Poppins"/>
              </a:rPr>
              <a:t>backend/ </a:t>
            </a:r>
          </a:p>
          <a:p>
            <a:pPr marL="777234" lvl="1" indent="-388617" algn="l">
              <a:lnSpc>
                <a:spcPts val="5039"/>
              </a:lnSpc>
              <a:buFont typeface="Arial"/>
              <a:buChar char="•"/>
            </a:pPr>
            <a:r>
              <a:rPr lang="en-US" sz="3599" noProof="0" dirty="0">
                <a:solidFill>
                  <a:srgbClr val="FFFFFF"/>
                </a:solidFill>
                <a:latin typeface="Poppins"/>
                <a:ea typeface="Poppins"/>
                <a:cs typeface="Poppins"/>
                <a:sym typeface="Poppins"/>
              </a:rPr>
              <a:t>controllers / routes / models </a:t>
            </a:r>
          </a:p>
          <a:p>
            <a:pPr marL="777234" lvl="1" indent="-388617" algn="l">
              <a:lnSpc>
                <a:spcPts val="5039"/>
              </a:lnSpc>
              <a:buFont typeface="Arial"/>
              <a:buChar char="•"/>
            </a:pPr>
            <a:r>
              <a:rPr lang="en-US" sz="3599" noProof="0" dirty="0">
                <a:solidFill>
                  <a:srgbClr val="FFFFFF"/>
                </a:solidFill>
                <a:latin typeface="Poppins"/>
                <a:ea typeface="Poppins"/>
                <a:cs typeface="Poppins"/>
                <a:sym typeface="Poppins"/>
              </a:rPr>
              <a:t>Modular buildup</a:t>
            </a:r>
          </a:p>
        </p:txBody>
      </p:sp>
      <p:sp>
        <p:nvSpPr>
          <p:cNvPr id="12" name="TextBox 12"/>
          <p:cNvSpPr txBox="1">
            <a:spLocks noGrp="1"/>
          </p:cNvSpPr>
          <p:nvPr>
            <p:ph type="title" idx="4294967295"/>
          </p:nvPr>
        </p:nvSpPr>
        <p:spPr>
          <a:xfrm>
            <a:off x="9374754" y="2229886"/>
            <a:ext cx="7074263" cy="184029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gn="l">
              <a:lnSpc>
                <a:spcPts val="6887"/>
              </a:lnSpc>
              <a:spcBef>
                <a:spcPts val="0"/>
              </a:spcBef>
              <a:defRPr/>
            </a:pPr>
            <a:r>
              <a:rPr lang="en-US" sz="6752" b="1" spc="-303" noProof="0" dirty="0">
                <a:solidFill>
                  <a:srgbClr val="FFFFFF"/>
                </a:solidFill>
                <a:latin typeface="Telegraf Bold"/>
                <a:ea typeface="Telegraf Bold"/>
                <a:cs typeface="Telegraf Bold"/>
                <a:sym typeface="Telegraf Bold"/>
              </a:rPr>
              <a:t>Development structure</a:t>
            </a:r>
            <a:endParaRPr kumimoji="0" lang="en-US" sz="6752" b="1" i="0" u="none" strike="noStrike" kern="1200" cap="none" spc="-303" normalizeH="0" baseline="0" noProof="0" dirty="0">
              <a:ln>
                <a:noFill/>
              </a:ln>
              <a:solidFill>
                <a:srgbClr val="FFFFFF"/>
              </a:solidFill>
              <a:effectLst/>
              <a:uLnTx/>
              <a:uFillTx/>
              <a:latin typeface="Telegraf Bold"/>
              <a:ea typeface="Telegraf Bold"/>
              <a:cs typeface="Telegraf Bold"/>
              <a:sym typeface="Telegraf Bold"/>
            </a:endParaRPr>
          </a:p>
        </p:txBody>
      </p:sp>
      <p:pic>
        <p:nvPicPr>
          <p:cNvPr id="18" name="Kép 17" descr="mappastruktura">
            <a:extLst>
              <a:ext uri="{FF2B5EF4-FFF2-40B4-BE49-F238E27FC236}">
                <a16:creationId xmlns:a16="http://schemas.microsoft.com/office/drawing/2014/main" id="{2E8FA40C-1AB3-DBF0-4735-2B51F821DD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26708" y="380585"/>
            <a:ext cx="2518298" cy="9517207"/>
          </a:xfrm>
          <a:prstGeom prst="roundRect">
            <a:avLst/>
          </a:prstGeom>
        </p:spPr>
      </p:pic>
      <p:sp>
        <p:nvSpPr>
          <p:cNvPr id="20" name="Freeform 3">
            <a:extLst>
              <a:ext uri="{FF2B5EF4-FFF2-40B4-BE49-F238E27FC236}">
                <a16:creationId xmlns:a16="http://schemas.microsoft.com/office/drawing/2014/main" id="{FCA74DDD-E2CD-221B-318A-7D363B09C9A4}"/>
              </a:ext>
              <a:ext uri="{C183D7F6-B498-43B3-948B-1728B52AA6E4}">
                <adec:decorative xmlns:adec="http://schemas.microsoft.com/office/drawing/2017/decorative" val="1"/>
              </a:ext>
            </a:extLst>
          </p:cNvPr>
          <p:cNvSpPr/>
          <p:nvPr/>
        </p:nvSpPr>
        <p:spPr>
          <a:xfrm>
            <a:off x="828446" y="777583"/>
            <a:ext cx="1111777" cy="1060162"/>
          </a:xfrm>
          <a:prstGeom prst="ellipse">
            <a:avLst/>
          </a:prstGeom>
          <a:solidFill>
            <a:srgbClr val="00A8CC">
              <a:alpha val="20000"/>
            </a:srgbClr>
          </a:solidFill>
          <a:effectLst>
            <a:softEdge rad="0"/>
          </a:effectLst>
        </p:spPr>
        <p:txBody>
          <a:bodyPr/>
          <a:lstStyle/>
          <a:p>
            <a:endParaRPr lang="en-US" noProof="0" dirty="0"/>
          </a:p>
        </p:txBody>
      </p:sp>
      <p:sp>
        <p:nvSpPr>
          <p:cNvPr id="22" name="TextBox 10">
            <a:extLst>
              <a:ext uri="{FF2B5EF4-FFF2-40B4-BE49-F238E27FC236}">
                <a16:creationId xmlns:a16="http://schemas.microsoft.com/office/drawing/2014/main" id="{846E6D90-0A6B-7EDB-505B-940549602E4E}"/>
              </a:ext>
            </a:extLst>
          </p:cNvPr>
          <p:cNvSpPr txBox="1"/>
          <p:nvPr/>
        </p:nvSpPr>
        <p:spPr>
          <a:xfrm>
            <a:off x="8753475" y="879760"/>
            <a:ext cx="2197322" cy="388633"/>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Permissions</a:t>
            </a:r>
          </a:p>
        </p:txBody>
      </p:sp>
      <p:sp>
        <p:nvSpPr>
          <p:cNvPr id="23" name="TextBox 11">
            <a:extLst>
              <a:ext uri="{FF2B5EF4-FFF2-40B4-BE49-F238E27FC236}">
                <a16:creationId xmlns:a16="http://schemas.microsoft.com/office/drawing/2014/main" id="{E830ECC6-356C-B6BD-7DB2-E57E29F27C57}"/>
              </a:ext>
            </a:extLst>
          </p:cNvPr>
          <p:cNvSpPr txBox="1"/>
          <p:nvPr/>
        </p:nvSpPr>
        <p:spPr>
          <a:xfrm>
            <a:off x="10950797" y="700844"/>
            <a:ext cx="1907082" cy="809591"/>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Booking Process</a:t>
            </a:r>
          </a:p>
        </p:txBody>
      </p:sp>
      <p:sp>
        <p:nvSpPr>
          <p:cNvPr id="24" name="TextBox 12">
            <a:extLst>
              <a:ext uri="{FF2B5EF4-FFF2-40B4-BE49-F238E27FC236}">
                <a16:creationId xmlns:a16="http://schemas.microsoft.com/office/drawing/2014/main" id="{269EA9F6-47EA-670E-5A79-0C57979D909D}"/>
              </a:ext>
            </a:extLst>
          </p:cNvPr>
          <p:cNvSpPr txBox="1"/>
          <p:nvPr/>
        </p:nvSpPr>
        <p:spPr>
          <a:xfrm>
            <a:off x="12867404" y="700844"/>
            <a:ext cx="2067796" cy="809591"/>
          </a:xfrm>
          <a:prstGeom prst="rect">
            <a:avLst/>
          </a:prstGeom>
        </p:spPr>
        <p:txBody>
          <a:bodyPr wrap="square" lIns="0" tIns="0" rIns="0" bIns="0" rtlCol="0" anchor="t">
            <a:spAutoFit/>
          </a:bodyPr>
          <a:lstStyle/>
          <a:p>
            <a:pPr lvl="0" algn="ctr">
              <a:lnSpc>
                <a:spcPts val="3151"/>
              </a:lnSpc>
              <a:spcBef>
                <a:spcPct val="0"/>
              </a:spcBef>
            </a:pPr>
            <a:r>
              <a:rPr lang="en-US" sz="2251" b="1" noProof="0" dirty="0">
                <a:solidFill>
                  <a:srgbClr val="FFFFFF"/>
                </a:solidFill>
                <a:latin typeface="Poppins"/>
                <a:ea typeface="Poppins"/>
                <a:cs typeface="Poppins"/>
                <a:sym typeface="Poppins"/>
              </a:rPr>
              <a:t>Development structure</a:t>
            </a:r>
          </a:p>
        </p:txBody>
      </p:sp>
      <p:sp>
        <p:nvSpPr>
          <p:cNvPr id="25" name="TextBox 13">
            <a:extLst>
              <a:ext uri="{FF2B5EF4-FFF2-40B4-BE49-F238E27FC236}">
                <a16:creationId xmlns:a16="http://schemas.microsoft.com/office/drawing/2014/main" id="{CA0C97DA-D6E9-E397-E377-409504831888}"/>
              </a:ext>
            </a:extLst>
          </p:cNvPr>
          <p:cNvSpPr txBox="1"/>
          <p:nvPr/>
        </p:nvSpPr>
        <p:spPr>
          <a:xfrm>
            <a:off x="14944725" y="700844"/>
            <a:ext cx="2506246" cy="799001"/>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Testing and Troubleshooting</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7" name="Freeform 3">
            <a:extLst>
              <a:ext uri="{FF2B5EF4-FFF2-40B4-BE49-F238E27FC236}">
                <a16:creationId xmlns:a16="http://schemas.microsoft.com/office/drawing/2014/main" id="{18849D90-90CB-E9ED-89C1-1885FCBDA30B}"/>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grpSp>
        <p:nvGrpSpPr>
          <p:cNvPr id="2" name="Group 2">
            <a:extLst>
              <a:ext uri="{C183D7F6-B498-43B3-948B-1728B52AA6E4}">
                <adec:decorative xmlns:adec="http://schemas.microsoft.com/office/drawing/2017/decorative" val="1"/>
              </a:ext>
            </a:extLst>
          </p:cNvPr>
          <p:cNvGrpSpPr/>
          <p:nvPr/>
        </p:nvGrpSpPr>
        <p:grpSpPr>
          <a:xfrm>
            <a:off x="803986" y="1894724"/>
            <a:ext cx="8597596" cy="2790475"/>
            <a:chOff x="0" y="0"/>
            <a:chExt cx="2937671" cy="953464"/>
          </a:xfrm>
        </p:grpSpPr>
        <p:sp>
          <p:nvSpPr>
            <p:cNvPr id="3" name="Freeform 3"/>
            <p:cNvSpPr/>
            <p:nvPr/>
          </p:nvSpPr>
          <p:spPr>
            <a:xfrm>
              <a:off x="0" y="0"/>
              <a:ext cx="2937671" cy="953464"/>
            </a:xfrm>
            <a:custGeom>
              <a:avLst/>
              <a:gdLst/>
              <a:ahLst/>
              <a:cxnLst/>
              <a:rect l="l" t="t" r="r" b="b"/>
              <a:pathLst>
                <a:path w="2937671" h="953464">
                  <a:moveTo>
                    <a:pt x="50427" y="0"/>
                  </a:moveTo>
                  <a:lnTo>
                    <a:pt x="2887244" y="0"/>
                  </a:lnTo>
                  <a:cubicBezTo>
                    <a:pt x="2915094" y="0"/>
                    <a:pt x="2937671" y="22577"/>
                    <a:pt x="2937671" y="50427"/>
                  </a:cubicBezTo>
                  <a:lnTo>
                    <a:pt x="2937671" y="903038"/>
                  </a:lnTo>
                  <a:cubicBezTo>
                    <a:pt x="2937671" y="930887"/>
                    <a:pt x="2915094" y="953464"/>
                    <a:pt x="2887244" y="953464"/>
                  </a:cubicBezTo>
                  <a:lnTo>
                    <a:pt x="50427" y="953464"/>
                  </a:lnTo>
                  <a:cubicBezTo>
                    <a:pt x="22577" y="953464"/>
                    <a:pt x="0" y="930887"/>
                    <a:pt x="0" y="903038"/>
                  </a:cubicBezTo>
                  <a:lnTo>
                    <a:pt x="0" y="50427"/>
                  </a:lnTo>
                  <a:cubicBezTo>
                    <a:pt x="0" y="22577"/>
                    <a:pt x="22577" y="0"/>
                    <a:pt x="50427" y="0"/>
                  </a:cubicBezTo>
                  <a:close/>
                </a:path>
              </a:pathLst>
            </a:custGeom>
            <a:gradFill rotWithShape="1">
              <a:gsLst>
                <a:gs pos="0">
                  <a:srgbClr val="000000">
                    <a:alpha val="78000"/>
                  </a:srgbClr>
                </a:gs>
                <a:gs pos="100000">
                  <a:srgbClr val="DDDDDD">
                    <a:alpha val="14820"/>
                  </a:srgbClr>
                </a:gs>
              </a:gsLst>
              <a:lin ang="2700000"/>
            </a:gradFill>
          </p:spPr>
          <p:txBody>
            <a:bodyPr/>
            <a:lstStyle/>
            <a:p>
              <a:endParaRPr lang="en-US" noProof="0" dirty="0"/>
            </a:p>
          </p:txBody>
        </p:sp>
        <p:sp>
          <p:nvSpPr>
            <p:cNvPr id="4" name="TextBox 4"/>
            <p:cNvSpPr txBox="1"/>
            <p:nvPr/>
          </p:nvSpPr>
          <p:spPr>
            <a:xfrm>
              <a:off x="0" y="-66675"/>
              <a:ext cx="2937671" cy="1020139"/>
            </a:xfrm>
            <a:prstGeom prst="rect">
              <a:avLst/>
            </a:prstGeom>
          </p:spPr>
          <p:txBody>
            <a:bodyPr lIns="50800" tIns="50800" rIns="50800" bIns="50800" rtlCol="0" anchor="ctr"/>
            <a:lstStyle/>
            <a:p>
              <a:pPr algn="ctr">
                <a:lnSpc>
                  <a:spcPts val="3151"/>
                </a:lnSpc>
              </a:pPr>
              <a:endParaRPr lang="en-US" noProof="0" dirty="0"/>
            </a:p>
          </p:txBody>
        </p:sp>
      </p:grpSp>
      <p:grpSp>
        <p:nvGrpSpPr>
          <p:cNvPr id="5" name="Group 5">
            <a:extLst>
              <a:ext uri="{C183D7F6-B498-43B3-948B-1728B52AA6E4}">
                <adec:decorative xmlns:adec="http://schemas.microsoft.com/office/drawing/2017/decorative" val="1"/>
              </a:ext>
            </a:extLst>
          </p:cNvPr>
          <p:cNvGrpSpPr/>
          <p:nvPr/>
        </p:nvGrpSpPr>
        <p:grpSpPr>
          <a:xfrm>
            <a:off x="803986" y="5143500"/>
            <a:ext cx="8597596" cy="4407758"/>
            <a:chOff x="0" y="0"/>
            <a:chExt cx="2264387" cy="1160891"/>
          </a:xfrm>
        </p:grpSpPr>
        <p:sp>
          <p:nvSpPr>
            <p:cNvPr id="6" name="Freeform 6"/>
            <p:cNvSpPr/>
            <p:nvPr/>
          </p:nvSpPr>
          <p:spPr>
            <a:xfrm>
              <a:off x="0" y="0"/>
              <a:ext cx="2264387" cy="1160891"/>
            </a:xfrm>
            <a:custGeom>
              <a:avLst/>
              <a:gdLst/>
              <a:ahLst/>
              <a:cxnLst/>
              <a:rect l="l" t="t" r="r" b="b"/>
              <a:pathLst>
                <a:path w="2264387" h="1160891">
                  <a:moveTo>
                    <a:pt x="50427" y="0"/>
                  </a:moveTo>
                  <a:lnTo>
                    <a:pt x="2213961" y="0"/>
                  </a:lnTo>
                  <a:cubicBezTo>
                    <a:pt x="2241811" y="0"/>
                    <a:pt x="2264387" y="22577"/>
                    <a:pt x="2264387" y="50427"/>
                  </a:cubicBezTo>
                  <a:lnTo>
                    <a:pt x="2264387" y="1110464"/>
                  </a:lnTo>
                  <a:cubicBezTo>
                    <a:pt x="2264387" y="1138314"/>
                    <a:pt x="2241811" y="1160891"/>
                    <a:pt x="2213961" y="1160891"/>
                  </a:cubicBezTo>
                  <a:lnTo>
                    <a:pt x="50427" y="1160891"/>
                  </a:lnTo>
                  <a:cubicBezTo>
                    <a:pt x="22577" y="1160891"/>
                    <a:pt x="0" y="1138314"/>
                    <a:pt x="0" y="1110464"/>
                  </a:cubicBezTo>
                  <a:lnTo>
                    <a:pt x="0" y="50427"/>
                  </a:lnTo>
                  <a:cubicBezTo>
                    <a:pt x="0" y="22577"/>
                    <a:pt x="22577" y="0"/>
                    <a:pt x="50427" y="0"/>
                  </a:cubicBezTo>
                  <a:close/>
                </a:path>
              </a:pathLst>
            </a:custGeom>
            <a:ln w="28575" cap="rnd">
              <a:solidFill>
                <a:srgbClr val="FFFFFF"/>
              </a:solidFill>
              <a:prstDash val="solid"/>
              <a:round/>
            </a:ln>
          </p:spPr>
          <p:txBody>
            <a:bodyPr/>
            <a:lstStyle/>
            <a:p>
              <a:endParaRPr lang="en-US" noProof="0" dirty="0"/>
            </a:p>
          </p:txBody>
        </p:sp>
        <p:sp>
          <p:nvSpPr>
            <p:cNvPr id="7" name="TextBox 7"/>
            <p:cNvSpPr txBox="1"/>
            <p:nvPr/>
          </p:nvSpPr>
          <p:spPr>
            <a:xfrm>
              <a:off x="0" y="-66675"/>
              <a:ext cx="2264387" cy="1227566"/>
            </a:xfrm>
            <a:prstGeom prst="rect">
              <a:avLst/>
            </a:prstGeom>
          </p:spPr>
          <p:txBody>
            <a:bodyPr lIns="50800" tIns="50800" rIns="50800" bIns="50800" rtlCol="0" anchor="ctr"/>
            <a:lstStyle/>
            <a:p>
              <a:pPr algn="ctr">
                <a:lnSpc>
                  <a:spcPts val="3151"/>
                </a:lnSpc>
              </a:pPr>
              <a:endParaRPr lang="en-US" noProof="0" dirty="0"/>
            </a:p>
          </p:txBody>
        </p:sp>
      </p:grpSp>
      <p:grpSp>
        <p:nvGrpSpPr>
          <p:cNvPr id="8" name="Group 8" descr="dokumentacio tesztelés táblázat"/>
          <p:cNvGrpSpPr/>
          <p:nvPr/>
        </p:nvGrpSpPr>
        <p:grpSpPr>
          <a:xfrm>
            <a:off x="9637186" y="1894724"/>
            <a:ext cx="8179087" cy="7656534"/>
            <a:chOff x="0" y="0"/>
            <a:chExt cx="1201467" cy="1124707"/>
          </a:xfrm>
        </p:grpSpPr>
        <p:sp>
          <p:nvSpPr>
            <p:cNvPr id="9" name="Freeform 9"/>
            <p:cNvSpPr/>
            <p:nvPr/>
          </p:nvSpPr>
          <p:spPr>
            <a:xfrm>
              <a:off x="0" y="0"/>
              <a:ext cx="1201467" cy="1124707"/>
            </a:xfrm>
            <a:custGeom>
              <a:avLst/>
              <a:gdLst/>
              <a:ahLst/>
              <a:cxnLst/>
              <a:rect l="l" t="t" r="r" b="b"/>
              <a:pathLst>
                <a:path w="1201467" h="1124707">
                  <a:moveTo>
                    <a:pt x="53007" y="0"/>
                  </a:moveTo>
                  <a:lnTo>
                    <a:pt x="1148461" y="0"/>
                  </a:lnTo>
                  <a:cubicBezTo>
                    <a:pt x="1162519" y="0"/>
                    <a:pt x="1176001" y="5585"/>
                    <a:pt x="1185942" y="15525"/>
                  </a:cubicBezTo>
                  <a:cubicBezTo>
                    <a:pt x="1195883" y="25466"/>
                    <a:pt x="1201467" y="38949"/>
                    <a:pt x="1201467" y="53007"/>
                  </a:cubicBezTo>
                  <a:lnTo>
                    <a:pt x="1201467" y="1071700"/>
                  </a:lnTo>
                  <a:cubicBezTo>
                    <a:pt x="1201467" y="1100975"/>
                    <a:pt x="1177735" y="1124707"/>
                    <a:pt x="1148461" y="1124707"/>
                  </a:cubicBezTo>
                  <a:lnTo>
                    <a:pt x="53007" y="1124707"/>
                  </a:lnTo>
                  <a:cubicBezTo>
                    <a:pt x="23732" y="1124707"/>
                    <a:pt x="0" y="1100975"/>
                    <a:pt x="0" y="1071700"/>
                  </a:cubicBezTo>
                  <a:lnTo>
                    <a:pt x="0" y="53007"/>
                  </a:lnTo>
                  <a:cubicBezTo>
                    <a:pt x="0" y="23732"/>
                    <a:pt x="23732" y="0"/>
                    <a:pt x="53007" y="0"/>
                  </a:cubicBezTo>
                  <a:close/>
                </a:path>
              </a:pathLst>
            </a:custGeom>
            <a:blipFill>
              <a:blip r:embed="rId3"/>
              <a:stretch>
                <a:fillRect t="-2210" b="-2210"/>
              </a:stretch>
            </a:blipFill>
          </p:spPr>
          <p:txBody>
            <a:bodyPr/>
            <a:lstStyle/>
            <a:p>
              <a:endParaRPr lang="en-US" noProof="0" dirty="0"/>
            </a:p>
          </p:txBody>
        </p:sp>
      </p:grpSp>
      <p:sp>
        <p:nvSpPr>
          <p:cNvPr id="10" name="Freeform 10">
            <a:extLs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4"/>
            <a:stretch>
              <a:fillRect/>
            </a:stretch>
          </a:blipFill>
        </p:spPr>
        <p:txBody>
          <a:bodyPr/>
          <a:lstStyle/>
          <a:p>
            <a:endParaRPr lang="en-US" noProof="0" dirty="0"/>
          </a:p>
        </p:txBody>
      </p:sp>
      <p:sp>
        <p:nvSpPr>
          <p:cNvPr id="11" name="TextBox 11"/>
          <p:cNvSpPr txBox="1"/>
          <p:nvPr/>
        </p:nvSpPr>
        <p:spPr>
          <a:xfrm>
            <a:off x="1205345" y="6367891"/>
            <a:ext cx="7697643" cy="1863726"/>
          </a:xfrm>
          <a:prstGeom prst="rect">
            <a:avLst/>
          </a:prstGeom>
        </p:spPr>
        <p:txBody>
          <a:bodyPr lIns="0" tIns="0" rIns="0" bIns="0" rtlCol="0" anchor="t">
            <a:spAutoFit/>
          </a:bodyPr>
          <a:lstStyle/>
          <a:p>
            <a:pPr marL="755644" lvl="1" indent="-377822" algn="l">
              <a:lnSpc>
                <a:spcPts val="4899"/>
              </a:lnSpc>
              <a:buFont typeface="Arial"/>
              <a:buChar char="•"/>
            </a:pPr>
            <a:r>
              <a:rPr lang="en-US" sz="3499" noProof="0" dirty="0">
                <a:solidFill>
                  <a:srgbClr val="FFFFFF"/>
                </a:solidFill>
                <a:latin typeface="Poppins"/>
                <a:ea typeface="Poppins"/>
                <a:cs typeface="Poppins"/>
                <a:sym typeface="Poppins"/>
              </a:rPr>
              <a:t>API testing (Postman)</a:t>
            </a:r>
          </a:p>
          <a:p>
            <a:pPr marL="755644" lvl="1" indent="-377822" algn="l">
              <a:lnSpc>
                <a:spcPts val="4899"/>
              </a:lnSpc>
              <a:buFont typeface="Arial"/>
              <a:buChar char="•"/>
            </a:pPr>
            <a:r>
              <a:rPr lang="en-US" sz="3499" noProof="0" dirty="0">
                <a:solidFill>
                  <a:srgbClr val="FFFFFF"/>
                </a:solidFill>
                <a:latin typeface="Poppins"/>
                <a:ea typeface="Poppins"/>
                <a:cs typeface="Poppins"/>
                <a:sym typeface="Poppins"/>
              </a:rPr>
              <a:t>Error codes (400/401/403/500)</a:t>
            </a:r>
          </a:p>
          <a:p>
            <a:pPr marL="755644" lvl="1" indent="-377822" algn="l">
              <a:lnSpc>
                <a:spcPts val="4899"/>
              </a:lnSpc>
              <a:buFont typeface="Arial"/>
              <a:buChar char="•"/>
            </a:pPr>
            <a:r>
              <a:rPr lang="en-US" sz="3499" noProof="0" dirty="0">
                <a:solidFill>
                  <a:srgbClr val="FFFFFF"/>
                </a:solidFill>
                <a:latin typeface="Poppins"/>
                <a:ea typeface="Poppins"/>
                <a:cs typeface="Poppins"/>
                <a:sym typeface="Poppins"/>
              </a:rPr>
              <a:t>frontend validation</a:t>
            </a:r>
          </a:p>
        </p:txBody>
      </p:sp>
      <p:sp>
        <p:nvSpPr>
          <p:cNvPr id="12" name="TextBox 12"/>
          <p:cNvSpPr txBox="1">
            <a:spLocks noGrp="1"/>
          </p:cNvSpPr>
          <p:nvPr>
            <p:ph type="title" idx="4294967295"/>
          </p:nvPr>
        </p:nvSpPr>
        <p:spPr>
          <a:xfrm>
            <a:off x="1517036" y="2479364"/>
            <a:ext cx="7074263" cy="1647952"/>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gn="l">
              <a:lnSpc>
                <a:spcPts val="6377"/>
              </a:lnSpc>
              <a:spcBef>
                <a:spcPts val="0"/>
              </a:spcBef>
              <a:defRPr/>
            </a:pPr>
            <a:r>
              <a:rPr lang="en-US" sz="6252" b="1" spc="-281" noProof="0" dirty="0">
                <a:solidFill>
                  <a:srgbClr val="FFFFFF"/>
                </a:solidFill>
                <a:latin typeface="Telegraf Bold"/>
                <a:ea typeface="Telegraf Bold"/>
                <a:cs typeface="Telegraf Bold"/>
                <a:sym typeface="Telegraf Bold"/>
              </a:rPr>
              <a:t>Testing and Troubleshooting</a:t>
            </a:r>
            <a:endParaRPr kumimoji="0" lang="en-US" sz="6252" b="1" i="0" u="none" strike="noStrike" kern="1200" cap="none" spc="-281" normalizeH="0" baseline="0" noProof="0" dirty="0">
              <a:ln>
                <a:noFill/>
              </a:ln>
              <a:solidFill>
                <a:srgbClr val="FFFFFF"/>
              </a:solidFill>
              <a:effectLst/>
              <a:uLnTx/>
              <a:uFillTx/>
              <a:latin typeface="Telegraf Bold"/>
              <a:ea typeface="Telegraf Bold"/>
              <a:cs typeface="Telegraf Bold"/>
              <a:sym typeface="Telegraf Bold"/>
            </a:endParaRPr>
          </a:p>
        </p:txBody>
      </p:sp>
      <p:sp>
        <p:nvSpPr>
          <p:cNvPr id="18" name="Freeform 3">
            <a:extLst>
              <a:ext uri="{FF2B5EF4-FFF2-40B4-BE49-F238E27FC236}">
                <a16:creationId xmlns:a16="http://schemas.microsoft.com/office/drawing/2014/main" id="{5A7308B3-2995-B154-F3B5-E322A17ABE0D}"/>
              </a:ext>
              <a:ext uri="{C183D7F6-B498-43B3-948B-1728B52AA6E4}">
                <adec:decorative xmlns:adec="http://schemas.microsoft.com/office/drawing/2017/decorative" val="1"/>
              </a:ext>
            </a:extLst>
          </p:cNvPr>
          <p:cNvSpPr/>
          <p:nvPr/>
        </p:nvSpPr>
        <p:spPr>
          <a:xfrm>
            <a:off x="828446" y="777583"/>
            <a:ext cx="1111777" cy="1060162"/>
          </a:xfrm>
          <a:prstGeom prst="ellipse">
            <a:avLst/>
          </a:prstGeom>
          <a:solidFill>
            <a:srgbClr val="00A8CC">
              <a:alpha val="20000"/>
            </a:srgbClr>
          </a:solidFill>
          <a:effectLst>
            <a:softEdge rad="0"/>
          </a:effectLst>
        </p:spPr>
        <p:txBody>
          <a:bodyPr/>
          <a:lstStyle/>
          <a:p>
            <a:endParaRPr lang="en-US" noProof="0" dirty="0"/>
          </a:p>
        </p:txBody>
      </p:sp>
      <p:sp>
        <p:nvSpPr>
          <p:cNvPr id="19" name="TextBox 10">
            <a:extLst>
              <a:ext uri="{FF2B5EF4-FFF2-40B4-BE49-F238E27FC236}">
                <a16:creationId xmlns:a16="http://schemas.microsoft.com/office/drawing/2014/main" id="{7491B7BC-D8B2-B622-56EC-9D3E952C8AA8}"/>
              </a:ext>
            </a:extLst>
          </p:cNvPr>
          <p:cNvSpPr txBox="1"/>
          <p:nvPr/>
        </p:nvSpPr>
        <p:spPr>
          <a:xfrm>
            <a:off x="8753475" y="879760"/>
            <a:ext cx="2197322" cy="388633"/>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Permissions</a:t>
            </a:r>
          </a:p>
        </p:txBody>
      </p:sp>
      <p:sp>
        <p:nvSpPr>
          <p:cNvPr id="20" name="TextBox 11">
            <a:extLst>
              <a:ext uri="{FF2B5EF4-FFF2-40B4-BE49-F238E27FC236}">
                <a16:creationId xmlns:a16="http://schemas.microsoft.com/office/drawing/2014/main" id="{6BE8C1F9-C1FC-539B-9FD0-02FC8261DB8A}"/>
              </a:ext>
            </a:extLst>
          </p:cNvPr>
          <p:cNvSpPr txBox="1"/>
          <p:nvPr/>
        </p:nvSpPr>
        <p:spPr>
          <a:xfrm>
            <a:off x="10950797" y="700844"/>
            <a:ext cx="1907082" cy="809591"/>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Booking Process</a:t>
            </a:r>
          </a:p>
        </p:txBody>
      </p:sp>
      <p:sp>
        <p:nvSpPr>
          <p:cNvPr id="21" name="TextBox 12">
            <a:extLst>
              <a:ext uri="{FF2B5EF4-FFF2-40B4-BE49-F238E27FC236}">
                <a16:creationId xmlns:a16="http://schemas.microsoft.com/office/drawing/2014/main" id="{9D7F977F-F5B0-3E5D-8B90-7514C7DA4A1F}"/>
              </a:ext>
            </a:extLst>
          </p:cNvPr>
          <p:cNvSpPr txBox="1"/>
          <p:nvPr/>
        </p:nvSpPr>
        <p:spPr>
          <a:xfrm>
            <a:off x="12954000" y="700844"/>
            <a:ext cx="1981200" cy="809591"/>
          </a:xfrm>
          <a:prstGeom prst="rect">
            <a:avLst/>
          </a:prstGeom>
        </p:spPr>
        <p:txBody>
          <a:bodyPr wrap="square"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Development structure</a:t>
            </a:r>
          </a:p>
        </p:txBody>
      </p:sp>
      <p:sp>
        <p:nvSpPr>
          <p:cNvPr id="22" name="TextBox 13">
            <a:extLst>
              <a:ext uri="{FF2B5EF4-FFF2-40B4-BE49-F238E27FC236}">
                <a16:creationId xmlns:a16="http://schemas.microsoft.com/office/drawing/2014/main" id="{DD230EBF-DF24-C668-EB33-3239C5E04F47}"/>
              </a:ext>
            </a:extLst>
          </p:cNvPr>
          <p:cNvSpPr txBox="1"/>
          <p:nvPr/>
        </p:nvSpPr>
        <p:spPr>
          <a:xfrm>
            <a:off x="14944725" y="700844"/>
            <a:ext cx="2506246" cy="799001"/>
          </a:xfrm>
          <a:prstGeom prst="rect">
            <a:avLst/>
          </a:prstGeom>
        </p:spPr>
        <p:txBody>
          <a:bodyPr wrap="square" lIns="0" tIns="0" rIns="0" bIns="0" rtlCol="0" anchor="t">
            <a:spAutoFit/>
          </a:bodyPr>
          <a:lstStyle/>
          <a:p>
            <a:pPr lvl="0" algn="ctr">
              <a:lnSpc>
                <a:spcPts val="3151"/>
              </a:lnSpc>
              <a:spcBef>
                <a:spcPct val="0"/>
              </a:spcBef>
            </a:pPr>
            <a:r>
              <a:rPr lang="en-US" sz="2251" b="1" noProof="0" dirty="0">
                <a:solidFill>
                  <a:srgbClr val="FFFFFF"/>
                </a:solidFill>
                <a:latin typeface="Poppins"/>
                <a:ea typeface="Poppins"/>
                <a:cs typeface="Poppins"/>
                <a:sym typeface="Poppins"/>
              </a:rPr>
              <a:t>Testing and Troubleshooting</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8" name="Group 8" descr="csapatkep"/>
          <p:cNvGrpSpPr/>
          <p:nvPr/>
        </p:nvGrpSpPr>
        <p:grpSpPr>
          <a:xfrm>
            <a:off x="1703924" y="5591678"/>
            <a:ext cx="7770471" cy="4302666"/>
            <a:chOff x="0" y="0"/>
            <a:chExt cx="1165771" cy="645511"/>
          </a:xfrm>
        </p:grpSpPr>
        <p:sp>
          <p:nvSpPr>
            <p:cNvPr id="9" name="Freeform 9"/>
            <p:cNvSpPr/>
            <p:nvPr/>
          </p:nvSpPr>
          <p:spPr>
            <a:xfrm>
              <a:off x="0" y="0"/>
              <a:ext cx="1165771" cy="645511"/>
            </a:xfrm>
            <a:custGeom>
              <a:avLst/>
              <a:gdLst/>
              <a:ahLst/>
              <a:cxnLst/>
              <a:rect l="l" t="t" r="r" b="b"/>
              <a:pathLst>
                <a:path w="1165771" h="645511">
                  <a:moveTo>
                    <a:pt x="44208" y="0"/>
                  </a:moveTo>
                  <a:lnTo>
                    <a:pt x="1121563" y="0"/>
                  </a:lnTo>
                  <a:cubicBezTo>
                    <a:pt x="1133288" y="0"/>
                    <a:pt x="1144532" y="4658"/>
                    <a:pt x="1152823" y="12948"/>
                  </a:cubicBezTo>
                  <a:cubicBezTo>
                    <a:pt x="1161113" y="21239"/>
                    <a:pt x="1165771" y="32483"/>
                    <a:pt x="1165771" y="44208"/>
                  </a:cubicBezTo>
                  <a:lnTo>
                    <a:pt x="1165771" y="601303"/>
                  </a:lnTo>
                  <a:cubicBezTo>
                    <a:pt x="1165771" y="625718"/>
                    <a:pt x="1145978" y="645511"/>
                    <a:pt x="1121563" y="645511"/>
                  </a:cubicBezTo>
                  <a:lnTo>
                    <a:pt x="44208" y="645511"/>
                  </a:lnTo>
                  <a:cubicBezTo>
                    <a:pt x="32483" y="645511"/>
                    <a:pt x="21239" y="640853"/>
                    <a:pt x="12948" y="632563"/>
                  </a:cubicBezTo>
                  <a:cubicBezTo>
                    <a:pt x="4658" y="624272"/>
                    <a:pt x="0" y="613028"/>
                    <a:pt x="0" y="601303"/>
                  </a:cubicBezTo>
                  <a:lnTo>
                    <a:pt x="0" y="44208"/>
                  </a:lnTo>
                  <a:cubicBezTo>
                    <a:pt x="0" y="32483"/>
                    <a:pt x="4658" y="21239"/>
                    <a:pt x="12948" y="12948"/>
                  </a:cubicBezTo>
                  <a:cubicBezTo>
                    <a:pt x="21239" y="4658"/>
                    <a:pt x="32483" y="0"/>
                    <a:pt x="44208" y="0"/>
                  </a:cubicBezTo>
                  <a:close/>
                </a:path>
              </a:pathLst>
            </a:custGeom>
            <a:blipFill>
              <a:blip r:embed="rId3"/>
              <a:stretch>
                <a:fillRect t="-1599" b="-1599"/>
              </a:stretch>
            </a:blipFill>
          </p:spPr>
          <p:txBody>
            <a:bodyPr/>
            <a:lstStyle/>
            <a:p>
              <a:endParaRPr lang="en-US" noProof="0" dirty="0"/>
            </a:p>
          </p:txBody>
        </p:sp>
      </p:grpSp>
      <p:sp>
        <p:nvSpPr>
          <p:cNvPr id="17" name="Freeform 3">
            <a:extLst>
              <a:ext uri="{FF2B5EF4-FFF2-40B4-BE49-F238E27FC236}">
                <a16:creationId xmlns:a16="http://schemas.microsoft.com/office/drawing/2014/main" id="{6DE800E8-28DB-25F5-0DED-39B4EC1E5DBC}"/>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grpSp>
        <p:nvGrpSpPr>
          <p:cNvPr id="2" name="Group 2">
            <a:extLst>
              <a:ext uri="{C183D7F6-B498-43B3-948B-1728B52AA6E4}">
                <adec:decorative xmlns:adec="http://schemas.microsoft.com/office/drawing/2017/decorative" val="1"/>
              </a:ext>
            </a:extLst>
          </p:cNvPr>
          <p:cNvGrpSpPr/>
          <p:nvPr/>
        </p:nvGrpSpPr>
        <p:grpSpPr>
          <a:xfrm>
            <a:off x="677738" y="2477765"/>
            <a:ext cx="4761997" cy="2900065"/>
            <a:chOff x="0" y="0"/>
            <a:chExt cx="1615326" cy="763803"/>
          </a:xfrm>
        </p:grpSpPr>
        <p:sp>
          <p:nvSpPr>
            <p:cNvPr id="3" name="Freeform 3"/>
            <p:cNvSpPr/>
            <p:nvPr/>
          </p:nvSpPr>
          <p:spPr>
            <a:xfrm>
              <a:off x="0" y="0"/>
              <a:ext cx="1615326" cy="763803"/>
            </a:xfrm>
            <a:custGeom>
              <a:avLst/>
              <a:gdLst/>
              <a:ahLst/>
              <a:cxnLst/>
              <a:rect l="l" t="t" r="r" b="b"/>
              <a:pathLst>
                <a:path w="1615326" h="763803">
                  <a:moveTo>
                    <a:pt x="70689" y="0"/>
                  </a:moveTo>
                  <a:lnTo>
                    <a:pt x="1544638" y="0"/>
                  </a:lnTo>
                  <a:cubicBezTo>
                    <a:pt x="1583678" y="0"/>
                    <a:pt x="1615326" y="31648"/>
                    <a:pt x="1615326" y="70689"/>
                  </a:cubicBezTo>
                  <a:lnTo>
                    <a:pt x="1615326" y="693114"/>
                  </a:lnTo>
                  <a:cubicBezTo>
                    <a:pt x="1615326" y="732155"/>
                    <a:pt x="1583678" y="763803"/>
                    <a:pt x="1544638" y="763803"/>
                  </a:cubicBezTo>
                  <a:lnTo>
                    <a:pt x="70689" y="763803"/>
                  </a:lnTo>
                  <a:cubicBezTo>
                    <a:pt x="31648" y="763803"/>
                    <a:pt x="0" y="732155"/>
                    <a:pt x="0" y="693114"/>
                  </a:cubicBezTo>
                  <a:lnTo>
                    <a:pt x="0" y="70689"/>
                  </a:lnTo>
                  <a:cubicBezTo>
                    <a:pt x="0" y="31648"/>
                    <a:pt x="31648" y="0"/>
                    <a:pt x="70689" y="0"/>
                  </a:cubicBezTo>
                  <a:close/>
                </a:path>
              </a:pathLst>
            </a:custGeom>
            <a:gradFill rotWithShape="1">
              <a:gsLst>
                <a:gs pos="0">
                  <a:srgbClr val="000000">
                    <a:alpha val="78000"/>
                  </a:srgbClr>
                </a:gs>
                <a:gs pos="100000">
                  <a:srgbClr val="DDDDDD">
                    <a:alpha val="14820"/>
                  </a:srgbClr>
                </a:gs>
              </a:gsLst>
              <a:lin ang="2700000"/>
            </a:gradFill>
          </p:spPr>
          <p:txBody>
            <a:bodyPr/>
            <a:lstStyle/>
            <a:p>
              <a:endParaRPr lang="en-US" noProof="0" dirty="0"/>
            </a:p>
          </p:txBody>
        </p:sp>
        <p:sp>
          <p:nvSpPr>
            <p:cNvPr id="4" name="TextBox 4"/>
            <p:cNvSpPr txBox="1"/>
            <p:nvPr/>
          </p:nvSpPr>
          <p:spPr>
            <a:xfrm>
              <a:off x="0" y="-66675"/>
              <a:ext cx="1615326" cy="830478"/>
            </a:xfrm>
            <a:prstGeom prst="rect">
              <a:avLst/>
            </a:prstGeom>
          </p:spPr>
          <p:txBody>
            <a:bodyPr lIns="50800" tIns="50800" rIns="50800" bIns="50800" rtlCol="0" anchor="ctr"/>
            <a:lstStyle/>
            <a:p>
              <a:pPr algn="ctr">
                <a:lnSpc>
                  <a:spcPts val="3151"/>
                </a:lnSpc>
              </a:pPr>
              <a:endParaRPr lang="en-US" noProof="0" dirty="0"/>
            </a:p>
          </p:txBody>
        </p:sp>
      </p:grpSp>
      <p:grpSp>
        <p:nvGrpSpPr>
          <p:cNvPr id="5" name="Group 5">
            <a:extLst>
              <a:ext uri="{C183D7F6-B498-43B3-948B-1728B52AA6E4}">
                <adec:decorative xmlns:adec="http://schemas.microsoft.com/office/drawing/2017/decorative" val="1"/>
              </a:ext>
            </a:extLst>
          </p:cNvPr>
          <p:cNvGrpSpPr/>
          <p:nvPr/>
        </p:nvGrpSpPr>
        <p:grpSpPr>
          <a:xfrm>
            <a:off x="5565067" y="2477765"/>
            <a:ext cx="4963709" cy="2900065"/>
            <a:chOff x="0" y="0"/>
            <a:chExt cx="1615326" cy="719403"/>
          </a:xfrm>
        </p:grpSpPr>
        <p:sp>
          <p:nvSpPr>
            <p:cNvPr id="6" name="Freeform 6"/>
            <p:cNvSpPr/>
            <p:nvPr/>
          </p:nvSpPr>
          <p:spPr>
            <a:xfrm>
              <a:off x="0" y="0"/>
              <a:ext cx="1615326" cy="719403"/>
            </a:xfrm>
            <a:custGeom>
              <a:avLst/>
              <a:gdLst/>
              <a:ahLst/>
              <a:cxnLst/>
              <a:rect l="l" t="t" r="r" b="b"/>
              <a:pathLst>
                <a:path w="1615326" h="719403">
                  <a:moveTo>
                    <a:pt x="70689" y="0"/>
                  </a:moveTo>
                  <a:lnTo>
                    <a:pt x="1544638" y="0"/>
                  </a:lnTo>
                  <a:cubicBezTo>
                    <a:pt x="1583678" y="0"/>
                    <a:pt x="1615326" y="31648"/>
                    <a:pt x="1615326" y="70689"/>
                  </a:cubicBezTo>
                  <a:lnTo>
                    <a:pt x="1615326" y="648714"/>
                  </a:lnTo>
                  <a:cubicBezTo>
                    <a:pt x="1615326" y="687755"/>
                    <a:pt x="1583678" y="719403"/>
                    <a:pt x="1544638" y="719403"/>
                  </a:cubicBezTo>
                  <a:lnTo>
                    <a:pt x="70689" y="719403"/>
                  </a:lnTo>
                  <a:cubicBezTo>
                    <a:pt x="31648" y="719403"/>
                    <a:pt x="0" y="687755"/>
                    <a:pt x="0" y="648714"/>
                  </a:cubicBezTo>
                  <a:lnTo>
                    <a:pt x="0" y="70689"/>
                  </a:lnTo>
                  <a:cubicBezTo>
                    <a:pt x="0" y="31648"/>
                    <a:pt x="31648" y="0"/>
                    <a:pt x="70689" y="0"/>
                  </a:cubicBezTo>
                  <a:close/>
                </a:path>
              </a:pathLst>
            </a:custGeom>
            <a:gradFill rotWithShape="1">
              <a:gsLst>
                <a:gs pos="0">
                  <a:srgbClr val="1B1F45"/>
                </a:gs>
                <a:gs pos="64000">
                  <a:srgbClr val="00A8CC"/>
                </a:gs>
                <a:gs pos="100000">
                  <a:srgbClr val="6C63FF"/>
                </a:gs>
              </a:gsLst>
              <a:path path="circle">
                <a:fillToRect r="100000" b="100000"/>
              </a:path>
              <a:tileRect l="-100000" t="-100000"/>
            </a:gradFill>
          </p:spPr>
          <p:txBody>
            <a:bodyPr/>
            <a:lstStyle/>
            <a:p>
              <a:endParaRPr lang="en-US" noProof="0" dirty="0"/>
            </a:p>
          </p:txBody>
        </p:sp>
        <p:sp>
          <p:nvSpPr>
            <p:cNvPr id="7" name="TextBox 7"/>
            <p:cNvSpPr txBox="1"/>
            <p:nvPr/>
          </p:nvSpPr>
          <p:spPr>
            <a:xfrm>
              <a:off x="0" y="-66675"/>
              <a:ext cx="1615326" cy="786078"/>
            </a:xfrm>
            <a:prstGeom prst="rect">
              <a:avLst/>
            </a:prstGeom>
          </p:spPr>
          <p:txBody>
            <a:bodyPr lIns="50800" tIns="50800" rIns="50800" bIns="50800" rtlCol="0" anchor="ctr"/>
            <a:lstStyle/>
            <a:p>
              <a:pPr algn="ctr">
                <a:lnSpc>
                  <a:spcPts val="3151"/>
                </a:lnSpc>
              </a:pPr>
              <a:endParaRPr lang="en-US" noProof="0" dirty="0"/>
            </a:p>
          </p:txBody>
        </p:sp>
      </p:grpSp>
      <p:sp>
        <p:nvSpPr>
          <p:cNvPr id="10" name="Freeform 10">
            <a:extLs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4"/>
            <a:stretch>
              <a:fillRect/>
            </a:stretch>
          </a:blipFill>
        </p:spPr>
        <p:txBody>
          <a:bodyPr/>
          <a:lstStyle/>
          <a:p>
            <a:endParaRPr lang="en-US" noProof="0" dirty="0"/>
          </a:p>
        </p:txBody>
      </p:sp>
      <p:sp>
        <p:nvSpPr>
          <p:cNvPr id="11" name="TextBox 11"/>
          <p:cNvSpPr txBox="1"/>
          <p:nvPr/>
        </p:nvSpPr>
        <p:spPr>
          <a:xfrm>
            <a:off x="6005875" y="2813451"/>
            <a:ext cx="3904126" cy="2221698"/>
          </a:xfrm>
          <a:prstGeom prst="rect">
            <a:avLst/>
          </a:prstGeom>
        </p:spPr>
        <p:txBody>
          <a:bodyPr wrap="square" lIns="0" tIns="0" rIns="0" bIns="0" rtlCol="0" anchor="t">
            <a:spAutoFit/>
          </a:bodyPr>
          <a:lstStyle/>
          <a:p>
            <a:pPr marL="539749" lvl="1" indent="-269875" algn="l">
              <a:lnSpc>
                <a:spcPts val="3499"/>
              </a:lnSpc>
              <a:buFont typeface="Arial"/>
              <a:buChar char="•"/>
            </a:pPr>
            <a:r>
              <a:rPr lang="en-US" sz="2499" noProof="0" dirty="0">
                <a:solidFill>
                  <a:srgbClr val="FFFFFF"/>
                </a:solidFill>
                <a:latin typeface="Poppins"/>
                <a:ea typeface="Poppins"/>
                <a:cs typeface="Poppins"/>
                <a:sym typeface="Poppins"/>
              </a:rPr>
              <a:t>frontend </a:t>
            </a:r>
          </a:p>
          <a:p>
            <a:pPr marL="539749" lvl="1" indent="-269875" algn="l">
              <a:lnSpc>
                <a:spcPts val="3499"/>
              </a:lnSpc>
              <a:buFont typeface="Arial"/>
              <a:buChar char="•"/>
            </a:pPr>
            <a:r>
              <a:rPr lang="en-US" sz="2499" noProof="0" dirty="0">
                <a:solidFill>
                  <a:srgbClr val="FFFFFF"/>
                </a:solidFill>
                <a:latin typeface="Poppins"/>
                <a:ea typeface="Poppins"/>
                <a:cs typeface="Poppins"/>
                <a:sym typeface="Poppins"/>
              </a:rPr>
              <a:t>backend </a:t>
            </a:r>
          </a:p>
          <a:p>
            <a:pPr marL="539749" lvl="1" indent="-269875" algn="l">
              <a:lnSpc>
                <a:spcPts val="3499"/>
              </a:lnSpc>
              <a:buFont typeface="Arial"/>
              <a:buChar char="•"/>
            </a:pPr>
            <a:r>
              <a:rPr lang="en-US" sz="2499" noProof="0" dirty="0">
                <a:solidFill>
                  <a:srgbClr val="FFFFFF"/>
                </a:solidFill>
                <a:latin typeface="Poppins"/>
                <a:ea typeface="Poppins"/>
                <a:cs typeface="Poppins"/>
                <a:sym typeface="Poppins"/>
              </a:rPr>
              <a:t>desktop </a:t>
            </a:r>
          </a:p>
          <a:p>
            <a:pPr marL="539749" lvl="1" indent="-269875" algn="l">
              <a:lnSpc>
                <a:spcPts val="3499"/>
              </a:lnSpc>
              <a:buFont typeface="Arial"/>
              <a:buChar char="•"/>
            </a:pPr>
            <a:r>
              <a:rPr lang="en-US" sz="2499" noProof="0" dirty="0">
                <a:solidFill>
                  <a:srgbClr val="FFFFFF"/>
                </a:solidFill>
                <a:latin typeface="Poppins"/>
                <a:ea typeface="Poppins"/>
                <a:cs typeface="Poppins"/>
                <a:sym typeface="Poppins"/>
              </a:rPr>
              <a:t>GitHub co </a:t>
            </a:r>
            <a:r>
              <a:rPr lang="en-US" sz="2499" noProof="0" dirty="0" err="1">
                <a:solidFill>
                  <a:srgbClr val="FFFFFF"/>
                </a:solidFill>
                <a:latin typeface="Poppins"/>
                <a:ea typeface="Poppins"/>
                <a:cs typeface="Poppins"/>
                <a:sym typeface="Poppins"/>
              </a:rPr>
              <a:t>oporation</a:t>
            </a:r>
            <a:r>
              <a:rPr lang="en-US" sz="2499" noProof="0" dirty="0">
                <a:solidFill>
                  <a:srgbClr val="FFFFFF"/>
                </a:solidFill>
                <a:latin typeface="Poppins"/>
                <a:ea typeface="Poppins"/>
                <a:cs typeface="Poppins"/>
                <a:sym typeface="Poppins"/>
              </a:rPr>
              <a:t> </a:t>
            </a:r>
          </a:p>
          <a:p>
            <a:pPr marL="539749" lvl="1" indent="-269875" algn="l">
              <a:lnSpc>
                <a:spcPts val="3499"/>
              </a:lnSpc>
              <a:buFont typeface="Arial"/>
              <a:buChar char="•"/>
            </a:pPr>
            <a:r>
              <a:rPr lang="en-US" sz="2499" noProof="0" dirty="0">
                <a:solidFill>
                  <a:srgbClr val="FFFFFF"/>
                </a:solidFill>
                <a:latin typeface="Poppins"/>
                <a:ea typeface="Poppins"/>
                <a:cs typeface="Poppins"/>
                <a:sym typeface="Poppins"/>
              </a:rPr>
              <a:t>Version control</a:t>
            </a:r>
          </a:p>
        </p:txBody>
      </p:sp>
      <p:sp>
        <p:nvSpPr>
          <p:cNvPr id="12" name="TextBox 12"/>
          <p:cNvSpPr txBox="1">
            <a:spLocks noGrp="1"/>
          </p:cNvSpPr>
          <p:nvPr>
            <p:ph type="title" idx="4294967295"/>
          </p:nvPr>
        </p:nvSpPr>
        <p:spPr>
          <a:xfrm>
            <a:off x="1005045" y="3468661"/>
            <a:ext cx="4253736" cy="84247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gn="l">
              <a:lnSpc>
                <a:spcPts val="6547"/>
              </a:lnSpc>
              <a:spcBef>
                <a:spcPts val="0"/>
              </a:spcBef>
              <a:defRPr/>
            </a:pPr>
            <a:r>
              <a:rPr lang="en-US" sz="6419" b="1" spc="-288" noProof="0" dirty="0">
                <a:solidFill>
                  <a:srgbClr val="FFFFFF"/>
                </a:solidFill>
                <a:latin typeface="Telegraf Bold"/>
                <a:ea typeface="Telegraf Bold"/>
                <a:cs typeface="Telegraf Bold"/>
                <a:sym typeface="Telegraf Bold"/>
              </a:rPr>
              <a:t>Teamwork</a:t>
            </a:r>
            <a:endParaRPr kumimoji="0" lang="en-US" sz="6419" b="1" i="0" u="none" strike="noStrike" kern="1200" cap="none" spc="-288" normalizeH="0" baseline="0" noProof="0" dirty="0">
              <a:ln>
                <a:noFill/>
              </a:ln>
              <a:solidFill>
                <a:srgbClr val="FFFFFF"/>
              </a:solidFill>
              <a:effectLst/>
              <a:uLnTx/>
              <a:uFillTx/>
              <a:latin typeface="Telegraf Bold"/>
              <a:ea typeface="Telegraf Bold"/>
              <a:cs typeface="Telegraf Bold"/>
              <a:sym typeface="Telegraf Bold"/>
            </a:endParaRPr>
          </a:p>
        </p:txBody>
      </p:sp>
      <p:sp>
        <p:nvSpPr>
          <p:cNvPr id="13" name="TextBox 13"/>
          <p:cNvSpPr txBox="1"/>
          <p:nvPr/>
        </p:nvSpPr>
        <p:spPr>
          <a:xfrm>
            <a:off x="9089794" y="862486"/>
            <a:ext cx="2168153" cy="388633"/>
          </a:xfrm>
          <a:prstGeom prst="rect">
            <a:avLst/>
          </a:prstGeom>
        </p:spPr>
        <p:txBody>
          <a:bodyPr lIns="0" tIns="0" rIns="0" bIns="0" rtlCol="0" anchor="t">
            <a:spAutoFit/>
          </a:bodyPr>
          <a:lstStyle/>
          <a:p>
            <a:pPr marL="0" lvl="0" indent="0" algn="r">
              <a:lnSpc>
                <a:spcPts val="3151"/>
              </a:lnSpc>
              <a:spcBef>
                <a:spcPct val="0"/>
              </a:spcBef>
            </a:pPr>
            <a:r>
              <a:rPr lang="en-US" sz="2251" b="1" noProof="0" dirty="0">
                <a:solidFill>
                  <a:srgbClr val="FFFFFF"/>
                </a:solidFill>
                <a:latin typeface="Poppins Bold"/>
                <a:ea typeface="Poppins Bold"/>
                <a:cs typeface="Poppins Bold"/>
                <a:sym typeface="Poppins Bold"/>
              </a:rPr>
              <a:t>Teamwork</a:t>
            </a:r>
          </a:p>
        </p:txBody>
      </p:sp>
      <p:sp>
        <p:nvSpPr>
          <p:cNvPr id="14" name="TextBox 14"/>
          <p:cNvSpPr txBox="1"/>
          <p:nvPr/>
        </p:nvSpPr>
        <p:spPr>
          <a:xfrm>
            <a:off x="11527590" y="662462"/>
            <a:ext cx="1907082" cy="809591"/>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Team challenges</a:t>
            </a:r>
          </a:p>
        </p:txBody>
      </p:sp>
      <p:sp>
        <p:nvSpPr>
          <p:cNvPr id="15" name="TextBox 15"/>
          <p:cNvSpPr txBox="1"/>
          <p:nvPr/>
        </p:nvSpPr>
        <p:spPr>
          <a:xfrm>
            <a:off x="13518911" y="862487"/>
            <a:ext cx="1916881" cy="388633"/>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Afterword</a:t>
            </a:r>
          </a:p>
        </p:txBody>
      </p:sp>
      <p:sp>
        <p:nvSpPr>
          <p:cNvPr id="16" name="TextBox 16"/>
          <p:cNvSpPr txBox="1"/>
          <p:nvPr/>
        </p:nvSpPr>
        <p:spPr>
          <a:xfrm>
            <a:off x="15034325" y="862487"/>
            <a:ext cx="2224975" cy="388633"/>
          </a:xfrm>
          <a:prstGeom prst="rect">
            <a:avLst/>
          </a:prstGeom>
        </p:spPr>
        <p:txBody>
          <a:bodyPr lIns="0" tIns="0" rIns="0" bIns="0" rtlCol="0" anchor="t">
            <a:spAutoFit/>
          </a:bodyPr>
          <a:lstStyle/>
          <a:p>
            <a:pPr lvl="0" algn="r">
              <a:lnSpc>
                <a:spcPts val="3151"/>
              </a:lnSpc>
              <a:spcBef>
                <a:spcPct val="0"/>
              </a:spcBef>
            </a:pPr>
            <a:r>
              <a:rPr lang="en-US" sz="2251" noProof="0" dirty="0">
                <a:solidFill>
                  <a:srgbClr val="FFFFFF"/>
                </a:solidFill>
                <a:latin typeface="Poppins"/>
                <a:ea typeface="Poppins"/>
                <a:cs typeface="Poppins"/>
                <a:sym typeface="Poppins"/>
              </a:rPr>
              <a:t>Thank you!</a:t>
            </a:r>
          </a:p>
        </p:txBody>
      </p:sp>
      <p:sp>
        <p:nvSpPr>
          <p:cNvPr id="18" name="Freeform 3">
            <a:extLst>
              <a:ext uri="{FF2B5EF4-FFF2-40B4-BE49-F238E27FC236}">
                <a16:creationId xmlns:a16="http://schemas.microsoft.com/office/drawing/2014/main" id="{23F9C0DA-FEB8-7C42-0E22-787790F98594}"/>
              </a:ext>
              <a:ext uri="{C183D7F6-B498-43B3-948B-1728B52AA6E4}">
                <adec:decorative xmlns:adec="http://schemas.microsoft.com/office/drawing/2017/decorative" val="1"/>
              </a:ext>
            </a:extLst>
          </p:cNvPr>
          <p:cNvSpPr/>
          <p:nvPr/>
        </p:nvSpPr>
        <p:spPr>
          <a:xfrm>
            <a:off x="828446" y="777583"/>
            <a:ext cx="1111777" cy="1060162"/>
          </a:xfrm>
          <a:prstGeom prst="ellipse">
            <a:avLst/>
          </a:prstGeom>
          <a:solidFill>
            <a:srgbClr val="00A8CC">
              <a:alpha val="20000"/>
            </a:srgbClr>
          </a:solidFill>
          <a:effectLst>
            <a:softEdge rad="0"/>
          </a:effectLst>
        </p:spPr>
        <p:txBody>
          <a:bodyPr/>
          <a:lstStyle/>
          <a:p>
            <a:endParaRPr lang="en-US" noProof="0" dirty="0"/>
          </a:p>
        </p:txBody>
      </p:sp>
      <p:pic>
        <p:nvPicPr>
          <p:cNvPr id="20" name="Kép 19">
            <a:extLst>
              <a:ext uri="{FF2B5EF4-FFF2-40B4-BE49-F238E27FC236}">
                <a16:creationId xmlns:a16="http://schemas.microsoft.com/office/drawing/2014/main" id="{8E968F44-9D03-5741-B08C-3962C6657D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30063" y="3924300"/>
            <a:ext cx="7486210" cy="5390071"/>
          </a:xfrm>
          <a:prstGeom prst="roundRect">
            <a:avLst>
              <a:gd name="adj" fmla="val 8493"/>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4" name="Freeform 3">
            <a:extLst>
              <a:ext uri="{FF2B5EF4-FFF2-40B4-BE49-F238E27FC236}">
                <a16:creationId xmlns:a16="http://schemas.microsoft.com/office/drawing/2014/main" id="{B1224F64-04F6-A001-DCBC-CB76A1938AEC}"/>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grpSp>
        <p:nvGrpSpPr>
          <p:cNvPr id="2" name="Group 2">
            <a:extLst>
              <a:ext uri="{C183D7F6-B498-43B3-948B-1728B52AA6E4}">
                <adec:decorative xmlns:adec="http://schemas.microsoft.com/office/drawing/2017/decorative" val="1"/>
              </a:ext>
            </a:extLst>
          </p:cNvPr>
          <p:cNvGrpSpPr/>
          <p:nvPr/>
        </p:nvGrpSpPr>
        <p:grpSpPr>
          <a:xfrm>
            <a:off x="7703689" y="2249329"/>
            <a:ext cx="9783203" cy="5849788"/>
            <a:chOff x="0" y="0"/>
            <a:chExt cx="2576646" cy="1540685"/>
          </a:xfrm>
        </p:grpSpPr>
        <p:sp>
          <p:nvSpPr>
            <p:cNvPr id="3" name="Freeform 3"/>
            <p:cNvSpPr/>
            <p:nvPr/>
          </p:nvSpPr>
          <p:spPr>
            <a:xfrm>
              <a:off x="0" y="0"/>
              <a:ext cx="2576646" cy="1540685"/>
            </a:xfrm>
            <a:custGeom>
              <a:avLst/>
              <a:gdLst/>
              <a:ahLst/>
              <a:cxnLst/>
              <a:rect l="l" t="t" r="r" b="b"/>
              <a:pathLst>
                <a:path w="2576646" h="1540685">
                  <a:moveTo>
                    <a:pt x="44315" y="0"/>
                  </a:moveTo>
                  <a:lnTo>
                    <a:pt x="2532331" y="0"/>
                  </a:lnTo>
                  <a:cubicBezTo>
                    <a:pt x="2556806" y="0"/>
                    <a:pt x="2576646" y="19841"/>
                    <a:pt x="2576646" y="44315"/>
                  </a:cubicBezTo>
                  <a:lnTo>
                    <a:pt x="2576646" y="1496370"/>
                  </a:lnTo>
                  <a:cubicBezTo>
                    <a:pt x="2576646" y="1508123"/>
                    <a:pt x="2571977" y="1519395"/>
                    <a:pt x="2563667" y="1527705"/>
                  </a:cubicBezTo>
                  <a:cubicBezTo>
                    <a:pt x="2555356" y="1536016"/>
                    <a:pt x="2544084" y="1540685"/>
                    <a:pt x="2532331" y="1540685"/>
                  </a:cubicBezTo>
                  <a:lnTo>
                    <a:pt x="44315" y="1540685"/>
                  </a:lnTo>
                  <a:cubicBezTo>
                    <a:pt x="32562" y="1540685"/>
                    <a:pt x="21290" y="1536016"/>
                    <a:pt x="12980" y="1527705"/>
                  </a:cubicBezTo>
                  <a:cubicBezTo>
                    <a:pt x="4669" y="1519395"/>
                    <a:pt x="0" y="1508123"/>
                    <a:pt x="0" y="1496370"/>
                  </a:cubicBezTo>
                  <a:lnTo>
                    <a:pt x="0" y="44315"/>
                  </a:lnTo>
                  <a:cubicBezTo>
                    <a:pt x="0" y="32562"/>
                    <a:pt x="4669" y="21290"/>
                    <a:pt x="12980" y="12980"/>
                  </a:cubicBezTo>
                  <a:cubicBezTo>
                    <a:pt x="21290" y="4669"/>
                    <a:pt x="32562" y="0"/>
                    <a:pt x="44315" y="0"/>
                  </a:cubicBezTo>
                  <a:close/>
                </a:path>
              </a:pathLst>
            </a:custGeom>
            <a:gradFill rotWithShape="1">
              <a:gsLst>
                <a:gs pos="0">
                  <a:srgbClr val="1B1F45"/>
                </a:gs>
                <a:gs pos="66000">
                  <a:srgbClr val="00A8CC"/>
                </a:gs>
                <a:gs pos="100000">
                  <a:srgbClr val="6C63FF"/>
                </a:gs>
              </a:gsLst>
              <a:path path="circle">
                <a:fillToRect r="100000" b="100000"/>
              </a:path>
              <a:tileRect l="-100000" t="-100000"/>
            </a:gradFill>
          </p:spPr>
          <p:txBody>
            <a:bodyPr/>
            <a:lstStyle/>
            <a:p>
              <a:endParaRPr lang="en-US" noProof="0" dirty="0"/>
            </a:p>
          </p:txBody>
        </p:sp>
        <p:sp>
          <p:nvSpPr>
            <p:cNvPr id="4" name="TextBox 4"/>
            <p:cNvSpPr txBox="1"/>
            <p:nvPr/>
          </p:nvSpPr>
          <p:spPr>
            <a:xfrm>
              <a:off x="0" y="-66675"/>
              <a:ext cx="2576646" cy="1607360"/>
            </a:xfrm>
            <a:prstGeom prst="rect">
              <a:avLst/>
            </a:prstGeom>
          </p:spPr>
          <p:txBody>
            <a:bodyPr lIns="50800" tIns="50800" rIns="50800" bIns="50800" rtlCol="0" anchor="ctr"/>
            <a:lstStyle/>
            <a:p>
              <a:pPr algn="ctr">
                <a:lnSpc>
                  <a:spcPts val="3151"/>
                </a:lnSpc>
              </a:pPr>
              <a:endParaRPr lang="en-US" noProof="0" dirty="0"/>
            </a:p>
          </p:txBody>
        </p:sp>
      </p:grpSp>
      <p:sp>
        <p:nvSpPr>
          <p:cNvPr id="5" name="Freeform 5">
            <a:extLs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3"/>
            <a:stretch>
              <a:fillRect/>
            </a:stretch>
          </a:blipFill>
        </p:spPr>
        <p:txBody>
          <a:bodyPr/>
          <a:lstStyle/>
          <a:p>
            <a:endParaRPr lang="en-US" noProof="0" dirty="0"/>
          </a:p>
        </p:txBody>
      </p:sp>
      <p:grpSp>
        <p:nvGrpSpPr>
          <p:cNvPr id="6" name="Group 6" descr="searchikon"/>
          <p:cNvGrpSpPr/>
          <p:nvPr/>
        </p:nvGrpSpPr>
        <p:grpSpPr>
          <a:xfrm>
            <a:off x="1028700" y="2249329"/>
            <a:ext cx="6270972" cy="5911234"/>
            <a:chOff x="0" y="0"/>
            <a:chExt cx="944436" cy="890258"/>
          </a:xfrm>
        </p:grpSpPr>
        <p:sp>
          <p:nvSpPr>
            <p:cNvPr id="7" name="Freeform 7"/>
            <p:cNvSpPr/>
            <p:nvPr/>
          </p:nvSpPr>
          <p:spPr>
            <a:xfrm>
              <a:off x="0" y="0"/>
              <a:ext cx="944436" cy="890258"/>
            </a:xfrm>
            <a:custGeom>
              <a:avLst/>
              <a:gdLst/>
              <a:ahLst/>
              <a:cxnLst/>
              <a:rect l="l" t="t" r="r" b="b"/>
              <a:pathLst>
                <a:path w="944436" h="890258">
                  <a:moveTo>
                    <a:pt x="69136" y="0"/>
                  </a:moveTo>
                  <a:lnTo>
                    <a:pt x="875301" y="0"/>
                  </a:lnTo>
                  <a:cubicBezTo>
                    <a:pt x="893636" y="0"/>
                    <a:pt x="911221" y="7284"/>
                    <a:pt x="924187" y="20249"/>
                  </a:cubicBezTo>
                  <a:cubicBezTo>
                    <a:pt x="937152" y="33215"/>
                    <a:pt x="944436" y="50800"/>
                    <a:pt x="944436" y="69136"/>
                  </a:cubicBezTo>
                  <a:lnTo>
                    <a:pt x="944436" y="821122"/>
                  </a:lnTo>
                  <a:cubicBezTo>
                    <a:pt x="944436" y="839458"/>
                    <a:pt x="937152" y="857043"/>
                    <a:pt x="924187" y="870009"/>
                  </a:cubicBezTo>
                  <a:cubicBezTo>
                    <a:pt x="911221" y="882974"/>
                    <a:pt x="893636" y="890258"/>
                    <a:pt x="875301" y="890258"/>
                  </a:cubicBezTo>
                  <a:lnTo>
                    <a:pt x="69136" y="890258"/>
                  </a:lnTo>
                  <a:cubicBezTo>
                    <a:pt x="30953" y="890258"/>
                    <a:pt x="0" y="859305"/>
                    <a:pt x="0" y="821122"/>
                  </a:cubicBezTo>
                  <a:lnTo>
                    <a:pt x="0" y="69136"/>
                  </a:lnTo>
                  <a:cubicBezTo>
                    <a:pt x="0" y="50800"/>
                    <a:pt x="7284" y="33215"/>
                    <a:pt x="20249" y="20249"/>
                  </a:cubicBezTo>
                  <a:cubicBezTo>
                    <a:pt x="33215" y="7284"/>
                    <a:pt x="50800" y="0"/>
                    <a:pt x="69136" y="0"/>
                  </a:cubicBezTo>
                  <a:close/>
                </a:path>
              </a:pathLst>
            </a:custGeom>
            <a:blipFill>
              <a:blip r:embed="rId4"/>
              <a:stretch>
                <a:fillRect l="-33789" r="-33789"/>
              </a:stretch>
            </a:blipFill>
          </p:spPr>
          <p:txBody>
            <a:bodyPr/>
            <a:lstStyle/>
            <a:p>
              <a:endParaRPr lang="en-US" noProof="0" dirty="0"/>
            </a:p>
          </p:txBody>
        </p:sp>
      </p:grpSp>
      <p:sp>
        <p:nvSpPr>
          <p:cNvPr id="8" name="TextBox 8"/>
          <p:cNvSpPr txBox="1"/>
          <p:nvPr/>
        </p:nvSpPr>
        <p:spPr>
          <a:xfrm>
            <a:off x="8460731" y="4343168"/>
            <a:ext cx="8269119" cy="2670539"/>
          </a:xfrm>
          <a:prstGeom prst="rect">
            <a:avLst/>
          </a:prstGeom>
        </p:spPr>
        <p:txBody>
          <a:bodyPr lIns="0" tIns="0" rIns="0" bIns="0" rtlCol="0" anchor="t">
            <a:spAutoFit/>
          </a:bodyPr>
          <a:lstStyle/>
          <a:p>
            <a:pPr marL="539749" lvl="1" indent="-269875">
              <a:lnSpc>
                <a:spcPts val="3499"/>
              </a:lnSpc>
              <a:buFont typeface="Arial"/>
              <a:buChar char="•"/>
            </a:pPr>
            <a:r>
              <a:rPr lang="en-US" sz="2499" noProof="0" dirty="0">
                <a:solidFill>
                  <a:srgbClr val="FFFFFF"/>
                </a:solidFill>
                <a:latin typeface="Poppins"/>
                <a:ea typeface="Poppins"/>
                <a:cs typeface="Poppins"/>
                <a:sym typeface="Poppins"/>
              </a:rPr>
              <a:t>GitHub</a:t>
            </a:r>
          </a:p>
          <a:p>
            <a:pPr marL="539749" lvl="1" indent="-269875">
              <a:lnSpc>
                <a:spcPts val="3499"/>
              </a:lnSpc>
              <a:buFont typeface="Arial"/>
              <a:buChar char="•"/>
            </a:pPr>
            <a:r>
              <a:rPr lang="en-US" sz="2499" noProof="0" dirty="0">
                <a:solidFill>
                  <a:srgbClr val="FFFFFF"/>
                </a:solidFill>
                <a:latin typeface="Poppins"/>
                <a:ea typeface="Poppins"/>
                <a:cs typeface="Poppins"/>
                <a:sym typeface="Poppins"/>
              </a:rPr>
              <a:t>Schedule (at the beginning)</a:t>
            </a:r>
          </a:p>
          <a:p>
            <a:pPr marL="539749" lvl="1" indent="-269875">
              <a:lnSpc>
                <a:spcPts val="3499"/>
              </a:lnSpc>
              <a:buFont typeface="Arial"/>
              <a:buChar char="•"/>
            </a:pPr>
            <a:r>
              <a:rPr lang="en-US" sz="2499" noProof="0" dirty="0">
                <a:solidFill>
                  <a:srgbClr val="FFFFFF"/>
                </a:solidFill>
                <a:latin typeface="Poppins"/>
                <a:ea typeface="Poppins"/>
                <a:cs typeface="Poppins"/>
                <a:sym typeface="Poppins"/>
              </a:rPr>
              <a:t>WPF</a:t>
            </a:r>
          </a:p>
          <a:p>
            <a:pPr marL="539749" lvl="1" indent="-269875">
              <a:lnSpc>
                <a:spcPts val="3499"/>
              </a:lnSpc>
              <a:buFont typeface="Arial"/>
              <a:buChar char="•"/>
            </a:pPr>
            <a:r>
              <a:rPr lang="en-US" sz="2499" noProof="0" dirty="0">
                <a:solidFill>
                  <a:srgbClr val="FFFFFF"/>
                </a:solidFill>
                <a:latin typeface="Poppins"/>
                <a:ea typeface="Poppins"/>
                <a:cs typeface="Poppins"/>
                <a:sym typeface="Poppins"/>
              </a:rPr>
              <a:t>Discussing roles</a:t>
            </a:r>
          </a:p>
          <a:p>
            <a:pPr marL="539749" lvl="1" indent="-269875">
              <a:lnSpc>
                <a:spcPts val="3499"/>
              </a:lnSpc>
              <a:buFont typeface="Arial"/>
              <a:buChar char="•"/>
            </a:pPr>
            <a:r>
              <a:rPr lang="en-US" sz="2499" noProof="0" dirty="0">
                <a:solidFill>
                  <a:srgbClr val="FFFFFF"/>
                </a:solidFill>
                <a:latin typeface="Poppins"/>
                <a:ea typeface="Poppins"/>
                <a:cs typeface="Poppins"/>
                <a:sym typeface="Poppins"/>
              </a:rPr>
              <a:t>Running the application on different platforms</a:t>
            </a:r>
          </a:p>
          <a:p>
            <a:pPr marL="539749" lvl="1" indent="-269875">
              <a:lnSpc>
                <a:spcPts val="3499"/>
              </a:lnSpc>
              <a:buFont typeface="Arial"/>
              <a:buChar char="•"/>
            </a:pPr>
            <a:r>
              <a:rPr lang="en-US" sz="2499" noProof="0" dirty="0">
                <a:solidFill>
                  <a:srgbClr val="FFFFFF"/>
                </a:solidFill>
                <a:latin typeface="Poppins"/>
                <a:ea typeface="Poppins"/>
                <a:cs typeface="Poppins"/>
                <a:sym typeface="Poppins"/>
              </a:rPr>
              <a:t>Fixing compatibility issues</a:t>
            </a:r>
          </a:p>
        </p:txBody>
      </p:sp>
      <p:sp>
        <p:nvSpPr>
          <p:cNvPr id="9" name="TextBox 9"/>
          <p:cNvSpPr txBox="1">
            <a:spLocks noGrp="1"/>
          </p:cNvSpPr>
          <p:nvPr>
            <p:ph type="title" idx="4294967295"/>
          </p:nvPr>
        </p:nvSpPr>
        <p:spPr>
          <a:xfrm>
            <a:off x="8460731" y="3008904"/>
            <a:ext cx="8656428" cy="82945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gn="l">
              <a:lnSpc>
                <a:spcPts val="6445"/>
              </a:lnSpc>
              <a:spcBef>
                <a:spcPts val="0"/>
              </a:spcBef>
              <a:defRPr/>
            </a:pPr>
            <a:r>
              <a:rPr lang="en-US" sz="6319" b="1" spc="-284" noProof="0" dirty="0">
                <a:solidFill>
                  <a:srgbClr val="FFFFFF"/>
                </a:solidFill>
                <a:latin typeface="Telegraf Bold"/>
                <a:ea typeface="Telegraf Bold"/>
                <a:cs typeface="Telegraf Bold"/>
                <a:sym typeface="Telegraf Bold"/>
              </a:rPr>
              <a:t>TEAM DIFFICULTIES</a:t>
            </a:r>
            <a:endParaRPr kumimoji="0" lang="en-US" sz="6319" b="1" i="0" u="none" strike="noStrike" kern="1200" cap="none" spc="-284" normalizeH="0" baseline="0" noProof="0" dirty="0">
              <a:ln>
                <a:noFill/>
              </a:ln>
              <a:solidFill>
                <a:srgbClr val="FFFFFF"/>
              </a:solidFill>
              <a:effectLst/>
              <a:uLnTx/>
              <a:uFillTx/>
              <a:latin typeface="Telegraf Bold"/>
              <a:ea typeface="Telegraf Bold"/>
              <a:cs typeface="Telegraf Bold"/>
              <a:sym typeface="Telegraf Bold"/>
            </a:endParaRPr>
          </a:p>
        </p:txBody>
      </p:sp>
      <p:sp>
        <p:nvSpPr>
          <p:cNvPr id="15" name="Freeform 3">
            <a:extLst>
              <a:ext uri="{FF2B5EF4-FFF2-40B4-BE49-F238E27FC236}">
                <a16:creationId xmlns:a16="http://schemas.microsoft.com/office/drawing/2014/main" id="{B57C3D47-D85A-BA97-1578-8B4471715E3B}"/>
              </a:ext>
              <a:ext uri="{C183D7F6-B498-43B3-948B-1728B52AA6E4}">
                <adec:decorative xmlns:adec="http://schemas.microsoft.com/office/drawing/2017/decorative" val="1"/>
              </a:ext>
            </a:extLst>
          </p:cNvPr>
          <p:cNvSpPr/>
          <p:nvPr/>
        </p:nvSpPr>
        <p:spPr>
          <a:xfrm>
            <a:off x="828446" y="777583"/>
            <a:ext cx="1111777" cy="1060162"/>
          </a:xfrm>
          <a:prstGeom prst="ellipse">
            <a:avLst/>
          </a:prstGeom>
          <a:solidFill>
            <a:srgbClr val="00A8CC">
              <a:alpha val="20000"/>
            </a:srgbClr>
          </a:solidFill>
          <a:effectLst>
            <a:softEdge rad="0"/>
          </a:effectLst>
        </p:spPr>
        <p:txBody>
          <a:bodyPr/>
          <a:lstStyle/>
          <a:p>
            <a:endParaRPr lang="en-US" noProof="0" dirty="0"/>
          </a:p>
        </p:txBody>
      </p:sp>
      <p:sp>
        <p:nvSpPr>
          <p:cNvPr id="20" name="TextBox 13">
            <a:extLst>
              <a:ext uri="{FF2B5EF4-FFF2-40B4-BE49-F238E27FC236}">
                <a16:creationId xmlns:a16="http://schemas.microsoft.com/office/drawing/2014/main" id="{E20B0D11-46FB-68AF-C4C9-57A67305C76E}"/>
              </a:ext>
            </a:extLst>
          </p:cNvPr>
          <p:cNvSpPr txBox="1"/>
          <p:nvPr/>
        </p:nvSpPr>
        <p:spPr>
          <a:xfrm>
            <a:off x="9089794" y="862486"/>
            <a:ext cx="2168153" cy="388633"/>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Teamwork</a:t>
            </a:r>
          </a:p>
        </p:txBody>
      </p:sp>
      <p:sp>
        <p:nvSpPr>
          <p:cNvPr id="21" name="TextBox 14">
            <a:extLst>
              <a:ext uri="{FF2B5EF4-FFF2-40B4-BE49-F238E27FC236}">
                <a16:creationId xmlns:a16="http://schemas.microsoft.com/office/drawing/2014/main" id="{7DDE92EA-58EF-8208-3F55-48D8231AFD0D}"/>
              </a:ext>
            </a:extLst>
          </p:cNvPr>
          <p:cNvSpPr txBox="1"/>
          <p:nvPr/>
        </p:nvSpPr>
        <p:spPr>
          <a:xfrm>
            <a:off x="11527590" y="662462"/>
            <a:ext cx="1907082" cy="809591"/>
          </a:xfrm>
          <a:prstGeom prst="rect">
            <a:avLst/>
          </a:prstGeom>
        </p:spPr>
        <p:txBody>
          <a:bodyPr lIns="0" tIns="0" rIns="0" bIns="0" rtlCol="0" anchor="t">
            <a:spAutoFit/>
          </a:bodyPr>
          <a:lstStyle/>
          <a:p>
            <a:pPr lvl="0" algn="ctr">
              <a:lnSpc>
                <a:spcPts val="3151"/>
              </a:lnSpc>
              <a:spcBef>
                <a:spcPct val="0"/>
              </a:spcBef>
            </a:pPr>
            <a:r>
              <a:rPr lang="en-US" sz="2251" b="1" noProof="0" dirty="0">
                <a:solidFill>
                  <a:srgbClr val="FFFFFF"/>
                </a:solidFill>
                <a:latin typeface="Poppins"/>
                <a:ea typeface="Poppins"/>
                <a:cs typeface="Poppins"/>
                <a:sym typeface="Poppins"/>
              </a:rPr>
              <a:t>Team challenges</a:t>
            </a:r>
          </a:p>
        </p:txBody>
      </p:sp>
      <p:sp>
        <p:nvSpPr>
          <p:cNvPr id="22" name="TextBox 15">
            <a:extLst>
              <a:ext uri="{FF2B5EF4-FFF2-40B4-BE49-F238E27FC236}">
                <a16:creationId xmlns:a16="http://schemas.microsoft.com/office/drawing/2014/main" id="{CBDD667E-3EC3-D038-1BE8-661D797D7E8C}"/>
              </a:ext>
            </a:extLst>
          </p:cNvPr>
          <p:cNvSpPr txBox="1"/>
          <p:nvPr/>
        </p:nvSpPr>
        <p:spPr>
          <a:xfrm>
            <a:off x="13518911" y="862487"/>
            <a:ext cx="1916881" cy="388633"/>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Afterword</a:t>
            </a:r>
          </a:p>
        </p:txBody>
      </p:sp>
      <p:sp>
        <p:nvSpPr>
          <p:cNvPr id="23" name="TextBox 16">
            <a:extLst>
              <a:ext uri="{FF2B5EF4-FFF2-40B4-BE49-F238E27FC236}">
                <a16:creationId xmlns:a16="http://schemas.microsoft.com/office/drawing/2014/main" id="{0647097D-9D82-CF62-FB3D-84B0DD941A36}"/>
              </a:ext>
            </a:extLst>
          </p:cNvPr>
          <p:cNvSpPr txBox="1"/>
          <p:nvPr/>
        </p:nvSpPr>
        <p:spPr>
          <a:xfrm>
            <a:off x="15034325" y="862487"/>
            <a:ext cx="2224975" cy="388633"/>
          </a:xfrm>
          <a:prstGeom prst="rect">
            <a:avLst/>
          </a:prstGeom>
        </p:spPr>
        <p:txBody>
          <a:bodyPr lIns="0" tIns="0" rIns="0" bIns="0" rtlCol="0" anchor="t">
            <a:spAutoFit/>
          </a:bodyPr>
          <a:lstStyle/>
          <a:p>
            <a:pPr lvl="0" algn="r">
              <a:lnSpc>
                <a:spcPts val="3151"/>
              </a:lnSpc>
              <a:spcBef>
                <a:spcPct val="0"/>
              </a:spcBef>
            </a:pPr>
            <a:r>
              <a:rPr lang="en-US" sz="2251" noProof="0" dirty="0">
                <a:solidFill>
                  <a:srgbClr val="FFFFFF"/>
                </a:solidFill>
                <a:latin typeface="Poppins"/>
                <a:ea typeface="Poppins"/>
                <a:cs typeface="Poppins"/>
                <a:sym typeface="Poppins"/>
              </a:rPr>
              <a:t>Thank you!</a:t>
            </a: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7" name="Freeform 3">
            <a:extLst>
              <a:ext uri="{FF2B5EF4-FFF2-40B4-BE49-F238E27FC236}">
                <a16:creationId xmlns:a16="http://schemas.microsoft.com/office/drawing/2014/main" id="{0329EFBB-6CD5-EC6E-9287-D96C40DD818B}"/>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grpSp>
        <p:nvGrpSpPr>
          <p:cNvPr id="2" name="Group 2">
            <a:extLst>
              <a:ext uri="{C183D7F6-B498-43B3-948B-1728B52AA6E4}">
                <adec:decorative xmlns:adec="http://schemas.microsoft.com/office/drawing/2017/decorative" val="1"/>
              </a:ext>
            </a:extLst>
          </p:cNvPr>
          <p:cNvGrpSpPr/>
          <p:nvPr/>
        </p:nvGrpSpPr>
        <p:grpSpPr>
          <a:xfrm>
            <a:off x="828446" y="1894724"/>
            <a:ext cx="4361210" cy="1994505"/>
            <a:chOff x="0" y="0"/>
            <a:chExt cx="1490161" cy="681493"/>
          </a:xfrm>
        </p:grpSpPr>
        <p:sp>
          <p:nvSpPr>
            <p:cNvPr id="3" name="Freeform 3"/>
            <p:cNvSpPr/>
            <p:nvPr/>
          </p:nvSpPr>
          <p:spPr>
            <a:xfrm>
              <a:off x="0" y="0"/>
              <a:ext cx="1490161" cy="681493"/>
            </a:xfrm>
            <a:custGeom>
              <a:avLst/>
              <a:gdLst/>
              <a:ahLst/>
              <a:cxnLst/>
              <a:rect l="l" t="t" r="r" b="b"/>
              <a:pathLst>
                <a:path w="1490161" h="681493">
                  <a:moveTo>
                    <a:pt x="99410" y="0"/>
                  </a:moveTo>
                  <a:lnTo>
                    <a:pt x="1390751" y="0"/>
                  </a:lnTo>
                  <a:cubicBezTo>
                    <a:pt x="1417116" y="0"/>
                    <a:pt x="1442401" y="10474"/>
                    <a:pt x="1461044" y="29116"/>
                  </a:cubicBezTo>
                  <a:cubicBezTo>
                    <a:pt x="1479687" y="47759"/>
                    <a:pt x="1490161" y="73045"/>
                    <a:pt x="1490161" y="99410"/>
                  </a:cubicBezTo>
                  <a:lnTo>
                    <a:pt x="1490161" y="582083"/>
                  </a:lnTo>
                  <a:cubicBezTo>
                    <a:pt x="1490161" y="608448"/>
                    <a:pt x="1479687" y="633733"/>
                    <a:pt x="1461044" y="652376"/>
                  </a:cubicBezTo>
                  <a:cubicBezTo>
                    <a:pt x="1442401" y="671019"/>
                    <a:pt x="1417116" y="681493"/>
                    <a:pt x="1390751" y="681493"/>
                  </a:cubicBezTo>
                  <a:lnTo>
                    <a:pt x="99410" y="681493"/>
                  </a:lnTo>
                  <a:cubicBezTo>
                    <a:pt x="73045" y="681493"/>
                    <a:pt x="47759" y="671019"/>
                    <a:pt x="29116" y="652376"/>
                  </a:cubicBezTo>
                  <a:cubicBezTo>
                    <a:pt x="10474" y="633733"/>
                    <a:pt x="0" y="608448"/>
                    <a:pt x="0" y="582083"/>
                  </a:cubicBezTo>
                  <a:lnTo>
                    <a:pt x="0" y="99410"/>
                  </a:lnTo>
                  <a:cubicBezTo>
                    <a:pt x="0" y="73045"/>
                    <a:pt x="10474" y="47759"/>
                    <a:pt x="29116" y="29116"/>
                  </a:cubicBezTo>
                  <a:cubicBezTo>
                    <a:pt x="47759" y="10474"/>
                    <a:pt x="73045" y="0"/>
                    <a:pt x="99410" y="0"/>
                  </a:cubicBezTo>
                  <a:close/>
                </a:path>
              </a:pathLst>
            </a:custGeom>
            <a:gradFill rotWithShape="1">
              <a:gsLst>
                <a:gs pos="0">
                  <a:srgbClr val="000000">
                    <a:alpha val="78000"/>
                  </a:srgbClr>
                </a:gs>
                <a:gs pos="100000">
                  <a:srgbClr val="DDDDDD">
                    <a:alpha val="14820"/>
                  </a:srgbClr>
                </a:gs>
              </a:gsLst>
              <a:lin ang="2700000"/>
            </a:gradFill>
          </p:spPr>
          <p:txBody>
            <a:bodyPr/>
            <a:lstStyle/>
            <a:p>
              <a:endParaRPr lang="en-US" noProof="0" dirty="0"/>
            </a:p>
          </p:txBody>
        </p:sp>
        <p:sp>
          <p:nvSpPr>
            <p:cNvPr id="4" name="TextBox 4"/>
            <p:cNvSpPr txBox="1"/>
            <p:nvPr/>
          </p:nvSpPr>
          <p:spPr>
            <a:xfrm>
              <a:off x="0" y="-66675"/>
              <a:ext cx="1490161" cy="748168"/>
            </a:xfrm>
            <a:prstGeom prst="rect">
              <a:avLst/>
            </a:prstGeom>
          </p:spPr>
          <p:txBody>
            <a:bodyPr lIns="50800" tIns="50800" rIns="50800" bIns="50800" rtlCol="0" anchor="ctr"/>
            <a:lstStyle/>
            <a:p>
              <a:pPr algn="ctr">
                <a:lnSpc>
                  <a:spcPts val="3151"/>
                </a:lnSpc>
              </a:pPr>
              <a:endParaRPr lang="en-US" noProof="0" dirty="0"/>
            </a:p>
          </p:txBody>
        </p:sp>
      </p:grpSp>
      <p:grpSp>
        <p:nvGrpSpPr>
          <p:cNvPr id="5" name="Group 5">
            <a:extLst>
              <a:ext uri="{C183D7F6-B498-43B3-948B-1728B52AA6E4}">
                <adec:decorative xmlns:adec="http://schemas.microsoft.com/office/drawing/2017/decorative" val="1"/>
              </a:ext>
            </a:extLst>
          </p:cNvPr>
          <p:cNvGrpSpPr/>
          <p:nvPr/>
        </p:nvGrpSpPr>
        <p:grpSpPr>
          <a:xfrm>
            <a:off x="803986" y="5143500"/>
            <a:ext cx="8597596" cy="4407758"/>
            <a:chOff x="0" y="0"/>
            <a:chExt cx="2264387" cy="1160891"/>
          </a:xfrm>
        </p:grpSpPr>
        <p:sp>
          <p:nvSpPr>
            <p:cNvPr id="6" name="Freeform 6"/>
            <p:cNvSpPr/>
            <p:nvPr/>
          </p:nvSpPr>
          <p:spPr>
            <a:xfrm>
              <a:off x="0" y="0"/>
              <a:ext cx="2264387" cy="1160891"/>
            </a:xfrm>
            <a:custGeom>
              <a:avLst/>
              <a:gdLst/>
              <a:ahLst/>
              <a:cxnLst/>
              <a:rect l="l" t="t" r="r" b="b"/>
              <a:pathLst>
                <a:path w="2264387" h="1160891">
                  <a:moveTo>
                    <a:pt x="50427" y="0"/>
                  </a:moveTo>
                  <a:lnTo>
                    <a:pt x="2213961" y="0"/>
                  </a:lnTo>
                  <a:cubicBezTo>
                    <a:pt x="2241811" y="0"/>
                    <a:pt x="2264387" y="22577"/>
                    <a:pt x="2264387" y="50427"/>
                  </a:cubicBezTo>
                  <a:lnTo>
                    <a:pt x="2264387" y="1110464"/>
                  </a:lnTo>
                  <a:cubicBezTo>
                    <a:pt x="2264387" y="1138314"/>
                    <a:pt x="2241811" y="1160891"/>
                    <a:pt x="2213961" y="1160891"/>
                  </a:cubicBezTo>
                  <a:lnTo>
                    <a:pt x="50427" y="1160891"/>
                  </a:lnTo>
                  <a:cubicBezTo>
                    <a:pt x="22577" y="1160891"/>
                    <a:pt x="0" y="1138314"/>
                    <a:pt x="0" y="1110464"/>
                  </a:cubicBezTo>
                  <a:lnTo>
                    <a:pt x="0" y="50427"/>
                  </a:lnTo>
                  <a:cubicBezTo>
                    <a:pt x="0" y="22577"/>
                    <a:pt x="22577" y="0"/>
                    <a:pt x="50427" y="0"/>
                  </a:cubicBezTo>
                  <a:close/>
                </a:path>
              </a:pathLst>
            </a:custGeom>
            <a:ln w="28575" cap="rnd">
              <a:solidFill>
                <a:srgbClr val="FFFFFF"/>
              </a:solidFill>
              <a:prstDash val="solid"/>
              <a:round/>
            </a:ln>
          </p:spPr>
          <p:txBody>
            <a:bodyPr/>
            <a:lstStyle/>
            <a:p>
              <a:endParaRPr lang="en-US" noProof="0" dirty="0"/>
            </a:p>
          </p:txBody>
        </p:sp>
        <p:sp>
          <p:nvSpPr>
            <p:cNvPr id="7" name="TextBox 7"/>
            <p:cNvSpPr txBox="1"/>
            <p:nvPr/>
          </p:nvSpPr>
          <p:spPr>
            <a:xfrm>
              <a:off x="0" y="-66675"/>
              <a:ext cx="2264387" cy="1227566"/>
            </a:xfrm>
            <a:prstGeom prst="rect">
              <a:avLst/>
            </a:prstGeom>
          </p:spPr>
          <p:txBody>
            <a:bodyPr lIns="50800" tIns="50800" rIns="50800" bIns="50800" rtlCol="0" anchor="ctr"/>
            <a:lstStyle/>
            <a:p>
              <a:pPr algn="ctr">
                <a:lnSpc>
                  <a:spcPts val="3151"/>
                </a:lnSpc>
              </a:pPr>
              <a:endParaRPr lang="en-US" noProof="0" dirty="0"/>
            </a:p>
          </p:txBody>
        </p:sp>
      </p:grpSp>
      <p:grpSp>
        <p:nvGrpSpPr>
          <p:cNvPr id="8" name="Group 8" descr="cybernest logo"/>
          <p:cNvGrpSpPr/>
          <p:nvPr/>
        </p:nvGrpSpPr>
        <p:grpSpPr>
          <a:xfrm>
            <a:off x="9715525" y="1894724"/>
            <a:ext cx="8100748" cy="7772909"/>
            <a:chOff x="0" y="0"/>
            <a:chExt cx="1213116" cy="1164021"/>
          </a:xfrm>
        </p:grpSpPr>
        <p:sp>
          <p:nvSpPr>
            <p:cNvPr id="9" name="Freeform 9"/>
            <p:cNvSpPr/>
            <p:nvPr/>
          </p:nvSpPr>
          <p:spPr>
            <a:xfrm>
              <a:off x="0" y="0"/>
              <a:ext cx="1213116" cy="1164021"/>
            </a:xfrm>
            <a:custGeom>
              <a:avLst/>
              <a:gdLst/>
              <a:ahLst/>
              <a:cxnLst/>
              <a:rect l="l" t="t" r="r" b="b"/>
              <a:pathLst>
                <a:path w="1213116" h="1164021">
                  <a:moveTo>
                    <a:pt x="0" y="0"/>
                  </a:moveTo>
                  <a:lnTo>
                    <a:pt x="1213116" y="0"/>
                  </a:lnTo>
                  <a:lnTo>
                    <a:pt x="1213116" y="1164021"/>
                  </a:lnTo>
                  <a:lnTo>
                    <a:pt x="0" y="1164021"/>
                  </a:lnTo>
                  <a:close/>
                </a:path>
              </a:pathLst>
            </a:custGeom>
            <a:blipFill>
              <a:blip r:embed="rId3"/>
              <a:stretch>
                <a:fillRect t="-24" b="-24"/>
              </a:stretch>
            </a:blipFill>
          </p:spPr>
          <p:txBody>
            <a:bodyPr/>
            <a:lstStyle/>
            <a:p>
              <a:endParaRPr lang="en-US" noProof="0" dirty="0"/>
            </a:p>
          </p:txBody>
        </p:sp>
      </p:grpSp>
      <p:sp>
        <p:nvSpPr>
          <p:cNvPr id="10" name="Freeform 10">
            <a:extLs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4"/>
            <a:stretch>
              <a:fillRect/>
            </a:stretch>
          </a:blipFill>
        </p:spPr>
        <p:txBody>
          <a:bodyPr/>
          <a:lstStyle/>
          <a:p>
            <a:endParaRPr lang="en-US" noProof="0" dirty="0"/>
          </a:p>
        </p:txBody>
      </p:sp>
      <p:sp>
        <p:nvSpPr>
          <p:cNvPr id="11" name="TextBox 11"/>
          <p:cNvSpPr txBox="1"/>
          <p:nvPr/>
        </p:nvSpPr>
        <p:spPr>
          <a:xfrm>
            <a:off x="1253962" y="5778929"/>
            <a:ext cx="7697643" cy="3119380"/>
          </a:xfrm>
          <a:prstGeom prst="rect">
            <a:avLst/>
          </a:prstGeom>
        </p:spPr>
        <p:txBody>
          <a:bodyPr lIns="0" tIns="0" rIns="0" bIns="0" rtlCol="0" anchor="t">
            <a:spAutoFit/>
          </a:bodyPr>
          <a:lstStyle/>
          <a:p>
            <a:pPr marL="539749" lvl="1" indent="-269875">
              <a:lnSpc>
                <a:spcPts val="3499"/>
              </a:lnSpc>
              <a:buFont typeface="Arial"/>
              <a:buChar char="•"/>
            </a:pPr>
            <a:r>
              <a:rPr lang="en-US" sz="2499" noProof="0" dirty="0">
                <a:solidFill>
                  <a:srgbClr val="FFFFFF"/>
                </a:solidFill>
                <a:latin typeface="Poppins"/>
                <a:ea typeface="Poppins"/>
                <a:cs typeface="Poppins"/>
                <a:sym typeface="Poppins"/>
              </a:rPr>
              <a:t>In summary, we worked together successfully throughout the project and completed every important step, from initial planning through to implementation. We solved any problems that arose together, resulting in a functional and user-friendly application.</a:t>
            </a:r>
          </a:p>
        </p:txBody>
      </p:sp>
      <p:sp>
        <p:nvSpPr>
          <p:cNvPr id="12" name="TextBox 12"/>
          <p:cNvSpPr txBox="1">
            <a:spLocks noGrp="1"/>
          </p:cNvSpPr>
          <p:nvPr>
            <p:ph type="title" idx="4294967295"/>
          </p:nvPr>
        </p:nvSpPr>
        <p:spPr>
          <a:xfrm>
            <a:off x="1005489" y="2511274"/>
            <a:ext cx="4042422" cy="82721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gn="l">
              <a:lnSpc>
                <a:spcPts val="6377"/>
              </a:lnSpc>
              <a:spcBef>
                <a:spcPts val="0"/>
              </a:spcBef>
              <a:defRPr/>
            </a:pPr>
            <a:r>
              <a:rPr lang="en-US" sz="6252" b="1" spc="-281" noProof="0" dirty="0">
                <a:solidFill>
                  <a:srgbClr val="FFFFFF"/>
                </a:solidFill>
                <a:latin typeface="Telegraf Bold"/>
                <a:ea typeface="Telegraf Bold"/>
                <a:cs typeface="Telegraf Bold"/>
                <a:sym typeface="Telegraf Bold"/>
              </a:rPr>
              <a:t>Afterword</a:t>
            </a:r>
            <a:endParaRPr kumimoji="0" lang="en-US" sz="6252" b="1" i="0" u="none" strike="noStrike" kern="1200" cap="none" spc="-281" normalizeH="0" baseline="0" noProof="0" dirty="0">
              <a:ln>
                <a:noFill/>
              </a:ln>
              <a:solidFill>
                <a:srgbClr val="FFFFFF"/>
              </a:solidFill>
              <a:effectLst/>
              <a:uLnTx/>
              <a:uFillTx/>
              <a:latin typeface="Telegraf Bold"/>
              <a:ea typeface="Telegraf Bold"/>
              <a:cs typeface="Telegraf Bold"/>
              <a:sym typeface="Telegraf Bold"/>
            </a:endParaRPr>
          </a:p>
        </p:txBody>
      </p:sp>
      <p:sp>
        <p:nvSpPr>
          <p:cNvPr id="18" name="Freeform 3">
            <a:extLst>
              <a:ext uri="{FF2B5EF4-FFF2-40B4-BE49-F238E27FC236}">
                <a16:creationId xmlns:a16="http://schemas.microsoft.com/office/drawing/2014/main" id="{9A7492C7-F9A1-D864-465C-E820E8B03D7B}"/>
              </a:ext>
              <a:ext uri="{C183D7F6-B498-43B3-948B-1728B52AA6E4}">
                <adec:decorative xmlns:adec="http://schemas.microsoft.com/office/drawing/2017/decorative" val="1"/>
              </a:ext>
            </a:extLst>
          </p:cNvPr>
          <p:cNvSpPr/>
          <p:nvPr/>
        </p:nvSpPr>
        <p:spPr>
          <a:xfrm>
            <a:off x="828446" y="777583"/>
            <a:ext cx="1111777" cy="1060162"/>
          </a:xfrm>
          <a:prstGeom prst="ellipse">
            <a:avLst/>
          </a:prstGeom>
          <a:solidFill>
            <a:srgbClr val="00A8CC">
              <a:alpha val="20000"/>
            </a:srgbClr>
          </a:solidFill>
          <a:effectLst>
            <a:softEdge rad="0"/>
          </a:effectLst>
        </p:spPr>
        <p:txBody>
          <a:bodyPr/>
          <a:lstStyle/>
          <a:p>
            <a:endParaRPr lang="en-US" noProof="0" dirty="0"/>
          </a:p>
        </p:txBody>
      </p:sp>
      <p:sp>
        <p:nvSpPr>
          <p:cNvPr id="19" name="TextBox 13">
            <a:extLst>
              <a:ext uri="{FF2B5EF4-FFF2-40B4-BE49-F238E27FC236}">
                <a16:creationId xmlns:a16="http://schemas.microsoft.com/office/drawing/2014/main" id="{E847CEF8-16EF-07AC-309E-C422FFFE97E9}"/>
              </a:ext>
            </a:extLst>
          </p:cNvPr>
          <p:cNvSpPr txBox="1"/>
          <p:nvPr/>
        </p:nvSpPr>
        <p:spPr>
          <a:xfrm>
            <a:off x="9089794" y="862486"/>
            <a:ext cx="2168153" cy="388633"/>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Teamwork</a:t>
            </a:r>
          </a:p>
        </p:txBody>
      </p:sp>
      <p:sp>
        <p:nvSpPr>
          <p:cNvPr id="20" name="TextBox 14">
            <a:extLst>
              <a:ext uri="{FF2B5EF4-FFF2-40B4-BE49-F238E27FC236}">
                <a16:creationId xmlns:a16="http://schemas.microsoft.com/office/drawing/2014/main" id="{A612DCAD-8EF6-E836-D191-FFB04981170B}"/>
              </a:ext>
            </a:extLst>
          </p:cNvPr>
          <p:cNvSpPr txBox="1"/>
          <p:nvPr/>
        </p:nvSpPr>
        <p:spPr>
          <a:xfrm>
            <a:off x="11527590" y="662462"/>
            <a:ext cx="1907082" cy="809591"/>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Team challenges</a:t>
            </a:r>
          </a:p>
        </p:txBody>
      </p:sp>
      <p:sp>
        <p:nvSpPr>
          <p:cNvPr id="21" name="TextBox 15">
            <a:extLst>
              <a:ext uri="{FF2B5EF4-FFF2-40B4-BE49-F238E27FC236}">
                <a16:creationId xmlns:a16="http://schemas.microsoft.com/office/drawing/2014/main" id="{E2015A80-A85C-704D-4EEC-0D99B377690A}"/>
              </a:ext>
            </a:extLst>
          </p:cNvPr>
          <p:cNvSpPr txBox="1"/>
          <p:nvPr/>
        </p:nvSpPr>
        <p:spPr>
          <a:xfrm>
            <a:off x="13518911" y="862487"/>
            <a:ext cx="1916881" cy="388633"/>
          </a:xfrm>
          <a:prstGeom prst="rect">
            <a:avLst/>
          </a:prstGeom>
        </p:spPr>
        <p:txBody>
          <a:bodyPr lIns="0" tIns="0" rIns="0" bIns="0" rtlCol="0" anchor="t">
            <a:spAutoFit/>
          </a:bodyPr>
          <a:lstStyle/>
          <a:p>
            <a:pPr lvl="0" algn="ctr">
              <a:lnSpc>
                <a:spcPts val="3151"/>
              </a:lnSpc>
              <a:spcBef>
                <a:spcPct val="0"/>
              </a:spcBef>
            </a:pPr>
            <a:r>
              <a:rPr lang="en-US" sz="2251" b="1" noProof="0" dirty="0">
                <a:solidFill>
                  <a:srgbClr val="FFFFFF"/>
                </a:solidFill>
                <a:latin typeface="Poppins"/>
                <a:ea typeface="Poppins"/>
                <a:cs typeface="Poppins"/>
                <a:sym typeface="Poppins"/>
              </a:rPr>
              <a:t>Afterword</a:t>
            </a:r>
          </a:p>
        </p:txBody>
      </p:sp>
      <p:sp>
        <p:nvSpPr>
          <p:cNvPr id="22" name="TextBox 16">
            <a:extLst>
              <a:ext uri="{FF2B5EF4-FFF2-40B4-BE49-F238E27FC236}">
                <a16:creationId xmlns:a16="http://schemas.microsoft.com/office/drawing/2014/main" id="{145E21F9-940A-E7AE-BB7D-B56636284213}"/>
              </a:ext>
            </a:extLst>
          </p:cNvPr>
          <p:cNvSpPr txBox="1"/>
          <p:nvPr/>
        </p:nvSpPr>
        <p:spPr>
          <a:xfrm>
            <a:off x="15034325" y="862487"/>
            <a:ext cx="2224975" cy="388633"/>
          </a:xfrm>
          <a:prstGeom prst="rect">
            <a:avLst/>
          </a:prstGeom>
        </p:spPr>
        <p:txBody>
          <a:bodyPr lIns="0" tIns="0" rIns="0" bIns="0" rtlCol="0" anchor="t">
            <a:spAutoFit/>
          </a:bodyPr>
          <a:lstStyle/>
          <a:p>
            <a:pPr lvl="0" algn="r">
              <a:lnSpc>
                <a:spcPts val="3151"/>
              </a:lnSpc>
              <a:spcBef>
                <a:spcPct val="0"/>
              </a:spcBef>
            </a:pPr>
            <a:r>
              <a:rPr lang="en-US" sz="2251" noProof="0" dirty="0">
                <a:solidFill>
                  <a:srgbClr val="FFFFFF"/>
                </a:solidFill>
                <a:latin typeface="Poppins"/>
                <a:ea typeface="Poppins"/>
                <a:cs typeface="Poppins"/>
                <a:sym typeface="Poppins"/>
              </a:rPr>
              <a:t>Thank you!</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6" name="Freeform 3">
            <a:extLst>
              <a:ext uri="{FF2B5EF4-FFF2-40B4-BE49-F238E27FC236}">
                <a16:creationId xmlns:a16="http://schemas.microsoft.com/office/drawing/2014/main" id="{878755B7-75B4-9656-6041-5F0D1ED29325}"/>
              </a:ext>
              <a:ext uri="{C183D7F6-B498-43B3-948B-1728B52AA6E4}">
                <adec:decorative xmlns:adec="http://schemas.microsoft.com/office/drawing/2017/decorative" val="1"/>
              </a:ext>
            </a:extLst>
          </p:cNvPr>
          <p:cNvSpPr/>
          <p:nvPr/>
        </p:nvSpPr>
        <p:spPr>
          <a:xfrm>
            <a:off x="609601" y="8690119"/>
            <a:ext cx="2684576"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sp>
        <p:nvSpPr>
          <p:cNvPr id="17" name="Freeform 3">
            <a:extLst>
              <a:ext uri="{FF2B5EF4-FFF2-40B4-BE49-F238E27FC236}">
                <a16:creationId xmlns:a16="http://schemas.microsoft.com/office/drawing/2014/main" id="{5D58555C-8FA2-5C5A-1A36-372C0AE23D14}"/>
              </a:ext>
              <a:ext uri="{C183D7F6-B498-43B3-948B-1728B52AA6E4}">
                <adec:decorative xmlns:adec="http://schemas.microsoft.com/office/drawing/2017/decorative" val="1"/>
              </a:ext>
            </a:extLst>
          </p:cNvPr>
          <p:cNvSpPr/>
          <p:nvPr/>
        </p:nvSpPr>
        <p:spPr>
          <a:xfrm>
            <a:off x="7648861" y="8688081"/>
            <a:ext cx="3019140"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sp>
        <p:nvSpPr>
          <p:cNvPr id="18" name="Freeform 3">
            <a:extLst>
              <a:ext uri="{FF2B5EF4-FFF2-40B4-BE49-F238E27FC236}">
                <a16:creationId xmlns:a16="http://schemas.microsoft.com/office/drawing/2014/main" id="{15D208A3-887D-F5B3-E8B0-DD8C1E721504}"/>
              </a:ext>
              <a:ext uri="{C183D7F6-B498-43B3-948B-1728B52AA6E4}">
                <adec:decorative xmlns:adec="http://schemas.microsoft.com/office/drawing/2017/decorative" val="1"/>
              </a:ext>
            </a:extLst>
          </p:cNvPr>
          <p:cNvSpPr/>
          <p:nvPr/>
        </p:nvSpPr>
        <p:spPr>
          <a:xfrm>
            <a:off x="13376060" y="8688081"/>
            <a:ext cx="4226140"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sp>
        <p:nvSpPr>
          <p:cNvPr id="14" name="Freeform 3">
            <a:extLst>
              <a:ext uri="{FF2B5EF4-FFF2-40B4-BE49-F238E27FC236}">
                <a16:creationId xmlns:a16="http://schemas.microsoft.com/office/drawing/2014/main" id="{E9A42CCD-9E09-B0E2-5FFB-567EDB90BEDF}"/>
              </a:ext>
              <a:ext uri="{C183D7F6-B498-43B3-948B-1728B52AA6E4}">
                <adec:decorative xmlns:adec="http://schemas.microsoft.com/office/drawing/2017/decorative" val="1"/>
              </a:ext>
            </a:extLst>
          </p:cNvPr>
          <p:cNvSpPr/>
          <p:nvPr/>
        </p:nvSpPr>
        <p:spPr>
          <a:xfrm>
            <a:off x="8763000" y="575559"/>
            <a:ext cx="9053273" cy="1060162"/>
          </a:xfrm>
          <a:prstGeom prst="roundRect">
            <a:avLst>
              <a:gd name="adj" fmla="val 50000"/>
            </a:avLst>
          </a:prstGeom>
          <a:solidFill>
            <a:srgbClr val="00A8CC">
              <a:alpha val="20000"/>
            </a:srgbClr>
          </a:solidFill>
          <a:effectLst>
            <a:softEdge rad="0"/>
          </a:effectLst>
        </p:spPr>
        <p:txBody>
          <a:bodyPr/>
          <a:lstStyle/>
          <a:p>
            <a:endParaRPr lang="en-US" noProof="0" dirty="0"/>
          </a:p>
        </p:txBody>
      </p:sp>
      <p:grpSp>
        <p:nvGrpSpPr>
          <p:cNvPr id="2" name="Group 2">
            <a:extLst>
              <a:ext uri="{C183D7F6-B498-43B3-948B-1728B52AA6E4}">
                <adec:decorative xmlns:adec="http://schemas.microsoft.com/office/drawing/2017/decorative" val="1"/>
              </a:ext>
            </a:extLst>
          </p:cNvPr>
          <p:cNvGrpSpPr/>
          <p:nvPr/>
        </p:nvGrpSpPr>
        <p:grpSpPr>
          <a:xfrm>
            <a:off x="296111" y="349538"/>
            <a:ext cx="17695777" cy="9587924"/>
            <a:chOff x="0" y="0"/>
            <a:chExt cx="4660616" cy="2525215"/>
          </a:xfrm>
        </p:grpSpPr>
        <p:sp>
          <p:nvSpPr>
            <p:cNvPr id="3" name="Freeform 3"/>
            <p:cNvSpPr/>
            <p:nvPr/>
          </p:nvSpPr>
          <p:spPr>
            <a:xfrm>
              <a:off x="0" y="0"/>
              <a:ext cx="4660616" cy="2525215"/>
            </a:xfrm>
            <a:custGeom>
              <a:avLst/>
              <a:gdLst/>
              <a:ahLst/>
              <a:cxnLst/>
              <a:rect l="l" t="t" r="r" b="b"/>
              <a:pathLst>
                <a:path w="4660616" h="2525215">
                  <a:moveTo>
                    <a:pt x="24500" y="0"/>
                  </a:moveTo>
                  <a:lnTo>
                    <a:pt x="4636116" y="0"/>
                  </a:lnTo>
                  <a:cubicBezTo>
                    <a:pt x="4649647" y="0"/>
                    <a:pt x="4660616" y="10969"/>
                    <a:pt x="4660616" y="24500"/>
                  </a:cubicBezTo>
                  <a:lnTo>
                    <a:pt x="4660616" y="2500715"/>
                  </a:lnTo>
                  <a:cubicBezTo>
                    <a:pt x="4660616" y="2507212"/>
                    <a:pt x="4658035" y="2513444"/>
                    <a:pt x="4653440" y="2518039"/>
                  </a:cubicBezTo>
                  <a:cubicBezTo>
                    <a:pt x="4648846" y="2522633"/>
                    <a:pt x="4642614" y="2525215"/>
                    <a:pt x="4636116" y="2525215"/>
                  </a:cubicBezTo>
                  <a:lnTo>
                    <a:pt x="24500" y="2525215"/>
                  </a:lnTo>
                  <a:cubicBezTo>
                    <a:pt x="10969" y="2525215"/>
                    <a:pt x="0" y="2514246"/>
                    <a:pt x="0" y="2500715"/>
                  </a:cubicBezTo>
                  <a:lnTo>
                    <a:pt x="0" y="24500"/>
                  </a:lnTo>
                  <a:cubicBezTo>
                    <a:pt x="0" y="10969"/>
                    <a:pt x="10969" y="0"/>
                    <a:pt x="24500" y="0"/>
                  </a:cubicBezTo>
                  <a:close/>
                </a:path>
              </a:pathLst>
            </a:custGeom>
            <a:solidFill>
              <a:srgbClr val="00A8CC">
                <a:alpha val="20000"/>
              </a:srgbClr>
            </a:solidFill>
          </p:spPr>
          <p:txBody>
            <a:bodyPr/>
            <a:lstStyle/>
            <a:p>
              <a:endParaRPr lang="en-US" noProof="0" dirty="0"/>
            </a:p>
          </p:txBody>
        </p:sp>
        <p:sp>
          <p:nvSpPr>
            <p:cNvPr id="4" name="TextBox 4"/>
            <p:cNvSpPr txBox="1"/>
            <p:nvPr/>
          </p:nvSpPr>
          <p:spPr>
            <a:xfrm>
              <a:off x="0" y="-38100"/>
              <a:ext cx="4660616" cy="2563315"/>
            </a:xfrm>
            <a:prstGeom prst="rect">
              <a:avLst/>
            </a:prstGeom>
          </p:spPr>
          <p:txBody>
            <a:bodyPr lIns="50800" tIns="50800" rIns="50800" bIns="50800" rtlCol="0" anchor="ctr"/>
            <a:lstStyle/>
            <a:p>
              <a:pPr algn="ctr">
                <a:lnSpc>
                  <a:spcPts val="2659"/>
                </a:lnSpc>
                <a:spcBef>
                  <a:spcPct val="0"/>
                </a:spcBef>
              </a:pPr>
              <a:endParaRPr lang="en-US" noProof="0" dirty="0"/>
            </a:p>
          </p:txBody>
        </p:sp>
      </p:grpSp>
      <p:sp>
        <p:nvSpPr>
          <p:cNvPr id="5" name="TextBox 5"/>
          <p:cNvSpPr txBox="1">
            <a:spLocks noGrp="1"/>
          </p:cNvSpPr>
          <p:nvPr>
            <p:ph type="title" idx="4294967295"/>
          </p:nvPr>
        </p:nvSpPr>
        <p:spPr>
          <a:xfrm>
            <a:off x="3043801" y="2465917"/>
            <a:ext cx="12179177" cy="4945591"/>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nSpc>
                <a:spcPts val="19302"/>
              </a:lnSpc>
              <a:defRPr/>
            </a:pPr>
            <a:r>
              <a:rPr lang="en-US" sz="13787" b="1" spc="-620" noProof="0" dirty="0">
                <a:solidFill>
                  <a:srgbClr val="FFFFFF"/>
                </a:solidFill>
                <a:latin typeface="Telegraf Bold"/>
                <a:ea typeface="Telegraf Bold"/>
                <a:cs typeface="Telegraf Bold"/>
                <a:sym typeface="Telegraf Bold"/>
              </a:rPr>
              <a:t>Thank you for your attention!</a:t>
            </a:r>
            <a:endParaRPr kumimoji="0" lang="en-US" sz="13787" b="1" i="0" u="none" strike="noStrike" kern="1200" cap="none" spc="-620" normalizeH="0" baseline="0" noProof="0" dirty="0">
              <a:ln>
                <a:noFill/>
              </a:ln>
              <a:solidFill>
                <a:srgbClr val="FFFFFF"/>
              </a:solidFill>
              <a:effectLst/>
              <a:uLnTx/>
              <a:uFillTx/>
              <a:latin typeface="Telegraf Bold"/>
              <a:ea typeface="Telegraf Bold"/>
              <a:cs typeface="Telegraf Bold"/>
              <a:sym typeface="Telegraf Bold"/>
            </a:endParaRPr>
          </a:p>
        </p:txBody>
      </p:sp>
      <p:sp>
        <p:nvSpPr>
          <p:cNvPr id="6" name="TextBox 6"/>
          <p:cNvSpPr txBox="1"/>
          <p:nvPr/>
        </p:nvSpPr>
        <p:spPr>
          <a:xfrm>
            <a:off x="1005489" y="8994425"/>
            <a:ext cx="4747340" cy="451551"/>
          </a:xfrm>
          <a:prstGeom prst="rect">
            <a:avLst/>
          </a:prstGeom>
        </p:spPr>
        <p:txBody>
          <a:bodyPr lIns="0" tIns="0" rIns="0" bIns="0" rtlCol="0" anchor="t">
            <a:spAutoFit/>
          </a:bodyPr>
          <a:lstStyle/>
          <a:p>
            <a:pPr algn="l">
              <a:lnSpc>
                <a:spcPts val="3461"/>
              </a:lnSpc>
            </a:pPr>
            <a:r>
              <a:rPr lang="en-US" sz="2472" noProof="0" dirty="0">
                <a:solidFill>
                  <a:srgbClr val="FFFFFF"/>
                </a:solidFill>
                <a:latin typeface="Poppins"/>
                <a:ea typeface="Poppins"/>
                <a:cs typeface="Poppins"/>
                <a:sym typeface="Poppins"/>
              </a:rPr>
              <a:t>Király Gellért</a:t>
            </a:r>
          </a:p>
        </p:txBody>
      </p:sp>
      <p:sp>
        <p:nvSpPr>
          <p:cNvPr id="7" name="TextBox 7"/>
          <p:cNvSpPr txBox="1"/>
          <p:nvPr/>
        </p:nvSpPr>
        <p:spPr>
          <a:xfrm>
            <a:off x="12511960" y="9002119"/>
            <a:ext cx="4747340" cy="451551"/>
          </a:xfrm>
          <a:prstGeom prst="rect">
            <a:avLst/>
          </a:prstGeom>
        </p:spPr>
        <p:txBody>
          <a:bodyPr lIns="0" tIns="0" rIns="0" bIns="0" rtlCol="0" anchor="t">
            <a:spAutoFit/>
          </a:bodyPr>
          <a:lstStyle/>
          <a:p>
            <a:pPr algn="r">
              <a:lnSpc>
                <a:spcPts val="3461"/>
              </a:lnSpc>
            </a:pPr>
            <a:r>
              <a:rPr lang="en-US" sz="2472" noProof="0" dirty="0">
                <a:solidFill>
                  <a:srgbClr val="FFFFFF"/>
                </a:solidFill>
                <a:latin typeface="Poppins"/>
                <a:ea typeface="Poppins"/>
                <a:cs typeface="Poppins"/>
                <a:sym typeface="Poppins"/>
              </a:rPr>
              <a:t>Kiss Richárd Bendegúz</a:t>
            </a:r>
          </a:p>
        </p:txBody>
      </p:sp>
      <p:sp>
        <p:nvSpPr>
          <p:cNvPr id="8" name="TextBox 8"/>
          <p:cNvSpPr txBox="1"/>
          <p:nvPr/>
        </p:nvSpPr>
        <p:spPr>
          <a:xfrm>
            <a:off x="7801712" y="9002119"/>
            <a:ext cx="2684575" cy="451551"/>
          </a:xfrm>
          <a:prstGeom prst="rect">
            <a:avLst/>
          </a:prstGeom>
        </p:spPr>
        <p:txBody>
          <a:bodyPr lIns="0" tIns="0" rIns="0" bIns="0" rtlCol="0" anchor="t">
            <a:spAutoFit/>
          </a:bodyPr>
          <a:lstStyle/>
          <a:p>
            <a:pPr algn="ctr">
              <a:lnSpc>
                <a:spcPts val="3461"/>
              </a:lnSpc>
            </a:pPr>
            <a:r>
              <a:rPr lang="en-US" sz="2472" noProof="0" dirty="0">
                <a:solidFill>
                  <a:srgbClr val="FFFFFF"/>
                </a:solidFill>
                <a:latin typeface="Poppins"/>
                <a:ea typeface="Poppins"/>
                <a:cs typeface="Poppins"/>
                <a:sym typeface="Poppins"/>
              </a:rPr>
              <a:t>Macza Ádám</a:t>
            </a:r>
          </a:p>
        </p:txBody>
      </p:sp>
      <p:sp>
        <p:nvSpPr>
          <p:cNvPr id="9" name="Freeform 9">
            <a:extLs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2"/>
            <a:stretch>
              <a:fillRect/>
            </a:stretch>
          </a:blipFill>
        </p:spPr>
        <p:txBody>
          <a:bodyPr/>
          <a:lstStyle/>
          <a:p>
            <a:endParaRPr lang="en-US" noProof="0" dirty="0"/>
          </a:p>
        </p:txBody>
      </p:sp>
      <p:sp>
        <p:nvSpPr>
          <p:cNvPr id="15" name="Freeform 3">
            <a:extLst>
              <a:ext uri="{FF2B5EF4-FFF2-40B4-BE49-F238E27FC236}">
                <a16:creationId xmlns:a16="http://schemas.microsoft.com/office/drawing/2014/main" id="{4000F968-14C9-112D-210F-CCA49C1C7390}"/>
              </a:ext>
              <a:ext uri="{C183D7F6-B498-43B3-948B-1728B52AA6E4}">
                <adec:decorative xmlns:adec="http://schemas.microsoft.com/office/drawing/2017/decorative" val="1"/>
              </a:ext>
            </a:extLst>
          </p:cNvPr>
          <p:cNvSpPr/>
          <p:nvPr/>
        </p:nvSpPr>
        <p:spPr>
          <a:xfrm>
            <a:off x="828446" y="777583"/>
            <a:ext cx="1111777" cy="1060162"/>
          </a:xfrm>
          <a:prstGeom prst="ellipse">
            <a:avLst/>
          </a:prstGeom>
          <a:solidFill>
            <a:srgbClr val="00A8CC">
              <a:alpha val="20000"/>
            </a:srgbClr>
          </a:solidFill>
          <a:effectLst>
            <a:softEdge rad="0"/>
          </a:effectLst>
        </p:spPr>
        <p:txBody>
          <a:bodyPr/>
          <a:lstStyle/>
          <a:p>
            <a:endParaRPr lang="en-US" noProof="0" dirty="0"/>
          </a:p>
        </p:txBody>
      </p:sp>
      <p:sp>
        <p:nvSpPr>
          <p:cNvPr id="19" name="TextBox 13">
            <a:extLst>
              <a:ext uri="{FF2B5EF4-FFF2-40B4-BE49-F238E27FC236}">
                <a16:creationId xmlns:a16="http://schemas.microsoft.com/office/drawing/2014/main" id="{29C7DAF2-859A-32A1-73CB-9E41ECE04D2B}"/>
              </a:ext>
            </a:extLst>
          </p:cNvPr>
          <p:cNvSpPr txBox="1"/>
          <p:nvPr/>
        </p:nvSpPr>
        <p:spPr>
          <a:xfrm>
            <a:off x="9089794" y="862486"/>
            <a:ext cx="2168153" cy="388633"/>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Teamwork</a:t>
            </a:r>
          </a:p>
        </p:txBody>
      </p:sp>
      <p:sp>
        <p:nvSpPr>
          <p:cNvPr id="20" name="TextBox 14">
            <a:extLst>
              <a:ext uri="{FF2B5EF4-FFF2-40B4-BE49-F238E27FC236}">
                <a16:creationId xmlns:a16="http://schemas.microsoft.com/office/drawing/2014/main" id="{0E1760C3-F0AA-8984-29CF-FAB0538CBC53}"/>
              </a:ext>
            </a:extLst>
          </p:cNvPr>
          <p:cNvSpPr txBox="1"/>
          <p:nvPr/>
        </p:nvSpPr>
        <p:spPr>
          <a:xfrm>
            <a:off x="11527590" y="662462"/>
            <a:ext cx="1907082" cy="809591"/>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Team challenges</a:t>
            </a:r>
          </a:p>
        </p:txBody>
      </p:sp>
      <p:sp>
        <p:nvSpPr>
          <p:cNvPr id="21" name="TextBox 15">
            <a:extLst>
              <a:ext uri="{FF2B5EF4-FFF2-40B4-BE49-F238E27FC236}">
                <a16:creationId xmlns:a16="http://schemas.microsoft.com/office/drawing/2014/main" id="{905DAAB4-1A6F-F538-BD12-DACA88F76EF6}"/>
              </a:ext>
            </a:extLst>
          </p:cNvPr>
          <p:cNvSpPr txBox="1"/>
          <p:nvPr/>
        </p:nvSpPr>
        <p:spPr>
          <a:xfrm>
            <a:off x="13518911" y="862487"/>
            <a:ext cx="1916881" cy="388633"/>
          </a:xfrm>
          <a:prstGeom prst="rect">
            <a:avLst/>
          </a:prstGeom>
        </p:spPr>
        <p:txBody>
          <a:bodyPr lIns="0" tIns="0" rIns="0" bIns="0" rtlCol="0" anchor="t">
            <a:spAutoFit/>
          </a:bodyPr>
          <a:lstStyle/>
          <a:p>
            <a:pPr lvl="0" algn="ctr">
              <a:lnSpc>
                <a:spcPts val="3151"/>
              </a:lnSpc>
              <a:spcBef>
                <a:spcPct val="0"/>
              </a:spcBef>
            </a:pPr>
            <a:r>
              <a:rPr lang="en-US" sz="2251" noProof="0" dirty="0">
                <a:solidFill>
                  <a:srgbClr val="FFFFFF"/>
                </a:solidFill>
                <a:latin typeface="Poppins"/>
                <a:ea typeface="Poppins"/>
                <a:cs typeface="Poppins"/>
                <a:sym typeface="Poppins"/>
              </a:rPr>
              <a:t>Afterword</a:t>
            </a:r>
          </a:p>
        </p:txBody>
      </p:sp>
      <p:sp>
        <p:nvSpPr>
          <p:cNvPr id="22" name="TextBox 16">
            <a:extLst>
              <a:ext uri="{FF2B5EF4-FFF2-40B4-BE49-F238E27FC236}">
                <a16:creationId xmlns:a16="http://schemas.microsoft.com/office/drawing/2014/main" id="{9E90B0DA-61CA-1249-9387-CBDDA8F771FB}"/>
              </a:ext>
            </a:extLst>
          </p:cNvPr>
          <p:cNvSpPr txBox="1"/>
          <p:nvPr/>
        </p:nvSpPr>
        <p:spPr>
          <a:xfrm>
            <a:off x="15034325" y="862487"/>
            <a:ext cx="2224975" cy="388633"/>
          </a:xfrm>
          <a:prstGeom prst="rect">
            <a:avLst/>
          </a:prstGeom>
        </p:spPr>
        <p:txBody>
          <a:bodyPr lIns="0" tIns="0" rIns="0" bIns="0" rtlCol="0" anchor="t">
            <a:spAutoFit/>
          </a:bodyPr>
          <a:lstStyle/>
          <a:p>
            <a:pPr lvl="0" algn="r">
              <a:lnSpc>
                <a:spcPts val="3151"/>
              </a:lnSpc>
              <a:spcBef>
                <a:spcPct val="0"/>
              </a:spcBef>
            </a:pPr>
            <a:r>
              <a:rPr lang="en-US" sz="2251" b="1" noProof="0" dirty="0">
                <a:solidFill>
                  <a:srgbClr val="FFFFFF"/>
                </a:solidFill>
                <a:latin typeface="Poppins"/>
                <a:ea typeface="Poppins"/>
                <a:cs typeface="Poppins"/>
                <a:sym typeface="Poppins"/>
              </a:rPr>
              <a:t>Thank you!</a:t>
            </a:r>
          </a:p>
        </p:txBody>
      </p:sp>
    </p:spTree>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914823" y="4673024"/>
            <a:ext cx="4532858" cy="198581"/>
          </a:xfrm>
          <a:prstGeom prst="rect">
            <a:avLst/>
          </a:prstGeom>
        </p:spPr>
        <p:txBody>
          <a:bodyPr wrap="square" lIns="0" tIns="0" rIns="0" bIns="0" rtlCol="0" anchor="t">
            <a:spAutoFit/>
          </a:bodyPr>
          <a:lstStyle/>
          <a:p>
            <a:pPr>
              <a:lnSpc>
                <a:spcPts val="1679"/>
              </a:lnSpc>
            </a:pPr>
            <a:r>
              <a:rPr lang="en-US" sz="1200" u="sng" noProof="0" dirty="0">
                <a:solidFill>
                  <a:srgbClr val="FFFFFF"/>
                </a:solidFill>
                <a:latin typeface="Arimo"/>
                <a:ea typeface="Arimo"/>
                <a:cs typeface="Arimo"/>
                <a:sym typeface="Arimo"/>
                <a:hlinkClick r:id="rId2" tooltip="https://app.eraser.io"/>
              </a:rPr>
              <a:t>https://www.freepik.com/icon/security-lock_8631492</a:t>
            </a:r>
          </a:p>
        </p:txBody>
      </p:sp>
      <p:sp>
        <p:nvSpPr>
          <p:cNvPr id="3" name="TextBox 3"/>
          <p:cNvSpPr txBox="1">
            <a:spLocks noGrp="1"/>
          </p:cNvSpPr>
          <p:nvPr>
            <p:ph type="title" idx="4294967295"/>
          </p:nvPr>
        </p:nvSpPr>
        <p:spPr>
          <a:xfrm>
            <a:off x="1914823" y="2066715"/>
            <a:ext cx="7128718" cy="936612"/>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nSpc>
                <a:spcPts val="7700"/>
              </a:lnSpc>
              <a:defRPr/>
            </a:pPr>
            <a:r>
              <a:rPr lang="en-US" sz="5500" b="1" dirty="0">
                <a:solidFill>
                  <a:srgbClr val="FFFFFF"/>
                </a:solidFill>
                <a:latin typeface="Open Sans Bold"/>
                <a:ea typeface="Open Sans Bold"/>
                <a:cs typeface="Open Sans Bold"/>
                <a:sym typeface="Open Sans Bold"/>
              </a:rPr>
              <a:t>References</a:t>
            </a:r>
            <a:endParaRPr kumimoji="0" lang="en-US" sz="5500" b="1" i="0" u="none" strike="noStrike" kern="1200" cap="none" spc="0" normalizeH="0" baseline="0" noProof="0" dirty="0">
              <a:ln>
                <a:noFill/>
              </a:ln>
              <a:solidFill>
                <a:srgbClr val="FFFFFF"/>
              </a:solidFill>
              <a:effectLst/>
              <a:uLnTx/>
              <a:uFillTx/>
              <a:latin typeface="Open Sans Bold"/>
              <a:ea typeface="Open Sans Bold"/>
              <a:cs typeface="Open Sans Bold"/>
              <a:sym typeface="Open Sans Bold"/>
            </a:endParaRPr>
          </a:p>
        </p:txBody>
      </p:sp>
      <p:sp>
        <p:nvSpPr>
          <p:cNvPr id="4" name="TextBox 4"/>
          <p:cNvSpPr txBox="1"/>
          <p:nvPr/>
        </p:nvSpPr>
        <p:spPr>
          <a:xfrm>
            <a:off x="1914823" y="3526213"/>
            <a:ext cx="5743883" cy="203261"/>
          </a:xfrm>
          <a:prstGeom prst="rect">
            <a:avLst/>
          </a:prstGeom>
        </p:spPr>
        <p:txBody>
          <a:bodyPr wrap="square" lIns="0" tIns="0" rIns="0" bIns="0" rtlCol="0" anchor="t">
            <a:spAutoFit/>
          </a:bodyPr>
          <a:lstStyle/>
          <a:p>
            <a:pPr>
              <a:lnSpc>
                <a:spcPts val="1679"/>
              </a:lnSpc>
            </a:pPr>
            <a:r>
              <a:rPr lang="en-US" sz="1200" noProof="0" dirty="0">
                <a:solidFill>
                  <a:srgbClr val="FFFFFF"/>
                </a:solidFill>
                <a:latin typeface="Open Sans"/>
                <a:ea typeface="Open Sans"/>
                <a:cs typeface="Open Sans"/>
                <a:sym typeface="Open Sans"/>
              </a:rPr>
              <a:t>https://stock.adobe.com/search?k=%22server+room%22</a:t>
            </a:r>
          </a:p>
        </p:txBody>
      </p:sp>
      <p:sp>
        <p:nvSpPr>
          <p:cNvPr id="5" name="TextBox 5"/>
          <p:cNvSpPr txBox="1"/>
          <p:nvPr/>
        </p:nvSpPr>
        <p:spPr>
          <a:xfrm>
            <a:off x="1914823" y="3914834"/>
            <a:ext cx="3915083" cy="203261"/>
          </a:xfrm>
          <a:prstGeom prst="rect">
            <a:avLst/>
          </a:prstGeom>
        </p:spPr>
        <p:txBody>
          <a:bodyPr wrap="square" lIns="0" tIns="0" rIns="0" bIns="0" rtlCol="0" anchor="t">
            <a:spAutoFit/>
          </a:bodyPr>
          <a:lstStyle/>
          <a:p>
            <a:pPr>
              <a:lnSpc>
                <a:spcPts val="1679"/>
              </a:lnSpc>
            </a:pPr>
            <a:r>
              <a:rPr lang="en-US" sz="1200" noProof="0" dirty="0">
                <a:solidFill>
                  <a:srgbClr val="FFFFFF"/>
                </a:solidFill>
                <a:latin typeface="Open Sans"/>
                <a:ea typeface="Open Sans"/>
                <a:cs typeface="Open Sans"/>
                <a:sym typeface="Open Sans"/>
              </a:rPr>
              <a:t>https://app.eraser.io/</a:t>
            </a:r>
          </a:p>
        </p:txBody>
      </p:sp>
      <p:sp>
        <p:nvSpPr>
          <p:cNvPr id="6" name="TextBox 6"/>
          <p:cNvSpPr txBox="1"/>
          <p:nvPr/>
        </p:nvSpPr>
        <p:spPr>
          <a:xfrm>
            <a:off x="1914823" y="4303454"/>
            <a:ext cx="7580858" cy="203261"/>
          </a:xfrm>
          <a:prstGeom prst="rect">
            <a:avLst/>
          </a:prstGeom>
        </p:spPr>
        <p:txBody>
          <a:bodyPr wrap="square" lIns="0" tIns="0" rIns="0" bIns="0" rtlCol="0" anchor="t">
            <a:spAutoFit/>
          </a:bodyPr>
          <a:lstStyle/>
          <a:p>
            <a:pPr>
              <a:lnSpc>
                <a:spcPts val="1679"/>
              </a:lnSpc>
            </a:pPr>
            <a:r>
              <a:rPr lang="en-US" sz="1200" noProof="0" dirty="0">
                <a:solidFill>
                  <a:srgbClr val="FFFFFF"/>
                </a:solidFill>
                <a:latin typeface="Open Sans"/>
                <a:ea typeface="Open Sans"/>
                <a:cs typeface="Open Sans"/>
                <a:sym typeface="Open Sans"/>
              </a:rPr>
              <a:t>https://www.zionandzion.com/how-to-fix-your-code-when-you-cant-figure-out-the-problem/</a:t>
            </a:r>
          </a:p>
        </p:txBody>
      </p:sp>
      <p:sp>
        <p:nvSpPr>
          <p:cNvPr id="7" name="TextBox 7"/>
          <p:cNvSpPr txBox="1"/>
          <p:nvPr/>
        </p:nvSpPr>
        <p:spPr>
          <a:xfrm>
            <a:off x="1914823" y="5080694"/>
            <a:ext cx="6666458" cy="203261"/>
          </a:xfrm>
          <a:prstGeom prst="rect">
            <a:avLst/>
          </a:prstGeom>
        </p:spPr>
        <p:txBody>
          <a:bodyPr wrap="square" lIns="0" tIns="0" rIns="0" bIns="0" rtlCol="0" anchor="t">
            <a:spAutoFit/>
          </a:bodyPr>
          <a:lstStyle/>
          <a:p>
            <a:pPr>
              <a:lnSpc>
                <a:spcPts val="1679"/>
              </a:lnSpc>
            </a:pPr>
            <a:r>
              <a:rPr lang="en-US" sz="1200" noProof="0" dirty="0">
                <a:solidFill>
                  <a:srgbClr val="FFFFFF"/>
                </a:solidFill>
                <a:latin typeface="Open Sans"/>
                <a:ea typeface="Open Sans"/>
                <a:cs typeface="Open Sans"/>
                <a:sym typeface="Open Sans"/>
              </a:rPr>
              <a:t>https://stockcake.com/i/coding-team-collaborates_1510541_1170562</a:t>
            </a:r>
          </a:p>
        </p:txBody>
      </p:sp>
      <p:sp>
        <p:nvSpPr>
          <p:cNvPr id="8" name="TextBox 8"/>
          <p:cNvSpPr txBox="1"/>
          <p:nvPr/>
        </p:nvSpPr>
        <p:spPr>
          <a:xfrm>
            <a:off x="1914823" y="5469314"/>
            <a:ext cx="6971258" cy="639278"/>
          </a:xfrm>
          <a:prstGeom prst="rect">
            <a:avLst/>
          </a:prstGeom>
        </p:spPr>
        <p:txBody>
          <a:bodyPr wrap="square" lIns="0" tIns="0" rIns="0" bIns="0" rtlCol="0" anchor="t">
            <a:spAutoFit/>
          </a:bodyPr>
          <a:lstStyle/>
          <a:p>
            <a:pPr>
              <a:lnSpc>
                <a:spcPts val="1679"/>
              </a:lnSpc>
            </a:pPr>
            <a:r>
              <a:rPr lang="en-US" sz="1200" noProof="0" dirty="0">
                <a:solidFill>
                  <a:srgbClr val="FFFFFF"/>
                </a:solidFill>
                <a:latin typeface="Open Sans"/>
                <a:ea typeface="Open Sans"/>
                <a:cs typeface="Open Sans"/>
                <a:sym typeface="Open Sans"/>
              </a:rPr>
              <a:t>Canva template Black Modern Gradient Programmer Presentation</a:t>
            </a:r>
          </a:p>
          <a:p>
            <a:pPr>
              <a:lnSpc>
                <a:spcPts val="1679"/>
              </a:lnSpc>
            </a:pPr>
            <a:r>
              <a:rPr lang="en-US" sz="1200" u="sng" noProof="0" dirty="0">
                <a:solidFill>
                  <a:srgbClr val="FFFFFF"/>
                </a:solidFill>
                <a:latin typeface="Open Sans"/>
                <a:ea typeface="Open Sans"/>
                <a:cs typeface="Open Sans"/>
                <a:sym typeface="Open Sans"/>
                <a:hlinkClick r:id="rId3" tooltip="https://www.canva.com/design/DAHGoU6KMYs/AeFeHgGo-zDH38JVkk5g1A/edit?referrer=https%3A%2F%2Fwww.canva.com%2F"/>
              </a:rPr>
              <a:t>More from: Ae </a:t>
            </a:r>
            <a:r>
              <a:rPr lang="en-US" sz="1200" u="sng" noProof="0" dirty="0" err="1">
                <a:solidFill>
                  <a:srgbClr val="FFFFFF"/>
                </a:solidFill>
                <a:latin typeface="Open Sans"/>
                <a:ea typeface="Open Sans"/>
                <a:cs typeface="Open Sans"/>
                <a:sym typeface="Open Sans"/>
                <a:hlinkClick r:id="rId3" tooltip="https://www.canva.com/design/DAHGoU6KMYs/AeFeHgGo-zDH38JVkk5g1A/edit?referrer=https%3A%2F%2Fwww.canva.com%2F"/>
              </a:rPr>
              <a:t>Senturo</a:t>
            </a:r>
            <a:r>
              <a:rPr lang="en-US" sz="1200" u="sng" noProof="0" dirty="0">
                <a:solidFill>
                  <a:srgbClr val="FFFFFF"/>
                </a:solidFill>
                <a:latin typeface="Open Sans"/>
                <a:ea typeface="Open Sans"/>
                <a:cs typeface="Open Sans"/>
                <a:sym typeface="Open Sans"/>
                <a:hlinkClick r:id="rId3" tooltip="https://www.canva.com/design/DAHGoU6KMYs/AeFeHgGo-zDH38JVkk5g1A/edit?referrer=https%3A%2F%2Fwww.canva.com%2F"/>
              </a:rPr>
              <a:t> by Amir</a:t>
            </a:r>
          </a:p>
          <a:p>
            <a:pPr>
              <a:lnSpc>
                <a:spcPts val="1679"/>
              </a:lnSpc>
            </a:pPr>
            <a:endParaRPr lang="en-US" sz="1200" u="sng" noProof="0" dirty="0">
              <a:solidFill>
                <a:srgbClr val="FFFFFF"/>
              </a:solidFill>
              <a:latin typeface="Open Sans"/>
              <a:ea typeface="Open Sans"/>
              <a:cs typeface="Open Sans"/>
              <a:sym typeface="Open Sans"/>
              <a:hlinkClick r:id="rId3" tooltip="https://www.canva.com/design/DAHGoU6KMYs/AeFeHgGo-zDH38JVkk5g1A/edit?referrer=https%3A%2F%2Fwww.canva.com%2F"/>
            </a:endParaRPr>
          </a:p>
        </p:txBody>
      </p:sp>
      <p:sp>
        <p:nvSpPr>
          <p:cNvPr id="10" name="Freeform 3">
            <a:extLst>
              <a:ext uri="{FF2B5EF4-FFF2-40B4-BE49-F238E27FC236}">
                <a16:creationId xmlns:a16="http://schemas.microsoft.com/office/drawing/2014/main" id="{8B3E8355-FC39-F3DC-4F20-12D6E7377AD2}"/>
              </a:ext>
              <a:ext uri="{C183D7F6-B498-43B3-948B-1728B52AA6E4}">
                <adec:decorative xmlns:adec="http://schemas.microsoft.com/office/drawing/2017/decorative" val="1"/>
              </a:ext>
            </a:extLst>
          </p:cNvPr>
          <p:cNvSpPr/>
          <p:nvPr/>
        </p:nvSpPr>
        <p:spPr>
          <a:xfrm>
            <a:off x="828446" y="777583"/>
            <a:ext cx="1111777" cy="1060162"/>
          </a:xfrm>
          <a:prstGeom prst="ellipse">
            <a:avLst/>
          </a:prstGeom>
          <a:solidFill>
            <a:srgbClr val="00A8CC">
              <a:alpha val="20000"/>
            </a:srgbClr>
          </a:solidFill>
          <a:effectLst>
            <a:softEdge rad="0"/>
          </a:effectLst>
        </p:spPr>
        <p:txBody>
          <a:bodyPr/>
          <a:lstStyle/>
          <a:p>
            <a:endParaRPr lang="en-US" noProof="0" dirty="0"/>
          </a:p>
        </p:txBody>
      </p:sp>
      <p:sp>
        <p:nvSpPr>
          <p:cNvPr id="11" name="Freeform 10">
            <a:extLst>
              <a:ext uri="{FF2B5EF4-FFF2-40B4-BE49-F238E27FC236}">
                <a16:creationId xmlns:a16="http://schemas.microsoft.com/office/drawing/2014/main" id="{FA63A26A-2FB5-8250-F238-61314154F8E8}"/>
              </a:ext>
              <a:ext uri="{C183D7F6-B498-43B3-948B-1728B52AA6E4}">
                <adec:decorative xmlns:adec="http://schemas.microsoft.com/office/drawing/2017/decorative" val="1"/>
              </a:ext>
            </a:extLst>
          </p:cNvPr>
          <p:cNvSpPr/>
          <p:nvPr/>
        </p:nvSpPr>
        <p:spPr>
          <a:xfrm>
            <a:off x="1005489" y="908335"/>
            <a:ext cx="757693" cy="727386"/>
          </a:xfrm>
          <a:custGeom>
            <a:avLst/>
            <a:gdLst/>
            <a:ahLst/>
            <a:cxnLst/>
            <a:rect l="l" t="t" r="r" b="b"/>
            <a:pathLst>
              <a:path w="757693" h="727386">
                <a:moveTo>
                  <a:pt x="0" y="0"/>
                </a:moveTo>
                <a:lnTo>
                  <a:pt x="757694" y="0"/>
                </a:lnTo>
                <a:lnTo>
                  <a:pt x="757694" y="727386"/>
                </a:lnTo>
                <a:lnTo>
                  <a:pt x="0" y="727386"/>
                </a:lnTo>
                <a:lnTo>
                  <a:pt x="0" y="0"/>
                </a:lnTo>
                <a:close/>
              </a:path>
            </a:pathLst>
          </a:custGeom>
          <a:blipFill>
            <a:blip r:embed="rId4"/>
            <a:stretch>
              <a:fillRect/>
            </a:stretch>
          </a:blipFill>
        </p:spPr>
        <p:txBody>
          <a:bodyPr/>
          <a:lstStyle/>
          <a:p>
            <a:endParaRPr lang="en-US"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TotalTime>
  <Words>1989</Words>
  <Application>Microsoft Office PowerPoint</Application>
  <PresentationFormat>Egyéni</PresentationFormat>
  <Paragraphs>270</Paragraphs>
  <Slides>24</Slides>
  <Notes>20</Notes>
  <HiddenSlides>0</HiddenSlides>
  <MMClips>0</MMClips>
  <ScaleCrop>false</ScaleCrop>
  <HeadingPairs>
    <vt:vector size="6" baseType="variant">
      <vt:variant>
        <vt:lpstr>Használt betűtípusok</vt:lpstr>
      </vt:variant>
      <vt:variant>
        <vt:i4>9</vt:i4>
      </vt:variant>
      <vt:variant>
        <vt:lpstr>Téma</vt:lpstr>
      </vt:variant>
      <vt:variant>
        <vt:i4>1</vt:i4>
      </vt:variant>
      <vt:variant>
        <vt:lpstr>Diacímek</vt:lpstr>
      </vt:variant>
      <vt:variant>
        <vt:i4>24</vt:i4>
      </vt:variant>
    </vt:vector>
  </HeadingPairs>
  <TitlesOfParts>
    <vt:vector size="34" baseType="lpstr">
      <vt:lpstr>Poppins</vt:lpstr>
      <vt:lpstr>Arimo</vt:lpstr>
      <vt:lpstr>Calibri</vt:lpstr>
      <vt:lpstr>Poppins Bold</vt:lpstr>
      <vt:lpstr>Telegraf Bold</vt:lpstr>
      <vt:lpstr>Open Sans</vt:lpstr>
      <vt:lpstr>Open Sans Bold</vt:lpstr>
      <vt:lpstr>Open Sauce</vt:lpstr>
      <vt:lpstr>Arial</vt:lpstr>
      <vt:lpstr>Office Theme</vt:lpstr>
      <vt:lpstr>CyberNest</vt:lpstr>
      <vt:lpstr>What is CyberNest?</vt:lpstr>
      <vt:lpstr>A problem that the project addresses</vt:lpstr>
      <vt:lpstr>PROJECT OBJECTIVE</vt:lpstr>
      <vt:lpstr>User roles</vt:lpstr>
      <vt:lpstr>Roles</vt:lpstr>
      <vt:lpstr>System Architecture</vt:lpstr>
      <vt:lpstr>Data Stream Operation</vt:lpstr>
      <vt:lpstr>Frontend technológiák</vt:lpstr>
      <vt:lpstr>Front-end features</vt:lpstr>
      <vt:lpstr>Backend technologies</vt:lpstr>
      <vt:lpstr>REST API Architecture</vt:lpstr>
      <vt:lpstr>Database Structure</vt:lpstr>
      <vt:lpstr>Access Control</vt:lpstr>
      <vt:lpstr>Booking Process</vt:lpstr>
      <vt:lpstr>Booking Process</vt:lpstr>
      <vt:lpstr>Booking Process</vt:lpstr>
      <vt:lpstr>Development structure</vt:lpstr>
      <vt:lpstr>Testing and Troubleshooting</vt:lpstr>
      <vt:lpstr>Teamwork</vt:lpstr>
      <vt:lpstr>TEAM DIFFICULTIES</vt:lpstr>
      <vt:lpstr>Afterword</vt:lpstr>
      <vt:lpstr>Thank you for your attention!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CyberNest</dc:title>
  <cp:lastModifiedBy>Ádám Macza</cp:lastModifiedBy>
  <cp:revision>13</cp:revision>
  <dcterms:created xsi:type="dcterms:W3CDTF">2006-08-16T00:00:00Z</dcterms:created>
  <dcterms:modified xsi:type="dcterms:W3CDTF">2026-04-12T14:57:49Z</dcterms:modified>
  <dc:identifier>DAHGoU6KMYs</dc:identifier>
</cp:coreProperties>
</file>